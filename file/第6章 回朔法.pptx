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70"/>
  </p:handoutMasterIdLst>
  <p:sldIdLst>
    <p:sldId id="287" r:id="rId3"/>
    <p:sldId id="288" r:id="rId5"/>
    <p:sldId id="327" r:id="rId6"/>
    <p:sldId id="289" r:id="rId7"/>
    <p:sldId id="328" r:id="rId8"/>
    <p:sldId id="302" r:id="rId9"/>
    <p:sldId id="303" r:id="rId10"/>
    <p:sldId id="290" r:id="rId11"/>
    <p:sldId id="291" r:id="rId12"/>
    <p:sldId id="292" r:id="rId13"/>
    <p:sldId id="293" r:id="rId14"/>
    <p:sldId id="294" r:id="rId15"/>
    <p:sldId id="295" r:id="rId16"/>
    <p:sldId id="296" r:id="rId17"/>
    <p:sldId id="297" r:id="rId18"/>
    <p:sldId id="298" r:id="rId19"/>
    <p:sldId id="299" r:id="rId20"/>
    <p:sldId id="300" r:id="rId21"/>
    <p:sldId id="301" r:id="rId22"/>
    <p:sldId id="316" r:id="rId23"/>
    <p:sldId id="304" r:id="rId24"/>
    <p:sldId id="305" r:id="rId25"/>
    <p:sldId id="307" r:id="rId26"/>
    <p:sldId id="310" r:id="rId27"/>
    <p:sldId id="313" r:id="rId28"/>
    <p:sldId id="311" r:id="rId29"/>
    <p:sldId id="312" r:id="rId30"/>
    <p:sldId id="314" r:id="rId31"/>
    <p:sldId id="317" r:id="rId32"/>
    <p:sldId id="318" r:id="rId33"/>
    <p:sldId id="319" r:id="rId34"/>
    <p:sldId id="320" r:id="rId35"/>
    <p:sldId id="323" r:id="rId36"/>
    <p:sldId id="321" r:id="rId37"/>
    <p:sldId id="324" r:id="rId38"/>
    <p:sldId id="325" r:id="rId39"/>
    <p:sldId id="256" r:id="rId40"/>
    <p:sldId id="257" r:id="rId41"/>
    <p:sldId id="258" r:id="rId42"/>
    <p:sldId id="259" r:id="rId43"/>
    <p:sldId id="260" r:id="rId44"/>
    <p:sldId id="261" r:id="rId45"/>
    <p:sldId id="262" r:id="rId46"/>
    <p:sldId id="263" r:id="rId47"/>
    <p:sldId id="264" r:id="rId48"/>
    <p:sldId id="265" r:id="rId49"/>
    <p:sldId id="266" r:id="rId50"/>
    <p:sldId id="267" r:id="rId51"/>
    <p:sldId id="268" r:id="rId52"/>
    <p:sldId id="269" r:id="rId53"/>
    <p:sldId id="270" r:id="rId54"/>
    <p:sldId id="271" r:id="rId55"/>
    <p:sldId id="272" r:id="rId56"/>
    <p:sldId id="273" r:id="rId57"/>
    <p:sldId id="274" r:id="rId58"/>
    <p:sldId id="275" r:id="rId59"/>
    <p:sldId id="276" r:id="rId60"/>
    <p:sldId id="277" r:id="rId61"/>
    <p:sldId id="278" r:id="rId62"/>
    <p:sldId id="279" r:id="rId63"/>
    <p:sldId id="280" r:id="rId64"/>
    <p:sldId id="281" r:id="rId65"/>
    <p:sldId id="282" r:id="rId66"/>
    <p:sldId id="283" r:id="rId67"/>
    <p:sldId id="284" r:id="rId68"/>
    <p:sldId id="285" r:id="rId69"/>
  </p:sldIdLst>
  <p:sldSz cx="9144000" cy="6858000" type="screen4x3"/>
  <p:notesSz cx="6858000" cy="9144000"/>
  <p:defaultTex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orient="horz" pos="2150" userDrawn="1">
          <p15:clr>
            <a:srgbClr val="A4A3A4"/>
          </p15:clr>
        </p15:guide>
        <p15:guide id="2" pos="2862"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tjg" initials="t" lastIdx="1" clrIdx="0"/>
  <p:cmAuthor id="310559022" name="吕凯伟" initials="吕" lastIdx="1"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FF33CC"/>
    <a:srgbClr val="FF3399"/>
    <a:srgbClr val="0066FF"/>
    <a:srgbClr val="FF6600"/>
    <a:srgbClr val="55B70C"/>
    <a:srgbClr val="33CC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412" autoAdjust="0"/>
    <p:restoredTop sz="95126" autoAdjust="0"/>
  </p:normalViewPr>
  <p:slideViewPr>
    <p:cSldViewPr showGuides="1">
      <p:cViewPr varScale="1">
        <p:scale>
          <a:sx n="115" d="100"/>
          <a:sy n="115" d="100"/>
        </p:scale>
        <p:origin x="1278" y="84"/>
      </p:cViewPr>
      <p:guideLst>
        <p:guide orient="horz" pos="2150"/>
        <p:guide pos="2862"/>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10" d="100"/>
        <a:sy n="110" d="100"/>
      </p:scale>
      <p:origin x="0" y="0"/>
    </p:cViewPr>
  </p:sorterViewPr>
  <p:notesViewPr>
    <p:cSldViewPr>
      <p:cViewPr varScale="1">
        <p:scale>
          <a:sx n="55" d="100"/>
          <a:sy n="55" d="100"/>
        </p:scale>
        <p:origin x="2880" y="84"/>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4" Type="http://schemas.openxmlformats.org/officeDocument/2006/relationships/commentAuthors" Target="commentAuthors.xml"/><Relationship Id="rId73" Type="http://schemas.openxmlformats.org/officeDocument/2006/relationships/tableStyles" Target="tableStyles.xml"/><Relationship Id="rId72" Type="http://schemas.openxmlformats.org/officeDocument/2006/relationships/viewProps" Target="viewProps.xml"/><Relationship Id="rId71" Type="http://schemas.openxmlformats.org/officeDocument/2006/relationships/presProps" Target="presProps.xml"/><Relationship Id="rId70" Type="http://schemas.openxmlformats.org/officeDocument/2006/relationships/handoutMaster" Target="handoutMasters/handoutMaster1.xml"/><Relationship Id="rId7" Type="http://schemas.openxmlformats.org/officeDocument/2006/relationships/slide" Target="slides/slide4.xml"/><Relationship Id="rId69" Type="http://schemas.openxmlformats.org/officeDocument/2006/relationships/slide" Target="slides/slide66.xml"/><Relationship Id="rId68" Type="http://schemas.openxmlformats.org/officeDocument/2006/relationships/slide" Target="slides/slide65.xml"/><Relationship Id="rId67" Type="http://schemas.openxmlformats.org/officeDocument/2006/relationships/slide" Target="slides/slide64.xml"/><Relationship Id="rId66" Type="http://schemas.openxmlformats.org/officeDocument/2006/relationships/slide" Target="slides/slide63.xml"/><Relationship Id="rId65" Type="http://schemas.openxmlformats.org/officeDocument/2006/relationships/slide" Target="slides/slide62.xml"/><Relationship Id="rId64" Type="http://schemas.openxmlformats.org/officeDocument/2006/relationships/slide" Target="slides/slide61.xml"/><Relationship Id="rId63" Type="http://schemas.openxmlformats.org/officeDocument/2006/relationships/slide" Target="slides/slide60.xml"/><Relationship Id="rId62" Type="http://schemas.openxmlformats.org/officeDocument/2006/relationships/slide" Target="slides/slide59.xml"/><Relationship Id="rId61" Type="http://schemas.openxmlformats.org/officeDocument/2006/relationships/slide" Target="slides/slide58.xml"/><Relationship Id="rId60" Type="http://schemas.openxmlformats.org/officeDocument/2006/relationships/slide" Target="slides/slide57.xml"/><Relationship Id="rId6" Type="http://schemas.openxmlformats.org/officeDocument/2006/relationships/slide" Target="slides/slide3.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2.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F2B9A6F-649B-40E0-9235-15314CCF5F27}"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47AA538-38B4-4B93-A9C9-F579F75A06F5}"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lstStyle>
            <a:lvl1pPr eaLnBrk="1" hangingPunct="1">
              <a:defRPr sz="1200">
                <a:latin typeface="Calibri" panose="020F0502020204030204" pitchFamily="34" charset="0"/>
              </a:defRPr>
            </a:lvl1pPr>
          </a:lstStyle>
          <a:p>
            <a:pPr>
              <a:defRPr/>
            </a:pPr>
            <a:endParaRPr lang="zh-CN" altLang="en-US"/>
          </a:p>
        </p:txBody>
      </p:sp>
      <p:sp>
        <p:nvSpPr>
          <p:cNvPr id="52227" name="Rectangle 3"/>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lstStyle>
            <a:lvl1pPr algn="r" eaLnBrk="1" hangingPunct="1">
              <a:defRPr sz="1200">
                <a:latin typeface="Calibri" panose="020F0502020204030204" pitchFamily="34" charset="0"/>
              </a:defRPr>
            </a:lvl1pPr>
          </a:lstStyle>
          <a:p>
            <a:pPr>
              <a:defRPr/>
            </a:pPr>
            <a:fld id="{1134E214-E3C0-4F75-A783-D0C3FCB417FE}" type="datetimeFigureOut">
              <a:rPr lang="zh-CN" altLang="en-US"/>
            </a:fld>
            <a:endParaRPr lang="en-US" altLang="zh-CN"/>
          </a:p>
        </p:txBody>
      </p:sp>
      <p:sp>
        <p:nvSpPr>
          <p:cNvPr id="4100"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ln>
          <a:extLst>
            <a:ext uri="{909E8E84-426E-40DD-AFC4-6F175D3DCCD1}">
              <a14:hiddenFill xmlns:a14="http://schemas.microsoft.com/office/drawing/2010/main">
                <a:solidFill>
                  <a:srgbClr val="FFFFFF"/>
                </a:solidFill>
              </a14:hiddenFill>
            </a:ext>
          </a:extLst>
        </p:spPr>
      </p:sp>
      <p:sp>
        <p:nvSpPr>
          <p:cNvPr id="52229" name="Rectangle 5"/>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lstStyle/>
          <a:p>
            <a:pPr lvl="0"/>
            <a:r>
              <a:rPr lang="zh-CN" altLang="en-US" noProof="0"/>
              <a:t>单击此处编辑母版文本样式</a:t>
            </a:r>
            <a:endParaRPr lang="zh-CN" altLang="en-US" noProof="0"/>
          </a:p>
          <a:p>
            <a:pPr lvl="1"/>
            <a:r>
              <a:rPr lang="zh-CN" altLang="en-US" noProof="0"/>
              <a:t>第二级</a:t>
            </a:r>
            <a:endParaRPr lang="zh-CN" altLang="en-US" noProof="0"/>
          </a:p>
          <a:p>
            <a:pPr lvl="2"/>
            <a:r>
              <a:rPr lang="zh-CN" altLang="en-US" noProof="0"/>
              <a:t>第三级</a:t>
            </a:r>
            <a:endParaRPr lang="zh-CN" altLang="en-US" noProof="0"/>
          </a:p>
          <a:p>
            <a:pPr lvl="3"/>
            <a:r>
              <a:rPr lang="zh-CN" altLang="en-US" noProof="0"/>
              <a:t>第四级</a:t>
            </a:r>
            <a:endParaRPr lang="zh-CN" altLang="en-US" noProof="0"/>
          </a:p>
          <a:p>
            <a:pPr lvl="4"/>
            <a:r>
              <a:rPr lang="zh-CN" altLang="en-US" noProof="0"/>
              <a:t>第五级</a:t>
            </a:r>
            <a:endParaRPr lang="zh-CN" altLang="en-US" noProof="0"/>
          </a:p>
        </p:txBody>
      </p:sp>
      <p:sp>
        <p:nvSpPr>
          <p:cNvPr id="52230" name="Rectangle 6"/>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lstStyle>
            <a:lvl1pPr eaLnBrk="1" hangingPunct="1">
              <a:defRPr sz="1200">
                <a:latin typeface="Calibri" panose="020F0502020204030204" pitchFamily="34" charset="0"/>
              </a:defRPr>
            </a:lvl1pPr>
          </a:lstStyle>
          <a:p>
            <a:pPr>
              <a:defRPr/>
            </a:pPr>
            <a:endParaRPr lang="en-US" altLang="zh-CN"/>
          </a:p>
        </p:txBody>
      </p:sp>
      <p:sp>
        <p:nvSpPr>
          <p:cNvPr id="52231" name="Rectangle 7"/>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lstStyle>
            <a:lvl1pPr algn="r" eaLnBrk="1" hangingPunct="1">
              <a:defRPr sz="1200">
                <a:latin typeface="Calibri" panose="020F0502020204030204" pitchFamily="34" charset="0"/>
              </a:defRPr>
            </a:lvl1pPr>
          </a:lstStyle>
          <a:p>
            <a:pPr>
              <a:defRPr/>
            </a:pPr>
            <a:fld id="{AB76F6FC-157B-4160-B88F-123B3C4C0F29}" type="slidenum">
              <a:rPr lang="zh-CN" altLang="en-US"/>
            </a:fld>
            <a:endParaRPr lang="en-US" altLang="zh-CN"/>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1pPr>
    <a:lvl2pPr marL="4572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2pPr>
    <a:lvl3pPr marL="9144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3pPr>
    <a:lvl4pPr marL="13716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4pPr>
    <a:lvl5pPr marL="18288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Rot="1" noChangeAspect="1" noChangeArrowheads="1" noTextEdit="1"/>
          </p:cNvSpPr>
          <p:nvPr>
            <p:ph type="sldImg"/>
          </p:nvPr>
        </p:nvSpPr>
        <p:spPr/>
      </p:sp>
      <p:sp>
        <p:nvSpPr>
          <p:cNvPr id="6147"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首先是深度优先遍历，开始之前我们试想这样的一种场景，小明过年和朋友一起玩迷宫游戏，看谁先从迷宫中走出来，你是小明有什么办法呢？我想这种场景同学们应该都有类似的经历即使没有玩过迷宫也玩过类似的游戏。我们进入迷宫入口之后我们看到有路就走，如果遇到死胡同呢我们返回之前有路的地方继续往下探索，直至找到出口为止。如果同学们有这种方法，这就说明你已经有深度优先遍历的思想了</a:t>
            </a:r>
            <a:endParaRPr lang="zh-CN" altLang="en-US" smtClean="0"/>
          </a:p>
        </p:txBody>
      </p:sp>
      <p:sp>
        <p:nvSpPr>
          <p:cNvPr id="112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7C008A4A-01CF-40B7-9140-9F8171EC50C3}" type="slidenum">
              <a:rPr lang="zh-CN" altLang="zh-CN" smtClean="0"/>
            </a:fld>
            <a:endParaRPr lang="zh-CN" altLang="zh-CN" smtClean="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首先是深度优先遍历，开始之前我们试想这样的一种场景，小明过年和朋友一起玩迷宫游戏，看谁先从迷宫中走出来，你是小明有什么办法呢？我想这种场景同学们应该都有类似的经历即使没有玩过迷宫也玩过类似的游戏。我们进入迷宫入口之后我们看到有路就走，如果遇到死胡同呢我们返回之前有路的地方继续往下探索，直至找到出口为止。如果同学们有这种方法，这就说明你已经有深度优先遍历的思想了</a:t>
            </a:r>
            <a:endParaRPr lang="zh-CN" altLang="en-US" smtClean="0"/>
          </a:p>
        </p:txBody>
      </p:sp>
      <p:sp>
        <p:nvSpPr>
          <p:cNvPr id="112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7C008A4A-01CF-40B7-9140-9F8171EC50C3}" type="slidenum">
              <a:rPr lang="zh-CN" altLang="zh-CN" smtClean="0"/>
            </a:fld>
            <a:endParaRPr lang="zh-CN" altLang="zh-CN" smtClean="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首先是深度优先遍历，开始之前我们试想这样的一种场景，小明过年和朋友一起玩迷宫游戏，看谁先从迷宫中走出来，你是小明有什么办法呢？我想这种场景同学们应该都有类似的经历即使没有玩过迷宫也玩过类似的游戏。我们进入迷宫入口之后我们看到有路就走，如果遇到死胡同呢我们返回之前有路的地方继续往下探索，直至找到出口为止。如果同学们有这种方法，这就说明你已经有深度优先遍历的思想了</a:t>
            </a:r>
            <a:endParaRPr lang="zh-CN" altLang="en-US" smtClean="0"/>
          </a:p>
        </p:txBody>
      </p:sp>
      <p:sp>
        <p:nvSpPr>
          <p:cNvPr id="112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7C008A4A-01CF-40B7-9140-9F8171EC50C3}" type="slidenum">
              <a:rPr lang="zh-CN" altLang="zh-CN" smtClean="0"/>
            </a:fld>
            <a:endParaRPr lang="zh-CN" altLang="zh-CN" smtClean="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首先是深度优先遍历，开始之前我们试想这样的一种场景，小明过年和朋友一起玩迷宫游戏，看谁先从迷宫中走出来，你是小明有什么办法呢？我想这种场景同学们应该都有类似的经历即使没有玩过迷宫也玩过类似的游戏。我们进入迷宫入口之后我们看到有路就走，如果遇到死胡同呢我们返回之前有路的地方继续往下探索，直至找到出口为止。如果同学们有这种方法，这就说明你已经有深度优先遍历的思想了</a:t>
            </a:r>
            <a:endParaRPr lang="zh-CN" altLang="en-US" smtClean="0"/>
          </a:p>
        </p:txBody>
      </p:sp>
      <p:sp>
        <p:nvSpPr>
          <p:cNvPr id="112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7C008A4A-01CF-40B7-9140-9F8171EC50C3}" type="slidenum">
              <a:rPr lang="zh-CN" altLang="zh-CN" smtClean="0"/>
            </a:fld>
            <a:endParaRPr lang="zh-CN" altLang="zh-CN" smtClean="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幻灯片图像占位符 1"/>
          <p:cNvSpPr>
            <a:spLocks noGrp="1" noRot="1" noChangeAspect="1" noTextEdit="1"/>
          </p:cNvSpPr>
          <p:nvPr>
            <p:ph type="sldImg"/>
          </p:nvPr>
        </p:nvSpPr>
        <p:spPr/>
      </p:sp>
      <p:sp>
        <p:nvSpPr>
          <p:cNvPr id="13315"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之前的思想总结一下，我们访问过一个节点然后再寻找其相邻未被访问的节点，再以这个未被访问的节点为顶点，继续找其未被访问的节点，直至访问所有的顶点没有未被访问的顶点位置，也就是访问完途中所有的节点。例如图中依靠深度优先遍历找到的一个节点序列。</a:t>
            </a:r>
            <a:endParaRPr lang="zh-CN" altLang="en-US" smtClean="0"/>
          </a:p>
        </p:txBody>
      </p:sp>
      <p:sp>
        <p:nvSpPr>
          <p:cNvPr id="13316"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186F6F1C-13CA-4409-BFE7-D1A03119E8F5}" type="slidenum">
              <a:rPr lang="zh-CN" altLang="zh-CN" smtClean="0"/>
            </a:fld>
            <a:endParaRPr lang="zh-CN" altLang="zh-CN" smtClean="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幻灯片图像占位符 1"/>
          <p:cNvSpPr>
            <a:spLocks noGrp="1" noRot="1" noChangeAspect="1" noTextEdit="1"/>
          </p:cNvSpPr>
          <p:nvPr>
            <p:ph type="sldImg"/>
          </p:nvPr>
        </p:nvSpPr>
        <p:spPr/>
      </p:sp>
      <p:sp>
        <p:nvSpPr>
          <p:cNvPr id="1536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来我们依靠栈来看看深度优先遍历是如何实现的，首先访问</a:t>
            </a:r>
            <a:r>
              <a:rPr lang="en-US" altLang="zh-CN" smtClean="0"/>
              <a:t>A</a:t>
            </a:r>
            <a:r>
              <a:rPr lang="zh-CN" altLang="en-US" smtClean="0"/>
              <a:t>节点同时记录</a:t>
            </a:r>
            <a:r>
              <a:rPr lang="en-US" altLang="zh-CN" smtClean="0"/>
              <a:t>A</a:t>
            </a:r>
            <a:r>
              <a:rPr lang="zh-CN" altLang="en-US" smtClean="0"/>
              <a:t>，并将</a:t>
            </a:r>
            <a:r>
              <a:rPr lang="en-US" altLang="zh-CN" smtClean="0"/>
              <a:t>A</a:t>
            </a:r>
            <a:r>
              <a:rPr lang="zh-CN" altLang="en-US" smtClean="0"/>
              <a:t>节点入栈</a:t>
            </a:r>
            <a:endParaRPr lang="zh-CN" altLang="en-US" smtClean="0"/>
          </a:p>
        </p:txBody>
      </p:sp>
      <p:sp>
        <p:nvSpPr>
          <p:cNvPr id="1536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C283BDF9-1938-486B-800C-9C8BD8BCD63A}" type="slidenum">
              <a:rPr lang="zh-CN" altLang="zh-CN" smtClean="0"/>
            </a:fld>
            <a:endParaRPr lang="zh-CN" altLang="zh-CN" smtClean="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幻灯片图像占位符 1"/>
          <p:cNvSpPr>
            <a:spLocks noGrp="1" noRot="1" noChangeAspect="1" noTextEdit="1"/>
          </p:cNvSpPr>
          <p:nvPr>
            <p:ph type="sldImg"/>
          </p:nvPr>
        </p:nvSpPr>
        <p:spPr/>
      </p:sp>
      <p:sp>
        <p:nvSpPr>
          <p:cNvPr id="17411"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然后寻找</a:t>
            </a:r>
            <a:r>
              <a:rPr lang="en-US" altLang="zh-CN" smtClean="0"/>
              <a:t>A</a:t>
            </a:r>
            <a:r>
              <a:rPr lang="zh-CN" altLang="en-US" smtClean="0"/>
              <a:t>节点未被访问的节点，此时我们是依靠字母顺序寻找邻节点，然后找到</a:t>
            </a:r>
            <a:r>
              <a:rPr lang="en-US" altLang="zh-CN" smtClean="0"/>
              <a:t>B</a:t>
            </a:r>
            <a:r>
              <a:rPr lang="zh-CN" altLang="en-US" smtClean="0"/>
              <a:t>节点，此时记录</a:t>
            </a:r>
            <a:r>
              <a:rPr lang="en-US" altLang="zh-CN" smtClean="0"/>
              <a:t>B</a:t>
            </a:r>
            <a:r>
              <a:rPr lang="zh-CN" altLang="en-US" smtClean="0"/>
              <a:t>节点已被访问，然后将</a:t>
            </a:r>
            <a:r>
              <a:rPr lang="en-US" altLang="zh-CN" smtClean="0"/>
              <a:t>B</a:t>
            </a:r>
            <a:r>
              <a:rPr lang="zh-CN" altLang="en-US" smtClean="0"/>
              <a:t>节点入栈。</a:t>
            </a:r>
            <a:endParaRPr lang="zh-CN" altLang="en-US" smtClean="0"/>
          </a:p>
        </p:txBody>
      </p:sp>
      <p:sp>
        <p:nvSpPr>
          <p:cNvPr id="17412"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6D6EC1EB-4CEE-47D6-9EB1-81F447AD2EEC}" type="slidenum">
              <a:rPr lang="zh-CN" altLang="zh-CN" smtClean="0"/>
            </a:fld>
            <a:endParaRPr lang="zh-CN" altLang="zh-CN" smtClean="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幻灯片图像占位符 1"/>
          <p:cNvSpPr>
            <a:spLocks noGrp="1" noRot="1" noChangeAspect="1" noTextEdit="1"/>
          </p:cNvSpPr>
          <p:nvPr>
            <p:ph type="sldImg"/>
          </p:nvPr>
        </p:nvSpPr>
        <p:spPr/>
      </p:sp>
      <p:sp>
        <p:nvSpPr>
          <p:cNvPr id="19459"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我们以同样的规则继续访问</a:t>
            </a:r>
            <a:r>
              <a:rPr lang="en-US" altLang="zh-CN" smtClean="0"/>
              <a:t>B</a:t>
            </a:r>
            <a:r>
              <a:rPr lang="zh-CN" altLang="en-US" smtClean="0"/>
              <a:t>的相邻未被访问的节点</a:t>
            </a:r>
            <a:r>
              <a:rPr lang="en-US" altLang="zh-CN" smtClean="0"/>
              <a:t>E</a:t>
            </a:r>
            <a:r>
              <a:rPr lang="zh-CN" altLang="en-US" smtClean="0"/>
              <a:t>，然后记录</a:t>
            </a:r>
            <a:r>
              <a:rPr lang="en-US" altLang="zh-CN" smtClean="0"/>
              <a:t>E</a:t>
            </a:r>
            <a:r>
              <a:rPr lang="zh-CN" altLang="en-US" smtClean="0"/>
              <a:t>被访问同时将</a:t>
            </a:r>
            <a:r>
              <a:rPr lang="en-US" altLang="zh-CN" smtClean="0"/>
              <a:t>E</a:t>
            </a:r>
            <a:r>
              <a:rPr lang="zh-CN" altLang="en-US" smtClean="0"/>
              <a:t>入栈。</a:t>
            </a:r>
            <a:endParaRPr lang="zh-CN" altLang="en-US" smtClean="0"/>
          </a:p>
        </p:txBody>
      </p:sp>
      <p:sp>
        <p:nvSpPr>
          <p:cNvPr id="19460"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9865C272-B700-423E-A70A-CDF110E59BB1}" type="slidenum">
              <a:rPr lang="zh-CN" altLang="zh-CN" smtClean="0"/>
            </a:fld>
            <a:endParaRPr lang="zh-CN" altLang="zh-CN" smtClean="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幻灯片图像占位符 1"/>
          <p:cNvSpPr>
            <a:spLocks noGrp="1" noRot="1" noChangeAspect="1" noTextEdit="1"/>
          </p:cNvSpPr>
          <p:nvPr>
            <p:ph type="sldImg"/>
          </p:nvPr>
        </p:nvSpPr>
        <p:spPr/>
      </p:sp>
      <p:sp>
        <p:nvSpPr>
          <p:cNvPr id="2150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在以</a:t>
            </a:r>
            <a:r>
              <a:rPr lang="en-US" altLang="zh-CN" smtClean="0"/>
              <a:t>E</a:t>
            </a:r>
            <a:r>
              <a:rPr lang="zh-CN" altLang="en-US" smtClean="0"/>
              <a:t>为顶点访问相邻未被访问的</a:t>
            </a:r>
            <a:r>
              <a:rPr lang="en-US" altLang="zh-CN" smtClean="0"/>
              <a:t>G</a:t>
            </a:r>
            <a:r>
              <a:rPr lang="zh-CN" altLang="en-US" smtClean="0"/>
              <a:t>顶点，同时记录</a:t>
            </a:r>
            <a:r>
              <a:rPr lang="en-US" altLang="zh-CN" smtClean="0"/>
              <a:t>G</a:t>
            </a:r>
            <a:r>
              <a:rPr lang="zh-CN" altLang="en-US" smtClean="0"/>
              <a:t>顶点被访问，同时将</a:t>
            </a:r>
            <a:r>
              <a:rPr lang="en-US" altLang="zh-CN" smtClean="0"/>
              <a:t>G</a:t>
            </a:r>
            <a:r>
              <a:rPr lang="zh-CN" altLang="en-US" smtClean="0"/>
              <a:t>入栈</a:t>
            </a:r>
            <a:endParaRPr lang="zh-CN" altLang="en-US" smtClean="0"/>
          </a:p>
        </p:txBody>
      </p:sp>
      <p:sp>
        <p:nvSpPr>
          <p:cNvPr id="2150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694ECDFF-1332-4C36-9F15-2069496F39B7}" type="slidenum">
              <a:rPr lang="zh-CN" altLang="zh-CN" smtClean="0"/>
            </a:fld>
            <a:endParaRPr lang="zh-CN" altLang="zh-CN" smtClean="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幻灯片图像占位符 1"/>
          <p:cNvSpPr>
            <a:spLocks noGrp="1" noRot="1" noChangeAspect="1" noTextEdit="1"/>
          </p:cNvSpPr>
          <p:nvPr>
            <p:ph type="sldImg"/>
          </p:nvPr>
        </p:nvSpPr>
        <p:spPr/>
      </p:sp>
      <p:sp>
        <p:nvSpPr>
          <p:cNvPr id="23555"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此时呢，我们发现</a:t>
            </a:r>
            <a:r>
              <a:rPr lang="en-US" altLang="zh-CN" smtClean="0"/>
              <a:t>G</a:t>
            </a:r>
            <a:r>
              <a:rPr lang="zh-CN" altLang="en-US" smtClean="0"/>
              <a:t>顶点已经没有相邻未被访问的节点了，于是将</a:t>
            </a:r>
            <a:r>
              <a:rPr lang="en-US" altLang="zh-CN" smtClean="0"/>
              <a:t>G</a:t>
            </a:r>
            <a:r>
              <a:rPr lang="zh-CN" altLang="en-US" smtClean="0"/>
              <a:t>进行出栈，同理</a:t>
            </a:r>
            <a:r>
              <a:rPr lang="en-US" altLang="zh-CN" smtClean="0"/>
              <a:t>E</a:t>
            </a:r>
            <a:r>
              <a:rPr lang="zh-CN" altLang="en-US" smtClean="0"/>
              <a:t>节点也没有相邻未被访问的节点了同样将</a:t>
            </a:r>
            <a:r>
              <a:rPr lang="en-US" altLang="zh-CN" smtClean="0"/>
              <a:t>E</a:t>
            </a:r>
            <a:r>
              <a:rPr lang="zh-CN" altLang="en-US" smtClean="0"/>
              <a:t>出栈，此时栈的状态由</a:t>
            </a:r>
            <a:r>
              <a:rPr lang="en-US" altLang="zh-CN" smtClean="0"/>
              <a:t>1</a:t>
            </a:r>
            <a:r>
              <a:rPr lang="zh-CN" altLang="en-US" smtClean="0"/>
              <a:t>编程</a:t>
            </a:r>
            <a:r>
              <a:rPr lang="en-US" altLang="zh-CN" smtClean="0"/>
              <a:t>2</a:t>
            </a:r>
            <a:r>
              <a:rPr lang="zh-CN" altLang="en-US" smtClean="0"/>
              <a:t>。</a:t>
            </a:r>
            <a:endParaRPr lang="zh-CN" altLang="en-US" smtClean="0"/>
          </a:p>
        </p:txBody>
      </p:sp>
      <p:sp>
        <p:nvSpPr>
          <p:cNvPr id="23556"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93CC831A-A5B7-4F30-A018-39B6D02B18A3}" type="slidenum">
              <a:rPr lang="zh-CN" altLang="zh-CN" smtClean="0"/>
            </a:fld>
            <a:endParaRPr lang="zh-CN" altLang="zh-CN" smtClean="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幻灯片图像占位符 1"/>
          <p:cNvSpPr>
            <a:spLocks noGrp="1" noRot="1" noChangeAspect="1" noTextEdit="1"/>
          </p:cNvSpPr>
          <p:nvPr>
            <p:ph type="sldImg"/>
          </p:nvPr>
        </p:nvSpPr>
        <p:spPr/>
      </p:sp>
      <p:sp>
        <p:nvSpPr>
          <p:cNvPr id="2560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然后我们在判断栈顶的</a:t>
            </a:r>
            <a:r>
              <a:rPr lang="en-US" altLang="zh-CN" smtClean="0"/>
              <a:t>B</a:t>
            </a:r>
            <a:r>
              <a:rPr lang="zh-CN" altLang="en-US" smtClean="0"/>
              <a:t>节点是否由相邻未被访问的节点，我们发现</a:t>
            </a:r>
            <a:r>
              <a:rPr lang="en-US" altLang="zh-CN" smtClean="0"/>
              <a:t>B</a:t>
            </a:r>
            <a:r>
              <a:rPr lang="zh-CN" altLang="en-US" smtClean="0"/>
              <a:t>有未被访问的节点，也就是</a:t>
            </a:r>
            <a:r>
              <a:rPr lang="en-US" altLang="zh-CN" smtClean="0"/>
              <a:t>F</a:t>
            </a:r>
            <a:r>
              <a:rPr lang="zh-CN" altLang="en-US" smtClean="0"/>
              <a:t>，同时记录</a:t>
            </a:r>
            <a:r>
              <a:rPr lang="en-US" altLang="zh-CN" smtClean="0"/>
              <a:t>F</a:t>
            </a:r>
            <a:r>
              <a:rPr lang="zh-CN" altLang="en-US" smtClean="0"/>
              <a:t>已被访问，并将</a:t>
            </a:r>
            <a:r>
              <a:rPr lang="en-US" altLang="zh-CN" smtClean="0"/>
              <a:t>f</a:t>
            </a:r>
            <a:r>
              <a:rPr lang="zh-CN" altLang="en-US" smtClean="0"/>
              <a:t>进行入栈处理。</a:t>
            </a:r>
            <a:endParaRPr lang="zh-CN" altLang="en-US" smtClean="0"/>
          </a:p>
        </p:txBody>
      </p:sp>
      <p:sp>
        <p:nvSpPr>
          <p:cNvPr id="2560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587C1876-B7FB-47F6-AA38-7360001E4E4C}" type="slidenum">
              <a:rPr lang="zh-CN" altLang="zh-CN" smtClean="0"/>
            </a:fld>
            <a:endParaRPr lang="zh-CN" altLang="zh-CN" smtClean="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幻灯片图像占位符 1"/>
          <p:cNvSpPr>
            <a:spLocks noGrp="1" noRot="1" noChangeAspect="1" noTextEdit="1"/>
          </p:cNvSpPr>
          <p:nvPr>
            <p:ph type="sldImg"/>
          </p:nvPr>
        </p:nvSpPr>
        <p:spPr/>
      </p:sp>
      <p:sp>
        <p:nvSpPr>
          <p:cNvPr id="27651"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此后依然用同样的规则访问相邻的节点，</a:t>
            </a:r>
            <a:r>
              <a:rPr lang="en-US" altLang="zh-CN" smtClean="0"/>
              <a:t>F</a:t>
            </a:r>
            <a:r>
              <a:rPr lang="zh-CN" altLang="en-US" smtClean="0"/>
              <a:t>相邻的未被访问的节点是</a:t>
            </a:r>
            <a:r>
              <a:rPr lang="en-US" altLang="zh-CN" smtClean="0"/>
              <a:t>C</a:t>
            </a:r>
            <a:r>
              <a:rPr lang="zh-CN" altLang="en-US" smtClean="0"/>
              <a:t>，然后将</a:t>
            </a:r>
            <a:r>
              <a:rPr lang="en-US" altLang="zh-CN" smtClean="0"/>
              <a:t>C</a:t>
            </a:r>
            <a:r>
              <a:rPr lang="zh-CN" altLang="en-US" smtClean="0"/>
              <a:t>入栈，然后</a:t>
            </a:r>
            <a:r>
              <a:rPr lang="en-US" altLang="zh-CN" smtClean="0"/>
              <a:t>c</a:t>
            </a:r>
            <a:r>
              <a:rPr lang="zh-CN" altLang="en-US" smtClean="0"/>
              <a:t>相邻未被访问的节点是</a:t>
            </a:r>
            <a:r>
              <a:rPr lang="en-US" altLang="zh-CN" smtClean="0"/>
              <a:t>H,</a:t>
            </a:r>
            <a:r>
              <a:rPr lang="zh-CN" altLang="en-US" smtClean="0"/>
              <a:t>然后将</a:t>
            </a:r>
            <a:r>
              <a:rPr lang="en-US" altLang="zh-CN" smtClean="0"/>
              <a:t>H</a:t>
            </a:r>
            <a:r>
              <a:rPr lang="zh-CN" altLang="en-US" smtClean="0"/>
              <a:t>入栈。</a:t>
            </a:r>
            <a:endParaRPr lang="zh-CN" altLang="en-US" smtClean="0"/>
          </a:p>
        </p:txBody>
      </p:sp>
      <p:sp>
        <p:nvSpPr>
          <p:cNvPr id="27652"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827EB1F1-9A82-493E-A883-754C907216F8}" type="slidenum">
              <a:rPr lang="zh-CN" altLang="zh-CN" smtClean="0"/>
            </a:fld>
            <a:endParaRPr lang="zh-CN" altLang="zh-CN" smtClean="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幻灯片图像占位符 1"/>
          <p:cNvSpPr>
            <a:spLocks noGrp="1" noRot="1" noChangeAspect="1" noTextEdit="1"/>
          </p:cNvSpPr>
          <p:nvPr>
            <p:ph type="sldImg"/>
          </p:nvPr>
        </p:nvSpPr>
        <p:spPr/>
      </p:sp>
      <p:sp>
        <p:nvSpPr>
          <p:cNvPr id="29699"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此时</a:t>
            </a:r>
            <a:r>
              <a:rPr lang="en-US" altLang="zh-CN" smtClean="0"/>
              <a:t>H</a:t>
            </a:r>
            <a:r>
              <a:rPr lang="zh-CN" altLang="en-US" smtClean="0"/>
              <a:t>已经没有未被访问的节点了将</a:t>
            </a:r>
            <a:r>
              <a:rPr lang="en-US" altLang="zh-CN" smtClean="0"/>
              <a:t>H</a:t>
            </a:r>
            <a:r>
              <a:rPr lang="zh-CN" altLang="en-US" smtClean="0"/>
              <a:t>进行出栈处理，同时</a:t>
            </a:r>
            <a:r>
              <a:rPr lang="en-US" altLang="zh-CN" smtClean="0"/>
              <a:t>C</a:t>
            </a:r>
            <a:r>
              <a:rPr lang="zh-CN" altLang="en-US" smtClean="0"/>
              <a:t>也没有未被访问的节点也将</a:t>
            </a:r>
            <a:r>
              <a:rPr lang="en-US" altLang="zh-CN" smtClean="0"/>
              <a:t>C</a:t>
            </a:r>
            <a:r>
              <a:rPr lang="zh-CN" altLang="en-US" smtClean="0"/>
              <a:t>进行出栈处理，此时的栈的状态从</a:t>
            </a:r>
            <a:r>
              <a:rPr lang="en-US" altLang="zh-CN" smtClean="0"/>
              <a:t>1</a:t>
            </a:r>
            <a:r>
              <a:rPr lang="zh-CN" altLang="en-US" smtClean="0"/>
              <a:t>变为</a:t>
            </a:r>
            <a:r>
              <a:rPr lang="en-US" altLang="zh-CN" smtClean="0"/>
              <a:t>2</a:t>
            </a:r>
            <a:endParaRPr lang="zh-CN" altLang="en-US" smtClean="0"/>
          </a:p>
        </p:txBody>
      </p:sp>
      <p:sp>
        <p:nvSpPr>
          <p:cNvPr id="29700"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8C3DA4CE-7313-483A-A10A-8F9323E135D1}" type="slidenum">
              <a:rPr lang="zh-CN" altLang="zh-CN" smtClean="0"/>
            </a:fld>
            <a:endParaRPr lang="zh-CN" altLang="zh-CN" smtClean="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幻灯片图像占位符 1"/>
          <p:cNvSpPr>
            <a:spLocks noGrp="1" noRot="1" noChangeAspect="1" noTextEdit="1"/>
          </p:cNvSpPr>
          <p:nvPr>
            <p:ph type="sldImg"/>
          </p:nvPr>
        </p:nvSpPr>
        <p:spPr/>
      </p:sp>
      <p:sp>
        <p:nvSpPr>
          <p:cNvPr id="3174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然后栈顶的</a:t>
            </a:r>
            <a:r>
              <a:rPr lang="en-US" altLang="zh-CN" smtClean="0"/>
              <a:t>F</a:t>
            </a:r>
            <a:r>
              <a:rPr lang="zh-CN" altLang="en-US" smtClean="0"/>
              <a:t>发现它有未被访问的相邻节点</a:t>
            </a:r>
            <a:r>
              <a:rPr lang="en-US" altLang="zh-CN" smtClean="0"/>
              <a:t>D</a:t>
            </a:r>
            <a:r>
              <a:rPr lang="zh-CN" altLang="en-US" smtClean="0"/>
              <a:t>，然后记录访问</a:t>
            </a:r>
            <a:r>
              <a:rPr lang="en-US" altLang="zh-CN" smtClean="0"/>
              <a:t>D</a:t>
            </a:r>
            <a:r>
              <a:rPr lang="zh-CN" altLang="en-US" smtClean="0"/>
              <a:t>并将</a:t>
            </a:r>
            <a:r>
              <a:rPr lang="en-US" altLang="zh-CN" smtClean="0"/>
              <a:t>D</a:t>
            </a:r>
            <a:r>
              <a:rPr lang="zh-CN" altLang="en-US" smtClean="0"/>
              <a:t>入栈。</a:t>
            </a:r>
            <a:endParaRPr lang="zh-CN" altLang="en-US" smtClean="0"/>
          </a:p>
        </p:txBody>
      </p:sp>
      <p:sp>
        <p:nvSpPr>
          <p:cNvPr id="3174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969A6450-6FFD-4851-BBAB-54187E60570F}" type="slidenum">
              <a:rPr lang="zh-CN" altLang="zh-CN" smtClean="0"/>
            </a:fld>
            <a:endParaRPr lang="zh-CN" altLang="zh-CN" smtClean="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幻灯片图像占位符 1"/>
          <p:cNvSpPr>
            <a:spLocks noGrp="1" noRot="1" noChangeAspect="1" noTextEdit="1"/>
          </p:cNvSpPr>
          <p:nvPr>
            <p:ph type="sldImg"/>
          </p:nvPr>
        </p:nvSpPr>
        <p:spPr/>
      </p:sp>
      <p:sp>
        <p:nvSpPr>
          <p:cNvPr id="33795"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然后依次判断栈顶顶点是否还有未被访问的相邻节点，如果没有则弹出顶点。我们发现</a:t>
            </a:r>
            <a:r>
              <a:rPr lang="en-US" altLang="zh-CN" smtClean="0"/>
              <a:t>DFBA</a:t>
            </a:r>
            <a:r>
              <a:rPr lang="zh-CN" altLang="en-US" smtClean="0"/>
              <a:t>均没有相邻的节点未被访问，所以我们栈弹出所有顶点，此时也就意味这遍历完成，访问的节点顺序为</a:t>
            </a:r>
            <a:r>
              <a:rPr lang="en-US" altLang="zh-CN" smtClean="0"/>
              <a:t>ABEGFCHD</a:t>
            </a:r>
            <a:endParaRPr lang="zh-CN" altLang="en-US" smtClean="0"/>
          </a:p>
        </p:txBody>
      </p:sp>
      <p:sp>
        <p:nvSpPr>
          <p:cNvPr id="33796"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58528DF9-1345-4E5B-AD3D-1D4C1C1A6CE3}" type="slidenum">
              <a:rPr lang="zh-CN" altLang="zh-CN" smtClean="0"/>
            </a:fld>
            <a:endParaRPr lang="zh-CN" altLang="zh-CN" smtClean="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幻灯片图像占位符 1"/>
          <p:cNvSpPr>
            <a:spLocks noGrp="1" noRot="1" noChangeAspect="1" noTextEdit="1"/>
          </p:cNvSpPr>
          <p:nvPr>
            <p:ph type="sldImg"/>
          </p:nvPr>
        </p:nvSpPr>
        <p:spPr/>
      </p:sp>
      <p:sp>
        <p:nvSpPr>
          <p:cNvPr id="3584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来我们看看具体的代码实现，首先定义一个标志数组，标记其初始值为</a:t>
            </a:r>
            <a:r>
              <a:rPr lang="en-US" altLang="zh-CN" smtClean="0"/>
              <a:t>false</a:t>
            </a:r>
            <a:r>
              <a:rPr lang="zh-CN" altLang="en-US" smtClean="0"/>
              <a:t>。然后定义一个</a:t>
            </a:r>
            <a:r>
              <a:rPr lang="en-US" altLang="zh-CN" smtClean="0"/>
              <a:t>DFS</a:t>
            </a:r>
            <a:r>
              <a:rPr lang="zh-CN" altLang="en-US" smtClean="0"/>
              <a:t>函数，此函数是一个递归函数，也就是实现了我们栈的操作。判断是否被访问如果没有被访问则递归操作，直到访问完所有的节点。</a:t>
            </a:r>
            <a:endParaRPr lang="zh-CN" altLang="en-US" smtClean="0"/>
          </a:p>
        </p:txBody>
      </p:sp>
      <p:sp>
        <p:nvSpPr>
          <p:cNvPr id="3584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B4BD63A7-483F-4D77-9D3F-AF22FC2BD1B8}" type="slidenum">
              <a:rPr lang="zh-CN" altLang="zh-CN" smtClean="0"/>
            </a:fld>
            <a:endParaRPr lang="zh-CN" altLang="zh-CN" smtClean="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幻灯片图像占位符 1"/>
          <p:cNvSpPr>
            <a:spLocks noGrp="1" noRot="1" noChangeAspect="1" noTextEdit="1"/>
          </p:cNvSpPr>
          <p:nvPr>
            <p:ph type="sldImg"/>
          </p:nvPr>
        </p:nvSpPr>
        <p:spPr/>
      </p:sp>
      <p:sp>
        <p:nvSpPr>
          <p:cNvPr id="3584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来我们看看具体的代码实现，首先定义一个标志数组，标记其初始值为</a:t>
            </a:r>
            <a:r>
              <a:rPr lang="en-US" altLang="zh-CN" smtClean="0"/>
              <a:t>false</a:t>
            </a:r>
            <a:r>
              <a:rPr lang="zh-CN" altLang="en-US" smtClean="0"/>
              <a:t>。然后定义一个</a:t>
            </a:r>
            <a:r>
              <a:rPr lang="en-US" altLang="zh-CN" smtClean="0"/>
              <a:t>DFS</a:t>
            </a:r>
            <a:r>
              <a:rPr lang="zh-CN" altLang="en-US" smtClean="0"/>
              <a:t>函数，此函数是一个递归函数，也就是实现了我们栈的操作。判断是否被访问如果没有被访问则递归操作，直到访问完所有的节点。</a:t>
            </a:r>
            <a:endParaRPr lang="zh-CN" altLang="en-US" smtClean="0"/>
          </a:p>
        </p:txBody>
      </p:sp>
      <p:sp>
        <p:nvSpPr>
          <p:cNvPr id="3584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B4BD63A7-483F-4D77-9D3F-AF22FC2BD1B8}" type="slidenum">
              <a:rPr lang="zh-CN" altLang="zh-CN" smtClean="0"/>
            </a:fld>
            <a:endParaRPr lang="zh-CN" altLang="zh-CN" smtClean="0"/>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标题幻灯片">
    <p:spTree>
      <p:nvGrpSpPr>
        <p:cNvPr id="1" name=""/>
        <p:cNvGrpSpPr/>
        <p:nvPr/>
      </p:nvGrpSpPr>
      <p:grpSpPr>
        <a:xfrm>
          <a:off x="0" y="0"/>
          <a:ext cx="0" cy="0"/>
          <a:chOff x="0" y="0"/>
          <a:chExt cx="0" cy="0"/>
        </a:xfrm>
      </p:grpSpPr>
      <p:pic>
        <p:nvPicPr>
          <p:cNvPr id="4" name="Picture 2" descr="bg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163" y="-20638"/>
            <a:ext cx="9174163" cy="6878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51" name="Rectangle 27"/>
          <p:cNvSpPr>
            <a:spLocks noGrp="1" noChangeArrowheads="1"/>
          </p:cNvSpPr>
          <p:nvPr>
            <p:ph type="ctrTitle"/>
          </p:nvPr>
        </p:nvSpPr>
        <p:spPr>
          <a:xfrm>
            <a:off x="468313" y="2470150"/>
            <a:ext cx="5399087" cy="1079500"/>
          </a:xfrm>
          <a:prstGeom prst="rect">
            <a:avLst/>
          </a:prstGeom>
        </p:spPr>
        <p:txBody>
          <a:bodyPr/>
          <a:lstStyle>
            <a:lvl1pPr>
              <a:defRPr sz="3200"/>
            </a:lvl1pPr>
          </a:lstStyle>
          <a:p>
            <a:r>
              <a:rPr lang="zh-CN"/>
              <a:t>单击此处编辑母版标题样式</a:t>
            </a:r>
            <a:endParaRPr lang="zh-CN"/>
          </a:p>
        </p:txBody>
      </p:sp>
      <p:sp>
        <p:nvSpPr>
          <p:cNvPr id="2052" name="Rectangle 31"/>
          <p:cNvSpPr>
            <a:spLocks noGrp="1" noChangeArrowheads="1"/>
          </p:cNvSpPr>
          <p:nvPr>
            <p:ph type="subTitle" idx="1" hasCustomPrompt="1"/>
          </p:nvPr>
        </p:nvSpPr>
        <p:spPr>
          <a:xfrm>
            <a:off x="468313" y="3549650"/>
            <a:ext cx="5400675" cy="600075"/>
          </a:xfrm>
          <a:prstGeom prst="rect">
            <a:avLst/>
          </a:prstGeom>
        </p:spPr>
        <p:txBody>
          <a:bodyPr/>
          <a:lstStyle>
            <a:lvl1pPr marL="0" indent="0">
              <a:buFont typeface="Wingdings" panose="05000000000000000000" pitchFamily="2" charset="2"/>
              <a:buNone/>
              <a:defRPr sz="1800">
                <a:solidFill>
                  <a:schemeClr val="bg1"/>
                </a:solidFill>
              </a:defRPr>
            </a:lvl1pPr>
          </a:lstStyle>
          <a:p>
            <a:r>
              <a:rPr lang="zh-CN"/>
              <a:t>单击添加署名或公司信息</a:t>
            </a:r>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dirty="0"/>
              <a:t>单击此处编辑母版标题样式</a:t>
            </a:r>
            <a:endParaRPr lang="zh-CN" altLang="en-US" dirty="0"/>
          </a:p>
        </p:txBody>
      </p:sp>
      <p:sp>
        <p:nvSpPr>
          <p:cNvPr id="3" name="内容占位符 2"/>
          <p:cNvSpPr>
            <a:spLocks noGrp="1"/>
          </p:cNvSpPr>
          <p:nvPr>
            <p:ph idx="1"/>
          </p:nvPr>
        </p:nvSpPr>
        <p:spPr>
          <a:xfrm>
            <a:off x="468313" y="1125538"/>
            <a:ext cx="8207375" cy="5162550"/>
          </a:xfrm>
          <a:prstGeom prst="rect">
            <a:avLst/>
          </a:prstGeo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a:prstGeom prst="rect">
            <a:avLst/>
          </a:prstGeom>
        </p:spPr>
        <p:txBody>
          <a:bodyPr anchor="t"/>
          <a:lstStyle>
            <a:lvl1pPr algn="l">
              <a:defRPr sz="4000" b="1" cap="all"/>
            </a:lvl1pPr>
          </a:lstStyle>
          <a:p>
            <a:r>
              <a:rPr lang="zh-CN" altLang="en-US"/>
              <a:t>单击此处编辑母版标题样式</a:t>
            </a:r>
            <a:endParaRPr lang="zh-CN" altLang="en-US"/>
          </a:p>
        </p:txBody>
      </p:sp>
      <p:sp>
        <p:nvSpPr>
          <p:cNvPr id="3" name="文本占位符 2"/>
          <p:cNvSpPr>
            <a:spLocks noGrp="1"/>
          </p:cNvSpPr>
          <p:nvPr>
            <p:ph type="body" idx="1"/>
          </p:nvPr>
        </p:nvSpPr>
        <p:spPr>
          <a:xfrm>
            <a:off x="722313" y="2906713"/>
            <a:ext cx="7772400" cy="1500187"/>
          </a:xfrm>
          <a:prstGeom prst="rect">
            <a:avLst/>
          </a:prstGeo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D5D6385-73FF-48F7-8DDA-F02439D7B60D}" type="slidenum">
              <a:rPr lang="zh-CN" altLang="en-US" smtClean="0"/>
            </a:fld>
            <a:endParaRPr lang="en-US" alt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sz="half" idx="1"/>
          </p:nvPr>
        </p:nvSpPr>
        <p:spPr>
          <a:xfrm>
            <a:off x="468313" y="1125538"/>
            <a:ext cx="4027487"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nvPr>
        </p:nvSpPr>
        <p:spPr>
          <a:xfrm>
            <a:off x="4648200" y="1125538"/>
            <a:ext cx="4027488"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45E1E5F-9D19-4FC7-A71A-24AB39712209}" type="slidenum">
              <a:rPr lang="zh-CN" altLang="en-US" smtClean="0"/>
            </a:fld>
            <a:endParaRPr lang="en-US" alt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lvl1pPr>
              <a:defRPr/>
            </a:lvl1pPr>
          </a:lstStyle>
          <a:p>
            <a:r>
              <a:rPr lang="zh-CN" altLang="en-US"/>
              <a:t>单击此处编辑母版标题样式</a:t>
            </a:r>
            <a:endParaRPr lang="zh-CN" altLang="en-US"/>
          </a:p>
        </p:txBody>
      </p:sp>
      <p:sp>
        <p:nvSpPr>
          <p:cNvPr id="3" name="文本占位符 2"/>
          <p:cNvSpPr>
            <a:spLocks noGrp="1"/>
          </p:cNvSpPr>
          <p:nvPr>
            <p:ph type="body" idx="1"/>
          </p:nvPr>
        </p:nvSpPr>
        <p:spPr>
          <a:xfrm>
            <a:off x="457200" y="1535113"/>
            <a:ext cx="4040188"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内容占位符 3"/>
          <p:cNvSpPr>
            <a:spLocks noGrp="1"/>
          </p:cNvSpPr>
          <p:nvPr>
            <p:ph sz="half" idx="2"/>
          </p:nvPr>
        </p:nvSpPr>
        <p:spPr>
          <a:xfrm>
            <a:off x="457200" y="2174875"/>
            <a:ext cx="4040188"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p:nvPr>
        </p:nvSpPr>
        <p:spPr>
          <a:xfrm>
            <a:off x="4645025" y="1535113"/>
            <a:ext cx="4041775"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4645025" y="2174875"/>
            <a:ext cx="4041775"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01DEBBD1-2960-4502-95D3-F1444E13883A}" type="slidenum">
              <a:rPr lang="zh-CN" altLang="en-US" smtClean="0"/>
            </a:fld>
            <a:endParaRPr lang="en-US" alt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3FFE5EB4-F84A-4001-AC86-DD5EEB2060DD}" type="slidenum">
              <a:rPr lang="zh-CN" altLang="en-US" smtClean="0"/>
            </a:fld>
            <a:endParaRPr lang="en-US" alt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FA65F22-8AC8-411F-B820-478F7DB776C2}" type="slidenum">
              <a:rPr lang="zh-CN" altLang="en-US" smtClean="0"/>
            </a:fld>
            <a:endParaRPr lang="en-US" alt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内容占位符 2"/>
          <p:cNvSpPr>
            <a:spLocks noGrp="1"/>
          </p:cNvSpPr>
          <p:nvPr>
            <p:ph idx="1"/>
          </p:nvPr>
        </p:nvSpPr>
        <p:spPr>
          <a:xfrm>
            <a:off x="3575050" y="273050"/>
            <a:ext cx="5111750"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文本占位符 3"/>
          <p:cNvSpPr>
            <a:spLocks noGrp="1"/>
          </p:cNvSpPr>
          <p:nvPr>
            <p:ph type="body" sz="half" idx="2"/>
          </p:nvPr>
        </p:nvSpPr>
        <p:spPr>
          <a:xfrm>
            <a:off x="457200" y="1435100"/>
            <a:ext cx="3008313"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A7D3370-EE2E-49E3-B92B-CC864B084AD2}" type="slidenum">
              <a:rPr lang="zh-CN" altLang="en-US" smtClean="0"/>
            </a:fld>
            <a:endParaRPr lang="en-US" alt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图片占位符 2"/>
          <p:cNvSpPr>
            <a:spLocks noGrp="1"/>
          </p:cNvSpPr>
          <p:nvPr>
            <p:ph type="pic" idx="1"/>
          </p:nvPr>
        </p:nvSpPr>
        <p:spPr>
          <a:xfrm>
            <a:off x="1792288" y="612775"/>
            <a:ext cx="54864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1792288" y="5367338"/>
            <a:ext cx="54864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FF81DA7-16D0-41E8-A52E-04703233FF3D}" type="slidenum">
              <a:rPr lang="zh-CN" altLang="en-US" smtClean="0"/>
            </a:fld>
            <a:endParaRPr lang="en-US" alt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1125538"/>
            <a:ext cx="8207375" cy="5162550"/>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5395485-1E7F-4AEF-8259-7171D9A6624F}" type="slidenum">
              <a:rPr lang="zh-CN" altLang="en-US" smtClean="0"/>
            </a:fld>
            <a:endParaRPr lang="en-US" alt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4638" y="315913"/>
            <a:ext cx="2051050" cy="5972175"/>
          </a:xfrm>
          <a:prstGeom prst="rect">
            <a:avLst/>
          </a:prstGeom>
        </p:spPr>
        <p:txBody>
          <a:bodyPr vert="eaVert"/>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315913"/>
            <a:ext cx="6003925" cy="5972175"/>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7EFF9BE1-89C5-461A-8080-0860368CA4E7}" type="slidenum">
              <a:rPr lang="zh-CN" altLang="en-US" smtClean="0"/>
            </a:fld>
            <a:endParaRPr lang="en-US" altLang="zh-C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表格占位符 2"/>
          <p:cNvSpPr>
            <a:spLocks noGrp="1"/>
          </p:cNvSpPr>
          <p:nvPr>
            <p:ph type="tbl"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C8FEDC41-C8C7-4EFD-A6DE-BC4A4069D4EC}" type="slidenum">
              <a:rPr lang="zh-CN" altLang="en-US" smtClean="0"/>
            </a:fld>
            <a:endParaRPr lang="en-US" altLang="zh-CN"/>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chart" preserve="1">
  <p:cSld name="标题和图表">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图表占位符 2"/>
          <p:cNvSpPr>
            <a:spLocks noGrp="1"/>
          </p:cNvSpPr>
          <p:nvPr>
            <p:ph type="chart"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6FF87EDD-D88C-44D8-97FB-6009DD6ED594}" type="slidenum">
              <a:rPr lang="zh-CN" altLang="en-US" smtClean="0"/>
            </a:fld>
            <a:endParaRPr lang="en-US" altLang="zh-CN"/>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image" Target="../media/image3.png"/><Relationship Id="rId14" Type="http://schemas.openxmlformats.org/officeDocument/2006/relationships/image" Target="../media/image2.jpeg"/><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pic>
        <p:nvPicPr>
          <p:cNvPr id="2050" name="Picture 2" descr="bg2"/>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0" y="0"/>
            <a:ext cx="9180513" cy="50131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8" name="Rectangle 4"/>
          <p:cNvSpPr>
            <a:spLocks noGrp="1" noChangeArrowheads="1"/>
          </p:cNvSpPr>
          <p:nvPr>
            <p:ph type="sldNum" sz="quarter" idx="4"/>
          </p:nvPr>
        </p:nvSpPr>
        <p:spPr bwMode="auto">
          <a:xfrm>
            <a:off x="7235825" y="6453188"/>
            <a:ext cx="1439863" cy="196850"/>
          </a:xfrm>
          <a:prstGeom prst="rect">
            <a:avLst/>
          </a:prstGeom>
          <a:noFill/>
          <a:ln w="9525">
            <a:noFill/>
            <a:miter lim="800000"/>
          </a:ln>
          <a:effectLst/>
        </p:spPr>
        <p:txBody>
          <a:bodyPr vert="horz" wrap="square" lIns="91440" tIns="45720" rIns="91440" bIns="45720" numCol="1" anchor="t" anchorCtr="0" compatLnSpc="1"/>
          <a:lstStyle>
            <a:lvl1pPr algn="r" eaLnBrk="0" hangingPunct="0">
              <a:defRPr sz="1000" b="1">
                <a:ea typeface="华文细黑" panose="02010600040101010101" pitchFamily="2" charset="-122"/>
              </a:defRPr>
            </a:lvl1pPr>
          </a:lstStyle>
          <a:p>
            <a:pPr>
              <a:defRPr/>
            </a:pPr>
            <a:r>
              <a:rPr lang="de-DE" altLang="en-US"/>
              <a:t>Page </a:t>
            </a:r>
            <a:r>
              <a:rPr lang="de-DE" altLang="en-US">
                <a:sym typeface="MS UI Gothic" panose="020B0600070205080204" pitchFamily="34" charset="-128"/>
              </a:rPr>
              <a:t></a:t>
            </a:r>
            <a:r>
              <a:rPr lang="de-DE" altLang="en-US"/>
              <a:t> </a:t>
            </a:r>
            <a:fld id="{B8F227BD-8E81-48D9-8EB2-264A8CA59D9A}" type="slidenum">
              <a:rPr lang="zh-CN" altLang="en-US" smtClean="0"/>
            </a:fld>
            <a:endParaRPr lang="en-US" altLang="zh-CN"/>
          </a:p>
        </p:txBody>
      </p:sp>
      <p:pic>
        <p:nvPicPr>
          <p:cNvPr id="2" name="图片 1"/>
          <p:cNvPicPr>
            <a:picLocks noChangeAspect="1"/>
          </p:cNvPicPr>
          <p:nvPr userDrawn="1"/>
        </p:nvPicPr>
        <p:blipFill>
          <a:blip r:embed="rId15"/>
          <a:stretch>
            <a:fillRect/>
          </a:stretch>
        </p:blipFill>
        <p:spPr>
          <a:xfrm>
            <a:off x="-1" y="6619981"/>
            <a:ext cx="9180513" cy="409419"/>
          </a:xfrm>
          <a:prstGeom prst="ellipse">
            <a:avLst/>
          </a:prstGeom>
          <a:ln>
            <a:noFill/>
          </a:ln>
          <a:effectLst>
            <a:softEdge rad="112500"/>
          </a:effec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rtl="0" eaLnBrk="0" fontAlgn="base" hangingPunct="0">
        <a:spcBef>
          <a:spcPct val="0"/>
        </a:spcBef>
        <a:spcAft>
          <a:spcPct val="0"/>
        </a:spcAft>
        <a:defRPr sz="2800" b="1">
          <a:solidFill>
            <a:schemeClr val="bg1"/>
          </a:solidFill>
          <a:latin typeface="+mj-lt"/>
          <a:ea typeface="+mj-ea"/>
          <a:cs typeface="+mj-cs"/>
        </a:defRPr>
      </a:lvl1pPr>
      <a:lvl2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2pPr>
      <a:lvl3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3pPr>
      <a:lvl4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4pPr>
      <a:lvl5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5pPr>
      <a:lvl6pPr marL="4572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6pPr>
      <a:lvl7pPr marL="9144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7pPr>
      <a:lvl8pPr marL="13716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8pPr>
      <a:lvl9pPr marL="18288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9pPr>
    </p:titleStyle>
    <p:body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9" Type="http://schemas.openxmlformats.org/officeDocument/2006/relationships/image" Target="../media/image7.png"/><Relationship Id="rId8" Type="http://schemas.openxmlformats.org/officeDocument/2006/relationships/tags" Target="../tags/tag7.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image" Target="../media/image6.png"/><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5" Type="http://schemas.openxmlformats.org/officeDocument/2006/relationships/slideLayout" Target="../slideLayouts/slideLayout3.xml"/><Relationship Id="rId14" Type="http://schemas.openxmlformats.org/officeDocument/2006/relationships/tags" Target="../tags/tag11.xml"/><Relationship Id="rId13" Type="http://schemas.openxmlformats.org/officeDocument/2006/relationships/tags" Target="../tags/tag10.xml"/><Relationship Id="rId12" Type="http://schemas.openxmlformats.org/officeDocument/2006/relationships/tags" Target="../tags/tag9.xml"/><Relationship Id="rId11" Type="http://schemas.openxmlformats.org/officeDocument/2006/relationships/image" Target="../media/image8.png"/><Relationship Id="rId10" Type="http://schemas.openxmlformats.org/officeDocument/2006/relationships/tags" Target="../tags/tag8.xml"/><Relationship Id="rId1" Type="http://schemas.openxmlformats.org/officeDocument/2006/relationships/tags" Target="../tags/tag1.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image" Target="../media/image11.png"/></Relationships>
</file>

<file path=ppt/slides/_rels/slide9.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2.xml"/><Relationship Id="rId2" Type="http://schemas.openxmlformats.org/officeDocument/2006/relationships/image" Target="../media/image13.png"/><Relationship Id="rId1" Type="http://schemas.openxmlformats.org/officeDocument/2006/relationships/image" Target="../media/image12.png"/></Relationships>
</file>

<file path=ppt/slides/_rels/slide10.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2.xml"/><Relationship Id="rId2" Type="http://schemas.openxmlformats.org/officeDocument/2006/relationships/image" Target="../media/image15.png"/><Relationship Id="rId1" Type="http://schemas.openxmlformats.org/officeDocument/2006/relationships/image" Target="../media/image14.png"/></Relationships>
</file>

<file path=ppt/slides/_rels/slide11.xml.rels><?xml version="1.0" encoding="UTF-8" standalone="yes"?>
<Relationships xmlns="http://schemas.openxmlformats.org/package/2006/relationships"><Relationship Id="rId4" Type="http://schemas.openxmlformats.org/officeDocument/2006/relationships/notesSlide" Target="../notesSlides/notesSlide9.xml"/><Relationship Id="rId3" Type="http://schemas.openxmlformats.org/officeDocument/2006/relationships/slideLayout" Target="../slideLayouts/slideLayout2.xml"/><Relationship Id="rId2" Type="http://schemas.openxmlformats.org/officeDocument/2006/relationships/image" Target="../media/image17.png"/><Relationship Id="rId1" Type="http://schemas.openxmlformats.org/officeDocument/2006/relationships/image" Target="../media/image16.png"/></Relationships>
</file>

<file path=ppt/slides/_rels/slide12.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2.xml"/><Relationship Id="rId2" Type="http://schemas.openxmlformats.org/officeDocument/2006/relationships/image" Target="../media/image19.png"/><Relationship Id="rId1" Type="http://schemas.openxmlformats.org/officeDocument/2006/relationships/image" Target="../media/image18.png"/></Relationships>
</file>

<file path=ppt/slides/_rels/slide13.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2.xml"/><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image" Target="../media/image20.png"/></Relationships>
</file>

<file path=ppt/slides/_rels/slide14.xml.rels><?xml version="1.0" encoding="UTF-8" standalone="yes"?>
<Relationships xmlns="http://schemas.openxmlformats.org/package/2006/relationships"><Relationship Id="rId5" Type="http://schemas.openxmlformats.org/officeDocument/2006/relationships/notesSlide" Target="../notesSlides/notesSlide12.xml"/><Relationship Id="rId4" Type="http://schemas.openxmlformats.org/officeDocument/2006/relationships/slideLayout" Target="../slideLayouts/slideLayout2.xml"/><Relationship Id="rId3" Type="http://schemas.openxmlformats.org/officeDocument/2006/relationships/image" Target="../media/image20.png"/><Relationship Id="rId2" Type="http://schemas.openxmlformats.org/officeDocument/2006/relationships/image" Target="../media/image22.png"/><Relationship Id="rId1" Type="http://schemas.openxmlformats.org/officeDocument/2006/relationships/image" Target="../media/image21.png"/></Relationships>
</file>

<file path=ppt/slides/_rels/slide15.xml.rels><?xml version="1.0" encoding="UTF-8" standalone="yes"?>
<Relationships xmlns="http://schemas.openxmlformats.org/package/2006/relationships"><Relationship Id="rId4" Type="http://schemas.openxmlformats.org/officeDocument/2006/relationships/notesSlide" Target="../notesSlides/notesSlide13.xml"/><Relationship Id="rId3" Type="http://schemas.openxmlformats.org/officeDocument/2006/relationships/slideLayout" Target="../slideLayouts/slideLayout2.xml"/><Relationship Id="rId2" Type="http://schemas.openxmlformats.org/officeDocument/2006/relationships/image" Target="../media/image24.png"/><Relationship Id="rId1" Type="http://schemas.openxmlformats.org/officeDocument/2006/relationships/image" Target="../media/image23.png"/></Relationships>
</file>

<file path=ppt/slides/_rels/slide16.xml.rels><?xml version="1.0" encoding="UTF-8" standalone="yes"?>
<Relationships xmlns="http://schemas.openxmlformats.org/package/2006/relationships"><Relationship Id="rId5" Type="http://schemas.openxmlformats.org/officeDocument/2006/relationships/notesSlide" Target="../notesSlides/notesSlide14.xml"/><Relationship Id="rId4" Type="http://schemas.openxmlformats.org/officeDocument/2006/relationships/slideLayout" Target="../slideLayouts/slideLayout2.xml"/><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image" Target="../media/image25.png"/></Relationships>
</file>

<file path=ppt/slides/_rels/slide17.xml.rels><?xml version="1.0" encoding="UTF-8" standalone="yes"?>
<Relationships xmlns="http://schemas.openxmlformats.org/package/2006/relationships"><Relationship Id="rId4" Type="http://schemas.openxmlformats.org/officeDocument/2006/relationships/notesSlide" Target="../notesSlides/notesSlide15.xml"/><Relationship Id="rId3" Type="http://schemas.openxmlformats.org/officeDocument/2006/relationships/slideLayout" Target="../slideLayouts/slideLayout2.xml"/><Relationship Id="rId2" Type="http://schemas.openxmlformats.org/officeDocument/2006/relationships/image" Target="../media/image27.png"/><Relationship Id="rId1" Type="http://schemas.openxmlformats.org/officeDocument/2006/relationships/image" Target="../media/image26.png"/></Relationships>
</file>

<file path=ppt/slides/_rels/slide18.xml.rels><?xml version="1.0" encoding="UTF-8" standalone="yes"?>
<Relationships xmlns="http://schemas.openxmlformats.org/package/2006/relationships"><Relationship Id="rId5" Type="http://schemas.openxmlformats.org/officeDocument/2006/relationships/notesSlide" Target="../notesSlides/notesSlide16.xml"/><Relationship Id="rId4" Type="http://schemas.openxmlformats.org/officeDocument/2006/relationships/slideLayout" Target="../slideLayouts/slideLayout2.xml"/><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image" Target="../media/image26.pn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2.xml"/><Relationship Id="rId1" Type="http://schemas.openxmlformats.org/officeDocument/2006/relationships/image" Target="../media/image29.pn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2.xml"/><Relationship Id="rId1" Type="http://schemas.openxmlformats.org/officeDocument/2006/relationships/image" Target="../media/image3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1.png"/></Relationships>
</file>

<file path=ppt/slides/_rels/slide2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2.png"/></Relationships>
</file>

<file path=ppt/slides/_rels/slide2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3.png"/></Relationships>
</file>

<file path=ppt/slides/_rels/slide2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4.png"/></Relationships>
</file>

<file path=ppt/slides/_rels/slide2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5.png"/></Relationships>
</file>

<file path=ppt/slides/_rels/slide2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7.png"/></Relationships>
</file>

<file path=ppt/slides/_rels/slide3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0.png"/></Relationships>
</file>

<file path=ppt/slides/_rels/slide3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42.png"/><Relationship Id="rId1" Type="http://schemas.openxmlformats.org/officeDocument/2006/relationships/image" Target="../media/image41.png"/></Relationships>
</file>

<file path=ppt/slides/_rels/slide37.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38.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39.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40.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41.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48.png"/><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42.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43.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49.png"/><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44.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51.png"/><Relationship Id="rId1" Type="http://schemas.openxmlformats.org/officeDocument/2006/relationships/image" Target="../media/image50.png"/></Relationships>
</file>

<file path=ppt/slides/_rels/slide45.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51.png"/><Relationship Id="rId1" Type="http://schemas.openxmlformats.org/officeDocument/2006/relationships/image" Target="../media/image50.png"/></Relationships>
</file>

<file path=ppt/slides/_rels/slide46.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53.png"/><Relationship Id="rId6" Type="http://schemas.openxmlformats.org/officeDocument/2006/relationships/image" Target="../media/image52.png"/><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47.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48.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54.png"/><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49.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54.png"/><Relationship Id="rId6" Type="http://schemas.openxmlformats.org/officeDocument/2006/relationships/image" Target="../media/image55.png"/><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50.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56.png"/><Relationship Id="rId6" Type="http://schemas.openxmlformats.org/officeDocument/2006/relationships/image" Target="../media/image54.png"/><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51.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5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7.png"/></Relationships>
</file>

<file path=ppt/slides/_rels/slide53.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5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7.png"/></Relationships>
</file>

<file path=ppt/slides/_rels/slide5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7.png"/></Relationships>
</file>

<file path=ppt/slides/_rels/slide56.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57.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58.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58.png"/><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59.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59.png"/><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60.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60.png"/><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61.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62.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6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1.png"/></Relationships>
</file>

<file path=ppt/slides/_rels/slide64.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63.png"/><Relationship Id="rId6" Type="http://schemas.openxmlformats.org/officeDocument/2006/relationships/image" Target="../media/image62.png"/><Relationship Id="rId5" Type="http://schemas.openxmlformats.org/officeDocument/2006/relationships/image" Target="../media/image47.png"/><Relationship Id="rId4" Type="http://schemas.openxmlformats.org/officeDocument/2006/relationships/image" Target="../media/image46.png"/><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image" Target="../media/image43.png"/></Relationships>
</file>

<file path=ppt/slides/_rels/slide6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4.png"/></Relationships>
</file>

<file path=ppt/slides/_rels/slide66.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66.png"/><Relationship Id="rId1" Type="http://schemas.openxmlformats.org/officeDocument/2006/relationships/image" Target="../media/image6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0" y="1588"/>
            <a:ext cx="9142413" cy="68564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24" name="Text Box 8"/>
          <p:cNvSpPr txBox="1">
            <a:spLocks noChangeArrowheads="1"/>
          </p:cNvSpPr>
          <p:nvPr/>
        </p:nvSpPr>
        <p:spPr bwMode="auto">
          <a:xfrm>
            <a:off x="250825" y="62261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eaLnBrk="1" hangingPunct="1">
              <a:spcBef>
                <a:spcPct val="0"/>
              </a:spcBef>
              <a:buFontTx/>
              <a:buNone/>
            </a:pPr>
            <a:endParaRPr lang="en-US" altLang="zh-CN" sz="2400" b="1">
              <a:latin typeface="Verdana" panose="020B0604030504040204" pitchFamily="34" charset="0"/>
            </a:endParaRPr>
          </a:p>
        </p:txBody>
      </p:sp>
      <p:sp>
        <p:nvSpPr>
          <p:cNvPr id="6" name="Rectangle 7"/>
          <p:cNvSpPr>
            <a:spLocks noChangeArrowheads="1"/>
          </p:cNvSpPr>
          <p:nvPr/>
        </p:nvSpPr>
        <p:spPr bwMode="auto">
          <a:xfrm>
            <a:off x="900113" y="2349500"/>
            <a:ext cx="7772400" cy="147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cene3d>
              <a:camera prst="orthographicFront"/>
              <a:lightRig rig="glow" dir="tl">
                <a:rot lat="0" lon="0" rev="5400000"/>
              </a:lightRig>
            </a:scene3d>
            <a:sp3d contourW="12700">
              <a:bevelT w="25400" h="25400"/>
              <a:contourClr>
                <a:schemeClr val="accent6">
                  <a:shade val="73000"/>
                </a:schemeClr>
              </a:contourClr>
            </a:sp3d>
          </a:bodyPr>
          <a:lstStyle/>
          <a:p>
            <a:pPr algn="ctr" eaLnBrk="1" hangingPunct="1">
              <a:defRPr/>
            </a:pP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第</a:t>
            </a:r>
            <a:r>
              <a:rPr lang="en-US" altLang="zh-CN"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6</a:t>
            </a: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章 回朔法</a:t>
            </a:r>
            <a:endPar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5"/>
          <p:cNvSpPr>
            <a:spLocks noChangeArrowheads="1"/>
          </p:cNvSpPr>
          <p:nvPr/>
        </p:nvSpPr>
        <p:spPr bwMode="auto">
          <a:xfrm>
            <a:off x="1" y="1051168"/>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Arial" panose="020B0604020202020204" pitchFamily="34" charset="0"/>
              <a:buNone/>
            </a:pPr>
            <a:endParaRPr lang="zh-CN" altLang="en-US"/>
          </a:p>
        </p:txBody>
      </p:sp>
      <p:pic>
        <p:nvPicPr>
          <p:cNvPr id="2" name="图片 1"/>
          <p:cNvPicPr>
            <a:picLocks noChangeAspect="1"/>
          </p:cNvPicPr>
          <p:nvPr/>
        </p:nvPicPr>
        <p:blipFill>
          <a:blip r:embed="rId1"/>
          <a:stretch>
            <a:fillRect/>
          </a:stretch>
        </p:blipFill>
        <p:spPr>
          <a:xfrm>
            <a:off x="1691640" y="908685"/>
            <a:ext cx="5902960" cy="5339080"/>
          </a:xfrm>
          <a:prstGeom prst="rect">
            <a:avLst/>
          </a:prstGeom>
        </p:spPr>
      </p:pic>
      <p:sp>
        <p:nvSpPr>
          <p:cNvPr id="4" name="文本框 3"/>
          <p:cNvSpPr txBox="1"/>
          <p:nvPr/>
        </p:nvSpPr>
        <p:spPr>
          <a:xfrm>
            <a:off x="521335" y="1124585"/>
            <a:ext cx="1515745" cy="368300"/>
          </a:xfrm>
          <a:prstGeom prst="rect">
            <a:avLst/>
          </a:prstGeom>
          <a:noFill/>
        </p:spPr>
        <p:txBody>
          <a:bodyPr wrap="square" rtlCol="0">
            <a:spAutoFit/>
          </a:bodyPr>
          <a:lstStyle/>
          <a:p>
            <a:r>
              <a:rPr lang="zh-CN" altLang="en-US">
                <a:latin typeface="黑体" panose="02010609060101010101" charset="-122"/>
                <a:ea typeface="黑体" panose="02010609060101010101" charset="-122"/>
                <a:cs typeface="Times New Roman" panose="02020603050405020304" pitchFamily="18" charset="0"/>
              </a:rPr>
              <a:t>本章概要</a:t>
            </a:r>
            <a:endParaRPr lang="zh-CN" altLang="en-US">
              <a:latin typeface="黑体" panose="02010609060101010101" charset="-122"/>
              <a:ea typeface="黑体" panose="02010609060101010101" charset="-122"/>
              <a:cs typeface="Times New Roman" panose="02020603050405020304" pitchFamily="18" charset="0"/>
            </a:endParaRPr>
          </a:p>
        </p:txBody>
      </p:sp>
      <p:sp>
        <p:nvSpPr>
          <p:cNvPr id="11" name="Freeform 6"/>
          <p:cNvSpPr/>
          <p:nvPr/>
        </p:nvSpPr>
        <p:spPr bwMode="auto">
          <a:xfrm>
            <a:off x="107195" y="1124554"/>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14" name="文本框 13"/>
          <p:cNvSpPr txBox="1"/>
          <p:nvPr/>
        </p:nvSpPr>
        <p:spPr>
          <a:xfrm>
            <a:off x="535305" y="1384300"/>
            <a:ext cx="1690370" cy="368300"/>
          </a:xfrm>
          <a:prstGeom prst="rect">
            <a:avLst/>
          </a:prstGeom>
          <a:noFill/>
        </p:spPr>
        <p:txBody>
          <a:bodyPr wrap="square" rtlCol="0">
            <a:spAutoFit/>
          </a:bodyPr>
          <a:p>
            <a:r>
              <a:rPr lang="en-US" altLang="zh-CN"/>
              <a:t>abstract</a:t>
            </a:r>
            <a:endParaRPr lang="en-US" altLang="zh-CN"/>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
          <p:cNvSpPr>
            <a:spLocks noChangeArrowheads="1"/>
          </p:cNvSpPr>
          <p:nvPr/>
        </p:nvSpPr>
        <p:spPr bwMode="auto">
          <a:xfrm>
            <a:off x="1" y="1051168"/>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Arial" panose="020B0604020202020204" pitchFamily="34" charset="0"/>
              <a:buNone/>
            </a:pPr>
            <a:endParaRPr lang="zh-CN" altLang="en-US"/>
          </a:p>
        </p:txBody>
      </p:sp>
      <p:sp>
        <p:nvSpPr>
          <p:cNvPr id="6" name="Freeform 6"/>
          <p:cNvSpPr/>
          <p:nvPr/>
        </p:nvSpPr>
        <p:spPr bwMode="auto">
          <a:xfrm>
            <a:off x="105925" y="1140429"/>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7" name="Freeform 7"/>
          <p:cNvSpPr>
            <a:spLocks noEditPoints="1"/>
          </p:cNvSpPr>
          <p:nvPr/>
        </p:nvSpPr>
        <p:spPr bwMode="auto">
          <a:xfrm>
            <a:off x="566516" y="1497477"/>
            <a:ext cx="742660" cy="151151"/>
          </a:xfrm>
          <a:custGeom>
            <a:avLst/>
            <a:gdLst>
              <a:gd name="T0" fmla="*/ 22141 w 2195"/>
              <a:gd name="T1" fmla="*/ 126007 h 445"/>
              <a:gd name="T2" fmla="*/ 113870 w 2195"/>
              <a:gd name="T3" fmla="*/ 125101 h 445"/>
              <a:gd name="T4" fmla="*/ 68684 w 2195"/>
              <a:gd name="T5" fmla="*/ 200795 h 445"/>
              <a:gd name="T6" fmla="*/ 70491 w 2195"/>
              <a:gd name="T7" fmla="*/ 47593 h 445"/>
              <a:gd name="T8" fmla="*/ 68684 w 2195"/>
              <a:gd name="T9" fmla="*/ 200795 h 445"/>
              <a:gd name="T10" fmla="*/ 300490 w 2195"/>
              <a:gd name="T11" fmla="*/ 196716 h 445"/>
              <a:gd name="T12" fmla="*/ 279253 w 2195"/>
              <a:gd name="T13" fmla="*/ 106064 h 445"/>
              <a:gd name="T14" fmla="*/ 201532 w 2195"/>
              <a:gd name="T15" fmla="*/ 106970 h 445"/>
              <a:gd name="T16" fmla="*/ 180746 w 2195"/>
              <a:gd name="T17" fmla="*/ 197623 h 445"/>
              <a:gd name="T18" fmla="*/ 201532 w 2195"/>
              <a:gd name="T19" fmla="*/ 50312 h 445"/>
              <a:gd name="T20" fmla="*/ 249881 w 2195"/>
              <a:gd name="T21" fmla="*/ 46233 h 445"/>
              <a:gd name="T22" fmla="*/ 405323 w 2195"/>
              <a:gd name="T23" fmla="*/ 184478 h 445"/>
              <a:gd name="T24" fmla="*/ 387248 w 2195"/>
              <a:gd name="T25" fmla="*/ 199889 h 445"/>
              <a:gd name="T26" fmla="*/ 356973 w 2195"/>
              <a:gd name="T27" fmla="*/ 68443 h 445"/>
              <a:gd name="T28" fmla="*/ 336640 w 2195"/>
              <a:gd name="T29" fmla="*/ 50312 h 445"/>
              <a:gd name="T30" fmla="*/ 356973 w 2195"/>
              <a:gd name="T31" fmla="*/ 10878 h 445"/>
              <a:gd name="T32" fmla="*/ 378211 w 2195"/>
              <a:gd name="T33" fmla="*/ 50312 h 445"/>
              <a:gd name="T34" fmla="*/ 405323 w 2195"/>
              <a:gd name="T35" fmla="*/ 68443 h 445"/>
              <a:gd name="T36" fmla="*/ 378211 w 2195"/>
              <a:gd name="T37" fmla="*/ 167707 h 445"/>
              <a:gd name="T38" fmla="*/ 405323 w 2195"/>
              <a:gd name="T39" fmla="*/ 184478 h 445"/>
              <a:gd name="T40" fmla="*/ 548564 w 2195"/>
              <a:gd name="T41" fmla="*/ 112862 h 445"/>
              <a:gd name="T42" fmla="*/ 460902 w 2195"/>
              <a:gd name="T43" fmla="*/ 112862 h 445"/>
              <a:gd name="T44" fmla="*/ 570706 w 2195"/>
              <a:gd name="T45" fmla="*/ 157282 h 445"/>
              <a:gd name="T46" fmla="*/ 436502 w 2195"/>
              <a:gd name="T47" fmla="*/ 126007 h 445"/>
              <a:gd name="T48" fmla="*/ 571609 w 2195"/>
              <a:gd name="T49" fmla="*/ 126007 h 445"/>
              <a:gd name="T50" fmla="*/ 459999 w 2195"/>
              <a:gd name="T51" fmla="*/ 130993 h 445"/>
              <a:gd name="T52" fmla="*/ 548564 w 2195"/>
              <a:gd name="T53" fmla="*/ 151390 h 445"/>
              <a:gd name="T54" fmla="*/ 734733 w 2195"/>
              <a:gd name="T55" fmla="*/ 196716 h 445"/>
              <a:gd name="T56" fmla="*/ 713947 w 2195"/>
              <a:gd name="T57" fmla="*/ 106064 h 445"/>
              <a:gd name="T58" fmla="*/ 636226 w 2195"/>
              <a:gd name="T59" fmla="*/ 106970 h 445"/>
              <a:gd name="T60" fmla="*/ 614988 w 2195"/>
              <a:gd name="T61" fmla="*/ 197623 h 445"/>
              <a:gd name="T62" fmla="*/ 636226 w 2195"/>
              <a:gd name="T63" fmla="*/ 50312 h 445"/>
              <a:gd name="T64" fmla="*/ 684576 w 2195"/>
              <a:gd name="T65" fmla="*/ 46233 h 445"/>
              <a:gd name="T66" fmla="*/ 840017 w 2195"/>
              <a:gd name="T67" fmla="*/ 184478 h 445"/>
              <a:gd name="T68" fmla="*/ 821491 w 2195"/>
              <a:gd name="T69" fmla="*/ 199889 h 445"/>
              <a:gd name="T70" fmla="*/ 791668 w 2195"/>
              <a:gd name="T71" fmla="*/ 68443 h 445"/>
              <a:gd name="T72" fmla="*/ 771334 w 2195"/>
              <a:gd name="T73" fmla="*/ 50312 h 445"/>
              <a:gd name="T74" fmla="*/ 791668 w 2195"/>
              <a:gd name="T75" fmla="*/ 10878 h 445"/>
              <a:gd name="T76" fmla="*/ 812454 w 2195"/>
              <a:gd name="T77" fmla="*/ 50312 h 445"/>
              <a:gd name="T78" fmla="*/ 840017 w 2195"/>
              <a:gd name="T79" fmla="*/ 68443 h 445"/>
              <a:gd name="T80" fmla="*/ 812454 w 2195"/>
              <a:gd name="T81" fmla="*/ 167707 h 445"/>
              <a:gd name="T82" fmla="*/ 840017 w 2195"/>
              <a:gd name="T83" fmla="*/ 184478 h 445"/>
              <a:gd name="T84" fmla="*/ 985066 w 2195"/>
              <a:gd name="T85" fmla="*/ 85667 h 445"/>
              <a:gd name="T86" fmla="*/ 875263 w 2195"/>
              <a:gd name="T87" fmla="*/ 87933 h 445"/>
              <a:gd name="T88" fmla="*/ 968799 w 2195"/>
              <a:gd name="T89" fmla="*/ 159549 h 445"/>
              <a:gd name="T90" fmla="*/ 890174 w 2195"/>
              <a:gd name="T91" fmla="*/ 151390 h 445"/>
              <a:gd name="T92" fmla="*/ 931746 w 2195"/>
              <a:gd name="T93" fmla="*/ 200795 h 445"/>
              <a:gd name="T94" fmla="*/ 937620 w 2195"/>
              <a:gd name="T95" fmla="*/ 114222 h 445"/>
              <a:gd name="T96" fmla="*/ 929487 w 2195"/>
              <a:gd name="T97" fmla="*/ 65723 h 445"/>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2195" h="445">
                <a:moveTo>
                  <a:pt x="154" y="142"/>
                </a:moveTo>
                <a:cubicBezTo>
                  <a:pt x="86" y="144"/>
                  <a:pt x="51" y="189"/>
                  <a:pt x="49" y="278"/>
                </a:cubicBezTo>
                <a:cubicBezTo>
                  <a:pt x="51" y="361"/>
                  <a:pt x="86" y="405"/>
                  <a:pt x="154" y="407"/>
                </a:cubicBezTo>
                <a:cubicBezTo>
                  <a:pt x="218" y="405"/>
                  <a:pt x="251" y="361"/>
                  <a:pt x="252" y="276"/>
                </a:cubicBezTo>
                <a:cubicBezTo>
                  <a:pt x="248" y="193"/>
                  <a:pt x="215" y="148"/>
                  <a:pt x="154" y="142"/>
                </a:cubicBezTo>
                <a:close/>
                <a:moveTo>
                  <a:pt x="152" y="443"/>
                </a:moveTo>
                <a:cubicBezTo>
                  <a:pt x="55" y="437"/>
                  <a:pt x="5" y="383"/>
                  <a:pt x="0" y="280"/>
                </a:cubicBezTo>
                <a:cubicBezTo>
                  <a:pt x="3" y="166"/>
                  <a:pt x="55" y="107"/>
                  <a:pt x="156" y="105"/>
                </a:cubicBezTo>
                <a:cubicBezTo>
                  <a:pt x="250" y="109"/>
                  <a:pt x="299" y="165"/>
                  <a:pt x="303" y="274"/>
                </a:cubicBezTo>
                <a:cubicBezTo>
                  <a:pt x="302" y="385"/>
                  <a:pt x="251" y="442"/>
                  <a:pt x="152" y="443"/>
                </a:cubicBezTo>
                <a:close/>
                <a:moveTo>
                  <a:pt x="665" y="227"/>
                </a:moveTo>
                <a:lnTo>
                  <a:pt x="665" y="434"/>
                </a:lnTo>
                <a:lnTo>
                  <a:pt x="618" y="434"/>
                </a:lnTo>
                <a:lnTo>
                  <a:pt x="618" y="234"/>
                </a:lnTo>
                <a:cubicBezTo>
                  <a:pt x="616" y="174"/>
                  <a:pt x="591" y="144"/>
                  <a:pt x="542" y="142"/>
                </a:cubicBezTo>
                <a:cubicBezTo>
                  <a:pt x="484" y="150"/>
                  <a:pt x="452" y="181"/>
                  <a:pt x="446" y="236"/>
                </a:cubicBezTo>
                <a:lnTo>
                  <a:pt x="446" y="434"/>
                </a:lnTo>
                <a:lnTo>
                  <a:pt x="400" y="436"/>
                </a:lnTo>
                <a:lnTo>
                  <a:pt x="400" y="111"/>
                </a:lnTo>
                <a:lnTo>
                  <a:pt x="446" y="111"/>
                </a:lnTo>
                <a:lnTo>
                  <a:pt x="446" y="160"/>
                </a:lnTo>
                <a:cubicBezTo>
                  <a:pt x="472" y="123"/>
                  <a:pt x="507" y="104"/>
                  <a:pt x="553" y="102"/>
                </a:cubicBezTo>
                <a:cubicBezTo>
                  <a:pt x="628" y="102"/>
                  <a:pt x="665" y="144"/>
                  <a:pt x="665" y="227"/>
                </a:cubicBezTo>
                <a:close/>
                <a:moveTo>
                  <a:pt x="897" y="407"/>
                </a:moveTo>
                <a:lnTo>
                  <a:pt x="906" y="432"/>
                </a:lnTo>
                <a:cubicBezTo>
                  <a:pt x="891" y="438"/>
                  <a:pt x="875" y="441"/>
                  <a:pt x="857" y="441"/>
                </a:cubicBezTo>
                <a:cubicBezTo>
                  <a:pt x="811" y="442"/>
                  <a:pt x="788" y="419"/>
                  <a:pt x="790" y="370"/>
                </a:cubicBezTo>
                <a:lnTo>
                  <a:pt x="790" y="151"/>
                </a:lnTo>
                <a:lnTo>
                  <a:pt x="745" y="151"/>
                </a:lnTo>
                <a:lnTo>
                  <a:pt x="745" y="111"/>
                </a:lnTo>
                <a:lnTo>
                  <a:pt x="790" y="111"/>
                </a:lnTo>
                <a:lnTo>
                  <a:pt x="790" y="24"/>
                </a:lnTo>
                <a:lnTo>
                  <a:pt x="837" y="0"/>
                </a:lnTo>
                <a:lnTo>
                  <a:pt x="837" y="111"/>
                </a:lnTo>
                <a:lnTo>
                  <a:pt x="897" y="111"/>
                </a:lnTo>
                <a:lnTo>
                  <a:pt x="897" y="151"/>
                </a:lnTo>
                <a:lnTo>
                  <a:pt x="837" y="151"/>
                </a:lnTo>
                <a:lnTo>
                  <a:pt x="837" y="370"/>
                </a:lnTo>
                <a:cubicBezTo>
                  <a:pt x="835" y="398"/>
                  <a:pt x="847" y="411"/>
                  <a:pt x="872" y="410"/>
                </a:cubicBezTo>
                <a:cubicBezTo>
                  <a:pt x="881" y="410"/>
                  <a:pt x="890" y="409"/>
                  <a:pt x="897" y="407"/>
                </a:cubicBezTo>
                <a:close/>
                <a:moveTo>
                  <a:pt x="1020" y="249"/>
                </a:moveTo>
                <a:lnTo>
                  <a:pt x="1214" y="249"/>
                </a:lnTo>
                <a:cubicBezTo>
                  <a:pt x="1211" y="184"/>
                  <a:pt x="1179" y="150"/>
                  <a:pt x="1118" y="147"/>
                </a:cubicBezTo>
                <a:cubicBezTo>
                  <a:pt x="1057" y="153"/>
                  <a:pt x="1024" y="187"/>
                  <a:pt x="1020" y="249"/>
                </a:cubicBezTo>
                <a:close/>
                <a:moveTo>
                  <a:pt x="1214" y="334"/>
                </a:moveTo>
                <a:lnTo>
                  <a:pt x="1263" y="347"/>
                </a:lnTo>
                <a:cubicBezTo>
                  <a:pt x="1245" y="413"/>
                  <a:pt x="1198" y="445"/>
                  <a:pt x="1120" y="443"/>
                </a:cubicBezTo>
                <a:cubicBezTo>
                  <a:pt x="1021" y="439"/>
                  <a:pt x="969" y="384"/>
                  <a:pt x="966" y="278"/>
                </a:cubicBezTo>
                <a:cubicBezTo>
                  <a:pt x="971" y="167"/>
                  <a:pt x="1021" y="109"/>
                  <a:pt x="1118" y="105"/>
                </a:cubicBezTo>
                <a:cubicBezTo>
                  <a:pt x="1213" y="107"/>
                  <a:pt x="1262" y="165"/>
                  <a:pt x="1265" y="278"/>
                </a:cubicBezTo>
                <a:cubicBezTo>
                  <a:pt x="1265" y="284"/>
                  <a:pt x="1265" y="288"/>
                  <a:pt x="1265" y="289"/>
                </a:cubicBezTo>
                <a:lnTo>
                  <a:pt x="1018" y="289"/>
                </a:lnTo>
                <a:cubicBezTo>
                  <a:pt x="1021" y="362"/>
                  <a:pt x="1054" y="401"/>
                  <a:pt x="1118" y="405"/>
                </a:cubicBezTo>
                <a:cubicBezTo>
                  <a:pt x="1169" y="405"/>
                  <a:pt x="1200" y="382"/>
                  <a:pt x="1214" y="334"/>
                </a:cubicBezTo>
                <a:close/>
                <a:moveTo>
                  <a:pt x="1626" y="227"/>
                </a:moveTo>
                <a:lnTo>
                  <a:pt x="1626" y="434"/>
                </a:lnTo>
                <a:lnTo>
                  <a:pt x="1580" y="434"/>
                </a:lnTo>
                <a:lnTo>
                  <a:pt x="1580" y="234"/>
                </a:lnTo>
                <a:cubicBezTo>
                  <a:pt x="1578" y="174"/>
                  <a:pt x="1553" y="144"/>
                  <a:pt x="1504" y="142"/>
                </a:cubicBezTo>
                <a:cubicBezTo>
                  <a:pt x="1446" y="150"/>
                  <a:pt x="1414" y="181"/>
                  <a:pt x="1408" y="236"/>
                </a:cubicBezTo>
                <a:lnTo>
                  <a:pt x="1408" y="434"/>
                </a:lnTo>
                <a:lnTo>
                  <a:pt x="1361" y="436"/>
                </a:lnTo>
                <a:lnTo>
                  <a:pt x="1361" y="111"/>
                </a:lnTo>
                <a:lnTo>
                  <a:pt x="1408" y="111"/>
                </a:lnTo>
                <a:lnTo>
                  <a:pt x="1408" y="160"/>
                </a:lnTo>
                <a:cubicBezTo>
                  <a:pt x="1433" y="123"/>
                  <a:pt x="1469" y="104"/>
                  <a:pt x="1515" y="102"/>
                </a:cubicBezTo>
                <a:cubicBezTo>
                  <a:pt x="1589" y="102"/>
                  <a:pt x="1626" y="144"/>
                  <a:pt x="1626" y="227"/>
                </a:cubicBezTo>
                <a:close/>
                <a:moveTo>
                  <a:pt x="1859" y="407"/>
                </a:moveTo>
                <a:lnTo>
                  <a:pt x="1868" y="432"/>
                </a:lnTo>
                <a:cubicBezTo>
                  <a:pt x="1853" y="438"/>
                  <a:pt x="1836" y="441"/>
                  <a:pt x="1818" y="441"/>
                </a:cubicBezTo>
                <a:cubicBezTo>
                  <a:pt x="1772" y="442"/>
                  <a:pt x="1750" y="419"/>
                  <a:pt x="1752" y="370"/>
                </a:cubicBezTo>
                <a:lnTo>
                  <a:pt x="1752" y="151"/>
                </a:lnTo>
                <a:lnTo>
                  <a:pt x="1707" y="151"/>
                </a:lnTo>
                <a:lnTo>
                  <a:pt x="1707" y="111"/>
                </a:lnTo>
                <a:lnTo>
                  <a:pt x="1752" y="111"/>
                </a:lnTo>
                <a:lnTo>
                  <a:pt x="1752" y="24"/>
                </a:lnTo>
                <a:lnTo>
                  <a:pt x="1798" y="0"/>
                </a:lnTo>
                <a:lnTo>
                  <a:pt x="1798" y="111"/>
                </a:lnTo>
                <a:lnTo>
                  <a:pt x="1859" y="111"/>
                </a:lnTo>
                <a:lnTo>
                  <a:pt x="1859" y="151"/>
                </a:lnTo>
                <a:lnTo>
                  <a:pt x="1798" y="151"/>
                </a:lnTo>
                <a:lnTo>
                  <a:pt x="1798" y="370"/>
                </a:lnTo>
                <a:cubicBezTo>
                  <a:pt x="1797" y="398"/>
                  <a:pt x="1809" y="411"/>
                  <a:pt x="1834" y="410"/>
                </a:cubicBezTo>
                <a:cubicBezTo>
                  <a:pt x="1843" y="410"/>
                  <a:pt x="1851" y="409"/>
                  <a:pt x="1859" y="407"/>
                </a:cubicBezTo>
                <a:close/>
                <a:moveTo>
                  <a:pt x="2131" y="203"/>
                </a:moveTo>
                <a:lnTo>
                  <a:pt x="2180" y="189"/>
                </a:lnTo>
                <a:cubicBezTo>
                  <a:pt x="2167" y="133"/>
                  <a:pt x="2125" y="104"/>
                  <a:pt x="2055" y="102"/>
                </a:cubicBezTo>
                <a:cubicBezTo>
                  <a:pt x="1982" y="105"/>
                  <a:pt x="1943" y="136"/>
                  <a:pt x="1937" y="194"/>
                </a:cubicBezTo>
                <a:cubicBezTo>
                  <a:pt x="1934" y="249"/>
                  <a:pt x="1976" y="281"/>
                  <a:pt x="2062" y="292"/>
                </a:cubicBezTo>
                <a:cubicBezTo>
                  <a:pt x="2118" y="302"/>
                  <a:pt x="2146" y="322"/>
                  <a:pt x="2144" y="352"/>
                </a:cubicBezTo>
                <a:cubicBezTo>
                  <a:pt x="2143" y="387"/>
                  <a:pt x="2115" y="406"/>
                  <a:pt x="2062" y="407"/>
                </a:cubicBezTo>
                <a:cubicBezTo>
                  <a:pt x="2013" y="409"/>
                  <a:pt x="1982" y="384"/>
                  <a:pt x="1970" y="334"/>
                </a:cubicBezTo>
                <a:lnTo>
                  <a:pt x="1924" y="347"/>
                </a:lnTo>
                <a:cubicBezTo>
                  <a:pt x="1941" y="413"/>
                  <a:pt x="1988" y="445"/>
                  <a:pt x="2062" y="443"/>
                </a:cubicBezTo>
                <a:cubicBezTo>
                  <a:pt x="2148" y="442"/>
                  <a:pt x="2192" y="410"/>
                  <a:pt x="2193" y="350"/>
                </a:cubicBezTo>
                <a:cubicBezTo>
                  <a:pt x="2195" y="298"/>
                  <a:pt x="2155" y="265"/>
                  <a:pt x="2075" y="252"/>
                </a:cubicBezTo>
                <a:cubicBezTo>
                  <a:pt x="2014" y="241"/>
                  <a:pt x="1985" y="222"/>
                  <a:pt x="1986" y="194"/>
                </a:cubicBezTo>
                <a:cubicBezTo>
                  <a:pt x="1990" y="162"/>
                  <a:pt x="2014" y="146"/>
                  <a:pt x="2057" y="145"/>
                </a:cubicBezTo>
                <a:cubicBezTo>
                  <a:pt x="2097" y="145"/>
                  <a:pt x="2122" y="164"/>
                  <a:pt x="2131" y="203"/>
                </a:cubicBez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8" name="Freeform 8"/>
          <p:cNvSpPr>
            <a:spLocks noEditPoints="1"/>
          </p:cNvSpPr>
          <p:nvPr/>
        </p:nvSpPr>
        <p:spPr bwMode="auto">
          <a:xfrm>
            <a:off x="595080" y="1061879"/>
            <a:ext cx="714096" cy="335625"/>
          </a:xfrm>
          <a:custGeom>
            <a:avLst/>
            <a:gdLst>
              <a:gd name="T0" fmla="*/ 345008 w 2109"/>
              <a:gd name="T1" fmla="*/ 0 h 986"/>
              <a:gd name="T2" fmla="*/ 305269 w 2109"/>
              <a:gd name="T3" fmla="*/ 447253 h 986"/>
              <a:gd name="T4" fmla="*/ 37933 w 2109"/>
              <a:gd name="T5" fmla="*/ 409150 h 986"/>
              <a:gd name="T6" fmla="*/ 0 w 2109"/>
              <a:gd name="T7" fmla="*/ 447253 h 986"/>
              <a:gd name="T8" fmla="*/ 37933 w 2109"/>
              <a:gd name="T9" fmla="*/ 36288 h 986"/>
              <a:gd name="T10" fmla="*/ 305269 w 2109"/>
              <a:gd name="T11" fmla="*/ 126555 h 986"/>
              <a:gd name="T12" fmla="*/ 37933 w 2109"/>
              <a:gd name="T13" fmla="*/ 36288 h 986"/>
              <a:gd name="T14" fmla="*/ 37933 w 2109"/>
              <a:gd name="T15" fmla="*/ 376944 h 986"/>
              <a:gd name="T16" fmla="*/ 305269 w 2109"/>
              <a:gd name="T17" fmla="*/ 284863 h 986"/>
              <a:gd name="T18" fmla="*/ 37933 w 2109"/>
              <a:gd name="T19" fmla="*/ 160576 h 986"/>
              <a:gd name="T20" fmla="*/ 305269 w 2109"/>
              <a:gd name="T21" fmla="*/ 252657 h 986"/>
              <a:gd name="T22" fmla="*/ 37933 w 2109"/>
              <a:gd name="T23" fmla="*/ 160576 h 986"/>
              <a:gd name="T24" fmla="*/ 912645 w 2109"/>
              <a:gd name="T25" fmla="*/ 250843 h 986"/>
              <a:gd name="T26" fmla="*/ 808781 w 2109"/>
              <a:gd name="T27" fmla="*/ 314801 h 986"/>
              <a:gd name="T28" fmla="*/ 926644 w 2109"/>
              <a:gd name="T29" fmla="*/ 415047 h 986"/>
              <a:gd name="T30" fmla="*/ 731109 w 2109"/>
              <a:gd name="T31" fmla="*/ 371048 h 986"/>
              <a:gd name="T32" fmla="*/ 605118 w 2109"/>
              <a:gd name="T33" fmla="*/ 441356 h 986"/>
              <a:gd name="T34" fmla="*/ 658856 w 2109"/>
              <a:gd name="T35" fmla="*/ 403253 h 986"/>
              <a:gd name="T36" fmla="*/ 694983 w 2109"/>
              <a:gd name="T37" fmla="*/ 202761 h 986"/>
              <a:gd name="T38" fmla="*/ 477321 w 2109"/>
              <a:gd name="T39" fmla="*/ 170555 h 986"/>
              <a:gd name="T40" fmla="*/ 834973 w 2109"/>
              <a:gd name="T41" fmla="*/ 118391 h 986"/>
              <a:gd name="T42" fmla="*/ 537381 w 2109"/>
              <a:gd name="T43" fmla="*/ 86185 h 986"/>
              <a:gd name="T44" fmla="*/ 834973 w 2109"/>
              <a:gd name="T45" fmla="*/ 34020 h 986"/>
              <a:gd name="T46" fmla="*/ 529253 w 2109"/>
              <a:gd name="T47" fmla="*/ 2268 h 986"/>
              <a:gd name="T48" fmla="*/ 872454 w 2109"/>
              <a:gd name="T49" fmla="*/ 170555 h 986"/>
              <a:gd name="T50" fmla="*/ 948771 w 2109"/>
              <a:gd name="T51" fmla="*/ 202761 h 986"/>
              <a:gd name="T52" fmla="*/ 731109 w 2109"/>
              <a:gd name="T53" fmla="*/ 218637 h 986"/>
              <a:gd name="T54" fmla="*/ 886453 w 2109"/>
              <a:gd name="T55" fmla="*/ 218637 h 986"/>
              <a:gd name="T56" fmla="*/ 675113 w 2109"/>
              <a:gd name="T57" fmla="*/ 293028 h 986"/>
              <a:gd name="T58" fmla="*/ 485449 w 2109"/>
              <a:gd name="T59" fmla="*/ 403253 h 986"/>
              <a:gd name="T60" fmla="*/ 537381 w 2109"/>
              <a:gd name="T61" fmla="*/ 214554 h 986"/>
              <a:gd name="T62" fmla="*/ 631310 w 2109"/>
              <a:gd name="T63" fmla="*/ 276698 h 986"/>
              <a:gd name="T64" fmla="*/ 549122 w 2109"/>
              <a:gd name="T65" fmla="*/ 266719 h 986"/>
              <a:gd name="T66" fmla="*/ 537381 w 2109"/>
              <a:gd name="T67" fmla="*/ 214554 h 98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2109" h="986">
                <a:moveTo>
                  <a:pt x="0" y="0"/>
                </a:moveTo>
                <a:lnTo>
                  <a:pt x="764" y="0"/>
                </a:lnTo>
                <a:lnTo>
                  <a:pt x="764" y="986"/>
                </a:lnTo>
                <a:lnTo>
                  <a:pt x="676" y="986"/>
                </a:lnTo>
                <a:lnTo>
                  <a:pt x="676" y="902"/>
                </a:lnTo>
                <a:lnTo>
                  <a:pt x="84" y="902"/>
                </a:lnTo>
                <a:lnTo>
                  <a:pt x="84" y="986"/>
                </a:lnTo>
                <a:lnTo>
                  <a:pt x="0" y="986"/>
                </a:lnTo>
                <a:lnTo>
                  <a:pt x="0" y="0"/>
                </a:lnTo>
                <a:close/>
                <a:moveTo>
                  <a:pt x="84" y="80"/>
                </a:moveTo>
                <a:lnTo>
                  <a:pt x="84" y="279"/>
                </a:lnTo>
                <a:lnTo>
                  <a:pt x="676" y="279"/>
                </a:lnTo>
                <a:lnTo>
                  <a:pt x="676" y="80"/>
                </a:lnTo>
                <a:lnTo>
                  <a:pt x="84" y="80"/>
                </a:lnTo>
                <a:close/>
                <a:moveTo>
                  <a:pt x="84" y="628"/>
                </a:moveTo>
                <a:lnTo>
                  <a:pt x="84" y="831"/>
                </a:lnTo>
                <a:lnTo>
                  <a:pt x="676" y="831"/>
                </a:lnTo>
                <a:lnTo>
                  <a:pt x="676" y="628"/>
                </a:lnTo>
                <a:lnTo>
                  <a:pt x="84" y="628"/>
                </a:lnTo>
                <a:close/>
                <a:moveTo>
                  <a:pt x="84" y="354"/>
                </a:moveTo>
                <a:lnTo>
                  <a:pt x="84" y="557"/>
                </a:lnTo>
                <a:lnTo>
                  <a:pt x="676" y="557"/>
                </a:lnTo>
                <a:lnTo>
                  <a:pt x="676" y="354"/>
                </a:lnTo>
                <a:lnTo>
                  <a:pt x="84" y="354"/>
                </a:lnTo>
                <a:close/>
                <a:moveTo>
                  <a:pt x="1963" y="482"/>
                </a:moveTo>
                <a:lnTo>
                  <a:pt x="2021" y="553"/>
                </a:lnTo>
                <a:cubicBezTo>
                  <a:pt x="2000" y="568"/>
                  <a:pt x="1958" y="594"/>
                  <a:pt x="1893" y="632"/>
                </a:cubicBezTo>
                <a:cubicBezTo>
                  <a:pt x="1849" y="659"/>
                  <a:pt x="1815" y="679"/>
                  <a:pt x="1791" y="694"/>
                </a:cubicBezTo>
                <a:cubicBezTo>
                  <a:pt x="1859" y="753"/>
                  <a:pt x="1965" y="800"/>
                  <a:pt x="2109" y="836"/>
                </a:cubicBezTo>
                <a:cubicBezTo>
                  <a:pt x="2089" y="856"/>
                  <a:pt x="2070" y="883"/>
                  <a:pt x="2052" y="915"/>
                </a:cubicBezTo>
                <a:cubicBezTo>
                  <a:pt x="1849" y="856"/>
                  <a:pt x="1704" y="756"/>
                  <a:pt x="1619" y="615"/>
                </a:cubicBezTo>
                <a:lnTo>
                  <a:pt x="1619" y="818"/>
                </a:lnTo>
                <a:cubicBezTo>
                  <a:pt x="1624" y="924"/>
                  <a:pt x="1573" y="976"/>
                  <a:pt x="1464" y="973"/>
                </a:cubicBezTo>
                <a:cubicBezTo>
                  <a:pt x="1423" y="973"/>
                  <a:pt x="1381" y="973"/>
                  <a:pt x="1340" y="973"/>
                </a:cubicBezTo>
                <a:cubicBezTo>
                  <a:pt x="1337" y="937"/>
                  <a:pt x="1331" y="908"/>
                  <a:pt x="1322" y="884"/>
                </a:cubicBezTo>
                <a:cubicBezTo>
                  <a:pt x="1358" y="887"/>
                  <a:pt x="1403" y="889"/>
                  <a:pt x="1459" y="889"/>
                </a:cubicBezTo>
                <a:cubicBezTo>
                  <a:pt x="1515" y="892"/>
                  <a:pt x="1542" y="867"/>
                  <a:pt x="1539" y="814"/>
                </a:cubicBezTo>
                <a:lnTo>
                  <a:pt x="1539" y="447"/>
                </a:lnTo>
                <a:lnTo>
                  <a:pt x="1057" y="447"/>
                </a:lnTo>
                <a:lnTo>
                  <a:pt x="1057" y="376"/>
                </a:lnTo>
                <a:lnTo>
                  <a:pt x="1849" y="376"/>
                </a:lnTo>
                <a:lnTo>
                  <a:pt x="1849" y="261"/>
                </a:lnTo>
                <a:lnTo>
                  <a:pt x="1190" y="261"/>
                </a:lnTo>
                <a:lnTo>
                  <a:pt x="1190" y="190"/>
                </a:lnTo>
                <a:lnTo>
                  <a:pt x="1849" y="190"/>
                </a:lnTo>
                <a:lnTo>
                  <a:pt x="1849" y="75"/>
                </a:lnTo>
                <a:lnTo>
                  <a:pt x="1172" y="75"/>
                </a:lnTo>
                <a:lnTo>
                  <a:pt x="1172" y="5"/>
                </a:lnTo>
                <a:lnTo>
                  <a:pt x="1932" y="5"/>
                </a:lnTo>
                <a:lnTo>
                  <a:pt x="1932" y="376"/>
                </a:lnTo>
                <a:lnTo>
                  <a:pt x="2101" y="376"/>
                </a:lnTo>
                <a:lnTo>
                  <a:pt x="2101" y="447"/>
                </a:lnTo>
                <a:lnTo>
                  <a:pt x="1619" y="447"/>
                </a:lnTo>
                <a:lnTo>
                  <a:pt x="1619" y="482"/>
                </a:lnTo>
                <a:cubicBezTo>
                  <a:pt x="1654" y="544"/>
                  <a:pt x="1692" y="597"/>
                  <a:pt x="1733" y="641"/>
                </a:cubicBezTo>
                <a:cubicBezTo>
                  <a:pt x="1822" y="582"/>
                  <a:pt x="1899" y="529"/>
                  <a:pt x="1963" y="482"/>
                </a:cubicBezTo>
                <a:close/>
                <a:moveTo>
                  <a:pt x="1044" y="814"/>
                </a:moveTo>
                <a:cubicBezTo>
                  <a:pt x="1168" y="772"/>
                  <a:pt x="1318" y="716"/>
                  <a:pt x="1495" y="646"/>
                </a:cubicBezTo>
                <a:cubicBezTo>
                  <a:pt x="1501" y="672"/>
                  <a:pt x="1507" y="699"/>
                  <a:pt x="1513" y="725"/>
                </a:cubicBezTo>
                <a:cubicBezTo>
                  <a:pt x="1351" y="784"/>
                  <a:pt x="1205" y="839"/>
                  <a:pt x="1075" y="889"/>
                </a:cubicBezTo>
                <a:lnTo>
                  <a:pt x="1044" y="814"/>
                </a:lnTo>
                <a:close/>
                <a:moveTo>
                  <a:pt x="1190" y="473"/>
                </a:moveTo>
                <a:cubicBezTo>
                  <a:pt x="1202" y="482"/>
                  <a:pt x="1218" y="492"/>
                  <a:pt x="1238" y="504"/>
                </a:cubicBezTo>
                <a:cubicBezTo>
                  <a:pt x="1303" y="545"/>
                  <a:pt x="1356" y="581"/>
                  <a:pt x="1398" y="610"/>
                </a:cubicBezTo>
                <a:lnTo>
                  <a:pt x="1349" y="681"/>
                </a:lnTo>
                <a:cubicBezTo>
                  <a:pt x="1317" y="658"/>
                  <a:pt x="1272" y="627"/>
                  <a:pt x="1216" y="588"/>
                </a:cubicBezTo>
                <a:cubicBezTo>
                  <a:pt x="1184" y="565"/>
                  <a:pt x="1159" y="547"/>
                  <a:pt x="1141" y="535"/>
                </a:cubicBezTo>
                <a:lnTo>
                  <a:pt x="1190" y="473"/>
                </a:ln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10" name="Freeform 24"/>
          <p:cNvSpPr/>
          <p:nvPr>
            <p:custDataLst>
              <p:tags r:id="rId1"/>
            </p:custDataLst>
          </p:nvPr>
        </p:nvSpPr>
        <p:spPr bwMode="auto">
          <a:xfrm>
            <a:off x="4735725" y="3164396"/>
            <a:ext cx="3361660"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2" name="Freeform 26"/>
          <p:cNvSpPr/>
          <p:nvPr>
            <p:custDataLst>
              <p:tags r:id="rId2"/>
            </p:custDataLst>
          </p:nvPr>
        </p:nvSpPr>
        <p:spPr bwMode="auto">
          <a:xfrm>
            <a:off x="4735725" y="3985290"/>
            <a:ext cx="3361660"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7" name="TextBox 47"/>
          <p:cNvSpPr txBox="1"/>
          <p:nvPr>
            <p:custDataLst>
              <p:tags r:id="rId3"/>
            </p:custDataLst>
          </p:nvPr>
        </p:nvSpPr>
        <p:spPr>
          <a:xfrm>
            <a:off x="4860032" y="3212976"/>
            <a:ext cx="2955963" cy="429895"/>
          </a:xfrm>
          <a:prstGeom prst="rect">
            <a:avLst/>
          </a:prstGeom>
          <a:noFill/>
        </p:spPr>
        <p:txBody>
          <a:bodyPr wrap="square" rtlCol="0">
            <a:spAutoFit/>
          </a:bodyPr>
          <a:lstStyle/>
          <a:p>
            <a:r>
              <a:rPr lang="en-US" altLang="zh-CN" sz="2200" b="1" dirty="0">
                <a:solidFill>
                  <a:schemeClr val="tx2">
                    <a:lumMod val="75000"/>
                    <a:lumOff val="25000"/>
                  </a:schemeClr>
                </a:solidFill>
                <a:latin typeface="微软雅黑" panose="020B0503020204020204" pitchFamily="34" charset="-122"/>
                <a:ea typeface="微软雅黑" panose="020B0503020204020204" pitchFamily="34" charset="-122"/>
              </a:rPr>
              <a:t>6.2 </a:t>
            </a:r>
            <a:r>
              <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rPr>
              <a:t>回朔算法核心</a:t>
            </a:r>
            <a:r>
              <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rPr>
              <a:t>案例</a:t>
            </a:r>
            <a:endPar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endParaRPr>
          </a:p>
        </p:txBody>
      </p:sp>
      <p:sp>
        <p:nvSpPr>
          <p:cNvPr id="18" name="TextBox 48"/>
          <p:cNvSpPr txBox="1"/>
          <p:nvPr>
            <p:custDataLst>
              <p:tags r:id="rId4"/>
            </p:custDataLst>
          </p:nvPr>
        </p:nvSpPr>
        <p:spPr>
          <a:xfrm>
            <a:off x="4860032" y="4078513"/>
            <a:ext cx="2955963" cy="429895"/>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rPr>
              <a:t>6.3 </a:t>
            </a:r>
            <a:r>
              <a:rPr lang="zh-CN" altLang="en-US" sz="2200" dirty="0">
                <a:solidFill>
                  <a:schemeClr val="tx2">
                    <a:lumMod val="75000"/>
                    <a:lumOff val="25000"/>
                  </a:schemeClr>
                </a:solidFill>
              </a:rPr>
              <a:t>回朔法示例</a:t>
            </a:r>
            <a:endParaRPr lang="zh-CN" altLang="en-US" sz="2200" dirty="0">
              <a:solidFill>
                <a:schemeClr val="tx2">
                  <a:lumMod val="75000"/>
                  <a:lumOff val="25000"/>
                </a:schemeClr>
              </a:solidFill>
            </a:endParaRPr>
          </a:p>
        </p:txBody>
      </p:sp>
      <p:pic>
        <p:nvPicPr>
          <p:cNvPr id="21" name="Picture 2" descr="E:\我的文档\Nipic_6852949_20110401101000478152.png"/>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a:stretch>
            <a:fillRect/>
          </a:stretch>
        </p:blipFill>
        <p:spPr bwMode="auto">
          <a:xfrm>
            <a:off x="582590" y="2420888"/>
            <a:ext cx="2680498" cy="2947378"/>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2" name="Freeform 41"/>
          <p:cNvSpPr>
            <a:spLocks noEditPoints="1"/>
          </p:cNvSpPr>
          <p:nvPr>
            <p:custDataLst>
              <p:tags r:id="rId6"/>
            </p:custDataLst>
          </p:nvPr>
        </p:nvSpPr>
        <p:spPr bwMode="auto">
          <a:xfrm>
            <a:off x="4237000" y="3269469"/>
            <a:ext cx="360714" cy="356368"/>
          </a:xfrm>
          <a:custGeom>
            <a:avLst/>
            <a:gdLst>
              <a:gd name="T0" fmla="*/ 471 w 549"/>
              <a:gd name="T1" fmla="*/ 540 h 540"/>
              <a:gd name="T2" fmla="*/ 335 w 549"/>
              <a:gd name="T3" fmla="*/ 436 h 540"/>
              <a:gd name="T4" fmla="*/ 0 w 549"/>
              <a:gd name="T5" fmla="*/ 231 h 540"/>
              <a:gd name="T6" fmla="*/ 461 w 549"/>
              <a:gd name="T7" fmla="*/ 231 h 540"/>
              <a:gd name="T8" fmla="*/ 521 w 549"/>
              <a:gd name="T9" fmla="*/ 419 h 540"/>
              <a:gd name="T10" fmla="*/ 297 w 549"/>
              <a:gd name="T11" fmla="*/ 262 h 540"/>
              <a:gd name="T12" fmla="*/ 284 w 549"/>
              <a:gd name="T13" fmla="*/ 259 h 540"/>
              <a:gd name="T14" fmla="*/ 273 w 549"/>
              <a:gd name="T15" fmla="*/ 311 h 540"/>
              <a:gd name="T16" fmla="*/ 297 w 549"/>
              <a:gd name="T17" fmla="*/ 318 h 540"/>
              <a:gd name="T18" fmla="*/ 291 w 549"/>
              <a:gd name="T19" fmla="*/ 336 h 540"/>
              <a:gd name="T20" fmla="*/ 234 w 549"/>
              <a:gd name="T21" fmla="*/ 351 h 540"/>
              <a:gd name="T22" fmla="*/ 230 w 549"/>
              <a:gd name="T23" fmla="*/ 350 h 540"/>
              <a:gd name="T24" fmla="*/ 168 w 549"/>
              <a:gd name="T25" fmla="*/ 327 h 540"/>
              <a:gd name="T26" fmla="*/ 191 w 549"/>
              <a:gd name="T27" fmla="*/ 312 h 540"/>
              <a:gd name="T28" fmla="*/ 208 w 549"/>
              <a:gd name="T29" fmla="*/ 281 h 540"/>
              <a:gd name="T30" fmla="*/ 180 w 549"/>
              <a:gd name="T31" fmla="*/ 260 h 540"/>
              <a:gd name="T32" fmla="*/ 168 w 549"/>
              <a:gd name="T33" fmla="*/ 236 h 540"/>
              <a:gd name="T34" fmla="*/ 178 w 549"/>
              <a:gd name="T35" fmla="*/ 228 h 540"/>
              <a:gd name="T36" fmla="*/ 288 w 549"/>
              <a:gd name="T37" fmla="*/ 229 h 540"/>
              <a:gd name="T38" fmla="*/ 297 w 549"/>
              <a:gd name="T39" fmla="*/ 237 h 540"/>
              <a:gd name="T40" fmla="*/ 386 w 549"/>
              <a:gd name="T41" fmla="*/ 289 h 540"/>
              <a:gd name="T42" fmla="*/ 317 w 549"/>
              <a:gd name="T43" fmla="*/ 215 h 540"/>
              <a:gd name="T44" fmla="*/ 306 w 549"/>
              <a:gd name="T45" fmla="*/ 209 h 540"/>
              <a:gd name="T46" fmla="*/ 164 w 549"/>
              <a:gd name="T47" fmla="*/ 208 h 540"/>
              <a:gd name="T48" fmla="*/ 150 w 549"/>
              <a:gd name="T49" fmla="*/ 214 h 540"/>
              <a:gd name="T50" fmla="*/ 81 w 549"/>
              <a:gd name="T51" fmla="*/ 288 h 540"/>
              <a:gd name="T52" fmla="*/ 78 w 549"/>
              <a:gd name="T53" fmla="*/ 318 h 540"/>
              <a:gd name="T54" fmla="*/ 102 w 549"/>
              <a:gd name="T55" fmla="*/ 333 h 540"/>
              <a:gd name="T56" fmla="*/ 156 w 549"/>
              <a:gd name="T57" fmla="*/ 320 h 540"/>
              <a:gd name="T58" fmla="*/ 164 w 549"/>
              <a:gd name="T59" fmla="*/ 369 h 540"/>
              <a:gd name="T60" fmla="*/ 310 w 549"/>
              <a:gd name="T61" fmla="*/ 361 h 540"/>
              <a:gd name="T62" fmla="*/ 362 w 549"/>
              <a:gd name="T63" fmla="*/ 333 h 540"/>
              <a:gd name="T64" fmla="*/ 366 w 549"/>
              <a:gd name="T65" fmla="*/ 334 h 540"/>
              <a:gd name="T66" fmla="*/ 386 w 549"/>
              <a:gd name="T67" fmla="*/ 289 h 540"/>
              <a:gd name="T68" fmla="*/ 295 w 549"/>
              <a:gd name="T69" fmla="*/ 138 h 540"/>
              <a:gd name="T70" fmla="*/ 171 w 549"/>
              <a:gd name="T71" fmla="*/ 138 h 540"/>
              <a:gd name="T72" fmla="*/ 231 w 549"/>
              <a:gd name="T73" fmla="*/ 432 h 540"/>
              <a:gd name="T74" fmla="*/ 432 w 549"/>
              <a:gd name="T75" fmla="*/ 231 h 540"/>
              <a:gd name="T76" fmla="*/ 29 w 549"/>
              <a:gd name="T77" fmla="*/ 231 h 5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49" h="540">
                <a:moveTo>
                  <a:pt x="521" y="520"/>
                </a:moveTo>
                <a:cubicBezTo>
                  <a:pt x="507" y="534"/>
                  <a:pt x="489" y="540"/>
                  <a:pt x="471" y="540"/>
                </a:cubicBezTo>
                <a:cubicBezTo>
                  <a:pt x="452" y="540"/>
                  <a:pt x="434" y="534"/>
                  <a:pt x="420" y="520"/>
                </a:cubicBezTo>
                <a:lnTo>
                  <a:pt x="335" y="436"/>
                </a:lnTo>
                <a:cubicBezTo>
                  <a:pt x="304" y="452"/>
                  <a:pt x="268" y="462"/>
                  <a:pt x="231" y="462"/>
                </a:cubicBezTo>
                <a:cubicBezTo>
                  <a:pt x="103" y="462"/>
                  <a:pt x="0" y="358"/>
                  <a:pt x="0" y="231"/>
                </a:cubicBezTo>
                <a:cubicBezTo>
                  <a:pt x="0" y="103"/>
                  <a:pt x="103" y="0"/>
                  <a:pt x="231" y="0"/>
                </a:cubicBezTo>
                <a:cubicBezTo>
                  <a:pt x="358" y="0"/>
                  <a:pt x="461" y="103"/>
                  <a:pt x="461" y="231"/>
                </a:cubicBezTo>
                <a:cubicBezTo>
                  <a:pt x="461" y="269"/>
                  <a:pt x="452" y="304"/>
                  <a:pt x="436" y="336"/>
                </a:cubicBezTo>
                <a:lnTo>
                  <a:pt x="521" y="419"/>
                </a:lnTo>
                <a:cubicBezTo>
                  <a:pt x="549" y="447"/>
                  <a:pt x="549" y="492"/>
                  <a:pt x="521" y="520"/>
                </a:cubicBezTo>
                <a:close/>
                <a:moveTo>
                  <a:pt x="297" y="262"/>
                </a:moveTo>
                <a:lnTo>
                  <a:pt x="286" y="260"/>
                </a:lnTo>
                <a:cubicBezTo>
                  <a:pt x="285" y="259"/>
                  <a:pt x="285" y="259"/>
                  <a:pt x="284" y="259"/>
                </a:cubicBezTo>
                <a:cubicBezTo>
                  <a:pt x="272" y="258"/>
                  <a:pt x="260" y="267"/>
                  <a:pt x="257" y="281"/>
                </a:cubicBezTo>
                <a:cubicBezTo>
                  <a:pt x="255" y="294"/>
                  <a:pt x="261" y="307"/>
                  <a:pt x="273" y="311"/>
                </a:cubicBezTo>
                <a:cubicBezTo>
                  <a:pt x="273" y="312"/>
                  <a:pt x="274" y="312"/>
                  <a:pt x="274" y="312"/>
                </a:cubicBezTo>
                <a:lnTo>
                  <a:pt x="297" y="318"/>
                </a:lnTo>
                <a:lnTo>
                  <a:pt x="297" y="328"/>
                </a:lnTo>
                <a:cubicBezTo>
                  <a:pt x="297" y="331"/>
                  <a:pt x="295" y="335"/>
                  <a:pt x="291" y="336"/>
                </a:cubicBezTo>
                <a:lnTo>
                  <a:pt x="236" y="351"/>
                </a:lnTo>
                <a:cubicBezTo>
                  <a:pt x="235" y="351"/>
                  <a:pt x="234" y="351"/>
                  <a:pt x="234" y="351"/>
                </a:cubicBezTo>
                <a:cubicBezTo>
                  <a:pt x="233" y="351"/>
                  <a:pt x="232" y="351"/>
                  <a:pt x="231" y="351"/>
                </a:cubicBezTo>
                <a:cubicBezTo>
                  <a:pt x="231" y="351"/>
                  <a:pt x="230" y="351"/>
                  <a:pt x="230" y="350"/>
                </a:cubicBezTo>
                <a:lnTo>
                  <a:pt x="174" y="335"/>
                </a:lnTo>
                <a:cubicBezTo>
                  <a:pt x="171" y="334"/>
                  <a:pt x="168" y="331"/>
                  <a:pt x="168" y="327"/>
                </a:cubicBezTo>
                <a:lnTo>
                  <a:pt x="168" y="318"/>
                </a:lnTo>
                <a:lnTo>
                  <a:pt x="191" y="312"/>
                </a:lnTo>
                <a:cubicBezTo>
                  <a:pt x="192" y="312"/>
                  <a:pt x="192" y="312"/>
                  <a:pt x="193" y="311"/>
                </a:cubicBezTo>
                <a:cubicBezTo>
                  <a:pt x="204" y="307"/>
                  <a:pt x="211" y="294"/>
                  <a:pt x="208" y="281"/>
                </a:cubicBezTo>
                <a:cubicBezTo>
                  <a:pt x="205" y="267"/>
                  <a:pt x="193" y="258"/>
                  <a:pt x="181" y="259"/>
                </a:cubicBezTo>
                <a:cubicBezTo>
                  <a:pt x="181" y="259"/>
                  <a:pt x="180" y="259"/>
                  <a:pt x="180" y="260"/>
                </a:cubicBezTo>
                <a:lnTo>
                  <a:pt x="168" y="262"/>
                </a:lnTo>
                <a:lnTo>
                  <a:pt x="168" y="236"/>
                </a:lnTo>
                <a:cubicBezTo>
                  <a:pt x="168" y="233"/>
                  <a:pt x="169" y="231"/>
                  <a:pt x="171" y="229"/>
                </a:cubicBezTo>
                <a:cubicBezTo>
                  <a:pt x="173" y="228"/>
                  <a:pt x="176" y="227"/>
                  <a:pt x="178" y="228"/>
                </a:cubicBezTo>
                <a:lnTo>
                  <a:pt x="234" y="243"/>
                </a:lnTo>
                <a:lnTo>
                  <a:pt x="288" y="229"/>
                </a:lnTo>
                <a:cubicBezTo>
                  <a:pt x="290" y="228"/>
                  <a:pt x="292" y="228"/>
                  <a:pt x="294" y="230"/>
                </a:cubicBezTo>
                <a:cubicBezTo>
                  <a:pt x="296" y="232"/>
                  <a:pt x="297" y="234"/>
                  <a:pt x="297" y="237"/>
                </a:cubicBezTo>
                <a:lnTo>
                  <a:pt x="297" y="262"/>
                </a:lnTo>
                <a:close/>
                <a:moveTo>
                  <a:pt x="386" y="289"/>
                </a:moveTo>
                <a:cubicBezTo>
                  <a:pt x="385" y="289"/>
                  <a:pt x="385" y="288"/>
                  <a:pt x="385" y="288"/>
                </a:cubicBezTo>
                <a:lnTo>
                  <a:pt x="317" y="215"/>
                </a:lnTo>
                <a:cubicBezTo>
                  <a:pt x="316" y="215"/>
                  <a:pt x="316" y="214"/>
                  <a:pt x="316" y="214"/>
                </a:cubicBezTo>
                <a:cubicBezTo>
                  <a:pt x="313" y="211"/>
                  <a:pt x="309" y="210"/>
                  <a:pt x="306" y="209"/>
                </a:cubicBezTo>
                <a:cubicBezTo>
                  <a:pt x="305" y="208"/>
                  <a:pt x="304" y="208"/>
                  <a:pt x="302" y="208"/>
                </a:cubicBezTo>
                <a:lnTo>
                  <a:pt x="164" y="208"/>
                </a:lnTo>
                <a:cubicBezTo>
                  <a:pt x="163" y="208"/>
                  <a:pt x="163" y="208"/>
                  <a:pt x="163" y="208"/>
                </a:cubicBezTo>
                <a:cubicBezTo>
                  <a:pt x="158" y="209"/>
                  <a:pt x="153" y="211"/>
                  <a:pt x="150" y="214"/>
                </a:cubicBezTo>
                <a:cubicBezTo>
                  <a:pt x="149" y="214"/>
                  <a:pt x="149" y="215"/>
                  <a:pt x="149" y="215"/>
                </a:cubicBezTo>
                <a:lnTo>
                  <a:pt x="81" y="288"/>
                </a:lnTo>
                <a:cubicBezTo>
                  <a:pt x="81" y="288"/>
                  <a:pt x="80" y="289"/>
                  <a:pt x="80" y="289"/>
                </a:cubicBezTo>
                <a:cubicBezTo>
                  <a:pt x="74" y="297"/>
                  <a:pt x="73" y="309"/>
                  <a:pt x="78" y="318"/>
                </a:cubicBezTo>
                <a:cubicBezTo>
                  <a:pt x="82" y="327"/>
                  <a:pt x="90" y="334"/>
                  <a:pt x="99" y="334"/>
                </a:cubicBezTo>
                <a:cubicBezTo>
                  <a:pt x="100" y="334"/>
                  <a:pt x="101" y="334"/>
                  <a:pt x="102" y="333"/>
                </a:cubicBezTo>
                <a:cubicBezTo>
                  <a:pt x="103" y="333"/>
                  <a:pt x="103" y="333"/>
                  <a:pt x="104" y="333"/>
                </a:cubicBezTo>
                <a:lnTo>
                  <a:pt x="156" y="320"/>
                </a:lnTo>
                <a:lnTo>
                  <a:pt x="156" y="361"/>
                </a:lnTo>
                <a:cubicBezTo>
                  <a:pt x="156" y="365"/>
                  <a:pt x="160" y="369"/>
                  <a:pt x="164" y="369"/>
                </a:cubicBezTo>
                <a:lnTo>
                  <a:pt x="302" y="369"/>
                </a:lnTo>
                <a:cubicBezTo>
                  <a:pt x="307" y="369"/>
                  <a:pt x="310" y="365"/>
                  <a:pt x="310" y="361"/>
                </a:cubicBezTo>
                <a:lnTo>
                  <a:pt x="310" y="321"/>
                </a:lnTo>
                <a:lnTo>
                  <a:pt x="362" y="333"/>
                </a:lnTo>
                <a:cubicBezTo>
                  <a:pt x="362" y="333"/>
                  <a:pt x="363" y="333"/>
                  <a:pt x="363" y="333"/>
                </a:cubicBezTo>
                <a:cubicBezTo>
                  <a:pt x="364" y="334"/>
                  <a:pt x="365" y="334"/>
                  <a:pt x="366" y="334"/>
                </a:cubicBezTo>
                <a:cubicBezTo>
                  <a:pt x="374" y="334"/>
                  <a:pt x="381" y="329"/>
                  <a:pt x="386" y="322"/>
                </a:cubicBezTo>
                <a:cubicBezTo>
                  <a:pt x="393" y="312"/>
                  <a:pt x="393" y="299"/>
                  <a:pt x="386" y="289"/>
                </a:cubicBezTo>
                <a:close/>
                <a:moveTo>
                  <a:pt x="233" y="204"/>
                </a:moveTo>
                <a:cubicBezTo>
                  <a:pt x="267" y="204"/>
                  <a:pt x="295" y="174"/>
                  <a:pt x="295" y="138"/>
                </a:cubicBezTo>
                <a:cubicBezTo>
                  <a:pt x="295" y="101"/>
                  <a:pt x="267" y="71"/>
                  <a:pt x="233" y="71"/>
                </a:cubicBezTo>
                <a:cubicBezTo>
                  <a:pt x="198" y="71"/>
                  <a:pt x="171" y="101"/>
                  <a:pt x="171" y="138"/>
                </a:cubicBezTo>
                <a:cubicBezTo>
                  <a:pt x="171" y="174"/>
                  <a:pt x="198" y="204"/>
                  <a:pt x="233" y="204"/>
                </a:cubicBezTo>
                <a:close/>
                <a:moveTo>
                  <a:pt x="231" y="432"/>
                </a:moveTo>
                <a:lnTo>
                  <a:pt x="231" y="432"/>
                </a:lnTo>
                <a:cubicBezTo>
                  <a:pt x="342" y="432"/>
                  <a:pt x="432" y="342"/>
                  <a:pt x="432" y="231"/>
                </a:cubicBezTo>
                <a:cubicBezTo>
                  <a:pt x="432" y="120"/>
                  <a:pt x="342" y="30"/>
                  <a:pt x="231" y="30"/>
                </a:cubicBezTo>
                <a:cubicBezTo>
                  <a:pt x="119" y="30"/>
                  <a:pt x="29" y="120"/>
                  <a:pt x="29" y="231"/>
                </a:cubicBezTo>
                <a:cubicBezTo>
                  <a:pt x="29" y="342"/>
                  <a:pt x="119" y="432"/>
                  <a:pt x="231" y="432"/>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sp>
        <p:nvSpPr>
          <p:cNvPr id="23" name="Freeform 47"/>
          <p:cNvSpPr>
            <a:spLocks noEditPoints="1"/>
          </p:cNvSpPr>
          <p:nvPr>
            <p:custDataLst>
              <p:tags r:id="rId7"/>
            </p:custDataLst>
          </p:nvPr>
        </p:nvSpPr>
        <p:spPr bwMode="auto">
          <a:xfrm>
            <a:off x="4289152" y="4078512"/>
            <a:ext cx="308562" cy="349125"/>
          </a:xfrm>
          <a:custGeom>
            <a:avLst/>
            <a:gdLst>
              <a:gd name="T0" fmla="*/ 298 w 467"/>
              <a:gd name="T1" fmla="*/ 66 h 528"/>
              <a:gd name="T2" fmla="*/ 232 w 467"/>
              <a:gd name="T3" fmla="*/ 132 h 528"/>
              <a:gd name="T4" fmla="*/ 166 w 467"/>
              <a:gd name="T5" fmla="*/ 132 h 528"/>
              <a:gd name="T6" fmla="*/ 100 w 467"/>
              <a:gd name="T7" fmla="*/ 66 h 528"/>
              <a:gd name="T8" fmla="*/ 166 w 467"/>
              <a:gd name="T9" fmla="*/ 0 h 528"/>
              <a:gd name="T10" fmla="*/ 232 w 467"/>
              <a:gd name="T11" fmla="*/ 0 h 528"/>
              <a:gd name="T12" fmla="*/ 298 w 467"/>
              <a:gd name="T13" fmla="*/ 66 h 528"/>
              <a:gd name="T14" fmla="*/ 330 w 467"/>
              <a:gd name="T15" fmla="*/ 66 h 528"/>
              <a:gd name="T16" fmla="*/ 331 w 467"/>
              <a:gd name="T17" fmla="*/ 81 h 528"/>
              <a:gd name="T18" fmla="*/ 248 w 467"/>
              <a:gd name="T19" fmla="*/ 164 h 528"/>
              <a:gd name="T20" fmla="*/ 149 w 467"/>
              <a:gd name="T21" fmla="*/ 164 h 528"/>
              <a:gd name="T22" fmla="*/ 66 w 467"/>
              <a:gd name="T23" fmla="*/ 81 h 528"/>
              <a:gd name="T24" fmla="*/ 68 w 467"/>
              <a:gd name="T25" fmla="*/ 66 h 528"/>
              <a:gd name="T26" fmla="*/ 0 w 467"/>
              <a:gd name="T27" fmla="*/ 147 h 528"/>
              <a:gd name="T28" fmla="*/ 0 w 467"/>
              <a:gd name="T29" fmla="*/ 445 h 528"/>
              <a:gd name="T30" fmla="*/ 83 w 467"/>
              <a:gd name="T31" fmla="*/ 528 h 528"/>
              <a:gd name="T32" fmla="*/ 303 w 467"/>
              <a:gd name="T33" fmla="*/ 528 h 528"/>
              <a:gd name="T34" fmla="*/ 213 w 467"/>
              <a:gd name="T35" fmla="*/ 392 h 528"/>
              <a:gd name="T36" fmla="*/ 361 w 467"/>
              <a:gd name="T37" fmla="*/ 244 h 528"/>
              <a:gd name="T38" fmla="*/ 397 w 467"/>
              <a:gd name="T39" fmla="*/ 248 h 528"/>
              <a:gd name="T40" fmla="*/ 397 w 467"/>
              <a:gd name="T41" fmla="*/ 147 h 528"/>
              <a:gd name="T42" fmla="*/ 330 w 467"/>
              <a:gd name="T43" fmla="*/ 66 h 528"/>
              <a:gd name="T44" fmla="*/ 186 w 467"/>
              <a:gd name="T45" fmla="*/ 331 h 528"/>
              <a:gd name="T46" fmla="*/ 186 w 467"/>
              <a:gd name="T47" fmla="*/ 331 h 528"/>
              <a:gd name="T48" fmla="*/ 83 w 467"/>
              <a:gd name="T49" fmla="*/ 331 h 528"/>
              <a:gd name="T50" fmla="*/ 66 w 467"/>
              <a:gd name="T51" fmla="*/ 314 h 528"/>
              <a:gd name="T52" fmla="*/ 83 w 467"/>
              <a:gd name="T53" fmla="*/ 298 h 528"/>
              <a:gd name="T54" fmla="*/ 186 w 467"/>
              <a:gd name="T55" fmla="*/ 298 h 528"/>
              <a:gd name="T56" fmla="*/ 203 w 467"/>
              <a:gd name="T57" fmla="*/ 314 h 528"/>
              <a:gd name="T58" fmla="*/ 186 w 467"/>
              <a:gd name="T59" fmla="*/ 331 h 528"/>
              <a:gd name="T60" fmla="*/ 219 w 467"/>
              <a:gd name="T61" fmla="*/ 264 h 528"/>
              <a:gd name="T62" fmla="*/ 219 w 467"/>
              <a:gd name="T63" fmla="*/ 264 h 528"/>
              <a:gd name="T64" fmla="*/ 83 w 467"/>
              <a:gd name="T65" fmla="*/ 264 h 528"/>
              <a:gd name="T66" fmla="*/ 66 w 467"/>
              <a:gd name="T67" fmla="*/ 248 h 528"/>
              <a:gd name="T68" fmla="*/ 83 w 467"/>
              <a:gd name="T69" fmla="*/ 231 h 528"/>
              <a:gd name="T70" fmla="*/ 219 w 467"/>
              <a:gd name="T71" fmla="*/ 231 h 528"/>
              <a:gd name="T72" fmla="*/ 236 w 467"/>
              <a:gd name="T73" fmla="*/ 248 h 528"/>
              <a:gd name="T74" fmla="*/ 219 w 467"/>
              <a:gd name="T75" fmla="*/ 264 h 528"/>
              <a:gd name="T76" fmla="*/ 388 w 467"/>
              <a:gd name="T77" fmla="*/ 289 h 528"/>
              <a:gd name="T78" fmla="*/ 362 w 467"/>
              <a:gd name="T79" fmla="*/ 286 h 528"/>
              <a:gd name="T80" fmla="*/ 257 w 467"/>
              <a:gd name="T81" fmla="*/ 391 h 528"/>
              <a:gd name="T82" fmla="*/ 340 w 467"/>
              <a:gd name="T83" fmla="*/ 494 h 528"/>
              <a:gd name="T84" fmla="*/ 362 w 467"/>
              <a:gd name="T85" fmla="*/ 497 h 528"/>
              <a:gd name="T86" fmla="*/ 467 w 467"/>
              <a:gd name="T87" fmla="*/ 391 h 528"/>
              <a:gd name="T88" fmla="*/ 388 w 467"/>
              <a:gd name="T89" fmla="*/ 289 h 528"/>
              <a:gd name="T90" fmla="*/ 422 w 467"/>
              <a:gd name="T91" fmla="*/ 376 h 528"/>
              <a:gd name="T92" fmla="*/ 422 w 467"/>
              <a:gd name="T93" fmla="*/ 376 h 528"/>
              <a:gd name="T94" fmla="*/ 388 w 467"/>
              <a:gd name="T95" fmla="*/ 410 h 528"/>
              <a:gd name="T96" fmla="*/ 362 w 467"/>
              <a:gd name="T97" fmla="*/ 436 h 528"/>
              <a:gd name="T98" fmla="*/ 332 w 467"/>
              <a:gd name="T99" fmla="*/ 436 h 528"/>
              <a:gd name="T100" fmla="*/ 302 w 467"/>
              <a:gd name="T101" fmla="*/ 406 h 528"/>
              <a:gd name="T102" fmla="*/ 302 w 467"/>
              <a:gd name="T103" fmla="*/ 376 h 528"/>
              <a:gd name="T104" fmla="*/ 332 w 467"/>
              <a:gd name="T105" fmla="*/ 376 h 528"/>
              <a:gd name="T106" fmla="*/ 347 w 467"/>
              <a:gd name="T107" fmla="*/ 391 h 528"/>
              <a:gd name="T108" fmla="*/ 388 w 467"/>
              <a:gd name="T109" fmla="*/ 350 h 528"/>
              <a:gd name="T110" fmla="*/ 392 w 467"/>
              <a:gd name="T111" fmla="*/ 346 h 528"/>
              <a:gd name="T112" fmla="*/ 422 w 467"/>
              <a:gd name="T113" fmla="*/ 346 h 528"/>
              <a:gd name="T114" fmla="*/ 422 w 467"/>
              <a:gd name="T115" fmla="*/ 376 h 5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467" h="528">
                <a:moveTo>
                  <a:pt x="298" y="66"/>
                </a:moveTo>
                <a:cubicBezTo>
                  <a:pt x="298" y="103"/>
                  <a:pt x="268" y="132"/>
                  <a:pt x="232" y="132"/>
                </a:cubicBezTo>
                <a:lnTo>
                  <a:pt x="166" y="132"/>
                </a:lnTo>
                <a:cubicBezTo>
                  <a:pt x="129" y="132"/>
                  <a:pt x="100" y="103"/>
                  <a:pt x="100" y="66"/>
                </a:cubicBezTo>
                <a:cubicBezTo>
                  <a:pt x="100" y="29"/>
                  <a:pt x="129" y="0"/>
                  <a:pt x="166" y="0"/>
                </a:cubicBezTo>
                <a:lnTo>
                  <a:pt x="232" y="0"/>
                </a:lnTo>
                <a:cubicBezTo>
                  <a:pt x="268" y="0"/>
                  <a:pt x="298" y="29"/>
                  <a:pt x="298" y="66"/>
                </a:cubicBezTo>
                <a:close/>
                <a:moveTo>
                  <a:pt x="330" y="66"/>
                </a:moveTo>
                <a:cubicBezTo>
                  <a:pt x="331" y="71"/>
                  <a:pt x="331" y="76"/>
                  <a:pt x="331" y="81"/>
                </a:cubicBezTo>
                <a:cubicBezTo>
                  <a:pt x="331" y="127"/>
                  <a:pt x="294" y="164"/>
                  <a:pt x="248" y="164"/>
                </a:cubicBezTo>
                <a:lnTo>
                  <a:pt x="149" y="164"/>
                </a:lnTo>
                <a:cubicBezTo>
                  <a:pt x="103" y="164"/>
                  <a:pt x="66" y="127"/>
                  <a:pt x="66" y="81"/>
                </a:cubicBezTo>
                <a:cubicBezTo>
                  <a:pt x="66" y="76"/>
                  <a:pt x="67" y="71"/>
                  <a:pt x="68" y="66"/>
                </a:cubicBezTo>
                <a:cubicBezTo>
                  <a:pt x="29" y="73"/>
                  <a:pt x="0" y="107"/>
                  <a:pt x="0" y="147"/>
                </a:cubicBezTo>
                <a:lnTo>
                  <a:pt x="0" y="445"/>
                </a:lnTo>
                <a:cubicBezTo>
                  <a:pt x="0" y="491"/>
                  <a:pt x="37" y="528"/>
                  <a:pt x="83" y="528"/>
                </a:cubicBezTo>
                <a:lnTo>
                  <a:pt x="303" y="528"/>
                </a:lnTo>
                <a:cubicBezTo>
                  <a:pt x="250" y="505"/>
                  <a:pt x="213" y="453"/>
                  <a:pt x="213" y="392"/>
                </a:cubicBezTo>
                <a:cubicBezTo>
                  <a:pt x="213" y="310"/>
                  <a:pt x="279" y="244"/>
                  <a:pt x="361" y="244"/>
                </a:cubicBezTo>
                <a:cubicBezTo>
                  <a:pt x="374" y="244"/>
                  <a:pt x="386" y="245"/>
                  <a:pt x="397" y="248"/>
                </a:cubicBezTo>
                <a:lnTo>
                  <a:pt x="397" y="147"/>
                </a:lnTo>
                <a:cubicBezTo>
                  <a:pt x="397" y="107"/>
                  <a:pt x="368" y="73"/>
                  <a:pt x="330" y="66"/>
                </a:cubicBezTo>
                <a:close/>
                <a:moveTo>
                  <a:pt x="186" y="331"/>
                </a:moveTo>
                <a:lnTo>
                  <a:pt x="186" y="331"/>
                </a:lnTo>
                <a:lnTo>
                  <a:pt x="83" y="331"/>
                </a:lnTo>
                <a:cubicBezTo>
                  <a:pt x="74" y="331"/>
                  <a:pt x="66" y="323"/>
                  <a:pt x="66" y="314"/>
                </a:cubicBezTo>
                <a:cubicBezTo>
                  <a:pt x="66" y="305"/>
                  <a:pt x="74" y="298"/>
                  <a:pt x="83" y="298"/>
                </a:cubicBezTo>
                <a:lnTo>
                  <a:pt x="186" y="298"/>
                </a:lnTo>
                <a:cubicBezTo>
                  <a:pt x="195" y="298"/>
                  <a:pt x="203" y="305"/>
                  <a:pt x="203" y="314"/>
                </a:cubicBezTo>
                <a:cubicBezTo>
                  <a:pt x="203" y="323"/>
                  <a:pt x="195" y="331"/>
                  <a:pt x="186" y="331"/>
                </a:cubicBezTo>
                <a:close/>
                <a:moveTo>
                  <a:pt x="219" y="264"/>
                </a:moveTo>
                <a:lnTo>
                  <a:pt x="219" y="264"/>
                </a:lnTo>
                <a:lnTo>
                  <a:pt x="83" y="264"/>
                </a:lnTo>
                <a:cubicBezTo>
                  <a:pt x="74" y="264"/>
                  <a:pt x="66" y="257"/>
                  <a:pt x="66" y="248"/>
                </a:cubicBezTo>
                <a:cubicBezTo>
                  <a:pt x="66" y="239"/>
                  <a:pt x="74" y="231"/>
                  <a:pt x="83" y="231"/>
                </a:cubicBezTo>
                <a:lnTo>
                  <a:pt x="219" y="231"/>
                </a:lnTo>
                <a:cubicBezTo>
                  <a:pt x="229" y="231"/>
                  <a:pt x="236" y="239"/>
                  <a:pt x="236" y="248"/>
                </a:cubicBezTo>
                <a:cubicBezTo>
                  <a:pt x="236" y="257"/>
                  <a:pt x="229" y="264"/>
                  <a:pt x="219" y="264"/>
                </a:cubicBezTo>
                <a:close/>
                <a:moveTo>
                  <a:pt x="388" y="289"/>
                </a:moveTo>
                <a:cubicBezTo>
                  <a:pt x="380" y="287"/>
                  <a:pt x="371" y="286"/>
                  <a:pt x="362" y="286"/>
                </a:cubicBezTo>
                <a:cubicBezTo>
                  <a:pt x="304" y="286"/>
                  <a:pt x="257" y="333"/>
                  <a:pt x="257" y="391"/>
                </a:cubicBezTo>
                <a:cubicBezTo>
                  <a:pt x="257" y="442"/>
                  <a:pt x="292" y="484"/>
                  <a:pt x="340" y="494"/>
                </a:cubicBezTo>
                <a:cubicBezTo>
                  <a:pt x="347" y="496"/>
                  <a:pt x="354" y="497"/>
                  <a:pt x="362" y="497"/>
                </a:cubicBezTo>
                <a:cubicBezTo>
                  <a:pt x="420" y="497"/>
                  <a:pt x="467" y="449"/>
                  <a:pt x="467" y="391"/>
                </a:cubicBezTo>
                <a:cubicBezTo>
                  <a:pt x="467" y="342"/>
                  <a:pt x="434" y="301"/>
                  <a:pt x="388" y="289"/>
                </a:cubicBezTo>
                <a:close/>
                <a:moveTo>
                  <a:pt x="422" y="376"/>
                </a:moveTo>
                <a:lnTo>
                  <a:pt x="422" y="376"/>
                </a:lnTo>
                <a:lnTo>
                  <a:pt x="388" y="410"/>
                </a:lnTo>
                <a:lnTo>
                  <a:pt x="362" y="436"/>
                </a:lnTo>
                <a:cubicBezTo>
                  <a:pt x="354" y="444"/>
                  <a:pt x="340" y="444"/>
                  <a:pt x="332" y="436"/>
                </a:cubicBezTo>
                <a:lnTo>
                  <a:pt x="302" y="406"/>
                </a:lnTo>
                <a:cubicBezTo>
                  <a:pt x="294" y="398"/>
                  <a:pt x="294" y="384"/>
                  <a:pt x="302" y="376"/>
                </a:cubicBezTo>
                <a:cubicBezTo>
                  <a:pt x="311" y="368"/>
                  <a:pt x="324" y="368"/>
                  <a:pt x="332" y="376"/>
                </a:cubicBezTo>
                <a:lnTo>
                  <a:pt x="347" y="391"/>
                </a:lnTo>
                <a:lnTo>
                  <a:pt x="388" y="350"/>
                </a:lnTo>
                <a:lnTo>
                  <a:pt x="392" y="346"/>
                </a:lnTo>
                <a:cubicBezTo>
                  <a:pt x="400" y="338"/>
                  <a:pt x="413" y="338"/>
                  <a:pt x="422" y="346"/>
                </a:cubicBezTo>
                <a:cubicBezTo>
                  <a:pt x="430" y="355"/>
                  <a:pt x="430" y="368"/>
                  <a:pt x="422" y="376"/>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pic>
        <p:nvPicPr>
          <p:cNvPr id="30" name="图片 29"/>
          <p:cNvPicPr>
            <a:picLocks noChangeAspect="1"/>
          </p:cNvPicPr>
          <p:nvPr>
            <p:custDataLst>
              <p:tags r:id="rId8"/>
            </p:custDataLst>
          </p:nvPr>
        </p:nvPicPr>
        <p:blipFill>
          <a:blip r:embed="rId9"/>
          <a:stretch>
            <a:fillRect/>
          </a:stretch>
        </p:blipFill>
        <p:spPr>
          <a:xfrm>
            <a:off x="3947999" y="3974074"/>
            <a:ext cx="558000" cy="558000"/>
          </a:xfrm>
          <a:prstGeom prst="rect">
            <a:avLst/>
          </a:prstGeom>
        </p:spPr>
      </p:pic>
      <p:pic>
        <p:nvPicPr>
          <p:cNvPr id="31" name="图片 30"/>
          <p:cNvPicPr>
            <a:picLocks noChangeAspect="1"/>
          </p:cNvPicPr>
          <p:nvPr>
            <p:custDataLst>
              <p:tags r:id="rId10"/>
            </p:custDataLst>
          </p:nvPr>
        </p:nvPicPr>
        <p:blipFill>
          <a:blip r:embed="rId11"/>
          <a:stretch>
            <a:fillRect/>
          </a:stretch>
        </p:blipFill>
        <p:spPr>
          <a:xfrm>
            <a:off x="3960879" y="3164396"/>
            <a:ext cx="558000" cy="558000"/>
          </a:xfrm>
          <a:prstGeom prst="rect">
            <a:avLst/>
          </a:prstGeom>
        </p:spPr>
      </p:pic>
      <p:sp>
        <p:nvSpPr>
          <p:cNvPr id="15" name="Freeform 24"/>
          <p:cNvSpPr/>
          <p:nvPr>
            <p:custDataLst>
              <p:tags r:id="rId12"/>
            </p:custDataLst>
          </p:nvPr>
        </p:nvSpPr>
        <p:spPr bwMode="auto">
          <a:xfrm>
            <a:off x="4735725" y="2419112"/>
            <a:ext cx="3361660"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6" name="TextBox 47"/>
          <p:cNvSpPr txBox="1"/>
          <p:nvPr>
            <p:custDataLst>
              <p:tags r:id="rId13"/>
            </p:custDataLst>
          </p:nvPr>
        </p:nvSpPr>
        <p:spPr>
          <a:xfrm>
            <a:off x="4860032" y="2467692"/>
            <a:ext cx="2955963" cy="429895"/>
          </a:xfrm>
          <a:prstGeom prst="rect">
            <a:avLst/>
          </a:prstGeom>
          <a:noFill/>
        </p:spPr>
        <p:txBody>
          <a:bodyPr wrap="square" rtlCol="0">
            <a:spAutoFit/>
          </a:bodyPr>
          <a:lstStyle/>
          <a:p>
            <a:r>
              <a:rPr lang="en-US" altLang="zh-CN" sz="2200" b="1" smtClean="0">
                <a:solidFill>
                  <a:schemeClr val="tx2">
                    <a:lumMod val="75000"/>
                    <a:lumOff val="25000"/>
                  </a:schemeClr>
                </a:solidFill>
                <a:latin typeface="微软雅黑" panose="020B0503020204020204" pitchFamily="34" charset="-122"/>
                <a:ea typeface="微软雅黑" panose="020B0503020204020204" pitchFamily="34" charset="-122"/>
              </a:rPr>
              <a:t>6.1 </a:t>
            </a:r>
            <a:r>
              <a:rPr lang="zh-CN" altLang="en-US" sz="2200" b="1" smtClean="0">
                <a:solidFill>
                  <a:schemeClr val="tx2">
                    <a:lumMod val="75000"/>
                    <a:lumOff val="25000"/>
                  </a:schemeClr>
                </a:solidFill>
                <a:latin typeface="微软雅黑" panose="020B0503020204020204" pitchFamily="34" charset="-122"/>
                <a:ea typeface="微软雅黑" panose="020B0503020204020204" pitchFamily="34" charset="-122"/>
              </a:rPr>
              <a:t>回溯</a:t>
            </a:r>
            <a:r>
              <a:rPr lang="zh-CN" altLang="en-US" sz="2200" b="1" smtClean="0">
                <a:solidFill>
                  <a:schemeClr val="tx2">
                    <a:lumMod val="75000"/>
                    <a:lumOff val="25000"/>
                  </a:schemeClr>
                </a:solidFill>
                <a:latin typeface="微软雅黑" panose="020B0503020204020204" pitchFamily="34" charset="-122"/>
                <a:ea typeface="微软雅黑" panose="020B0503020204020204" pitchFamily="34" charset="-122"/>
              </a:rPr>
              <a:t>思想</a:t>
            </a:r>
            <a:endParaRPr lang="zh-CN" altLang="en-US" sz="2200" b="1" smtClean="0">
              <a:solidFill>
                <a:schemeClr val="tx2">
                  <a:lumMod val="75000"/>
                  <a:lumOff val="25000"/>
                </a:schemeClr>
              </a:solidFill>
              <a:latin typeface="微软雅黑" panose="020B0503020204020204" pitchFamily="34" charset="-122"/>
              <a:ea typeface="微软雅黑" panose="020B0503020204020204" pitchFamily="34" charset="-122"/>
            </a:endParaRPr>
          </a:p>
        </p:txBody>
      </p:sp>
      <p:pic>
        <p:nvPicPr>
          <p:cNvPr id="19" name="图片 18"/>
          <p:cNvPicPr>
            <a:picLocks noChangeAspect="1"/>
          </p:cNvPicPr>
          <p:nvPr>
            <p:custDataLst>
              <p:tags r:id="rId14"/>
            </p:custDataLst>
          </p:nvPr>
        </p:nvPicPr>
        <p:blipFill>
          <a:blip r:embed="rId11"/>
          <a:stretch>
            <a:fillRect/>
          </a:stretch>
        </p:blipFill>
        <p:spPr>
          <a:xfrm>
            <a:off x="3967905" y="2419112"/>
            <a:ext cx="558000" cy="558000"/>
          </a:xfrm>
          <a:prstGeom prst="rect">
            <a:avLst/>
          </a:prstGeom>
        </p:spPr>
      </p:pic>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4</a:t>
            </a:r>
            <a:endParaRPr lang="zh-CN" altLang="en-US">
              <a:solidFill>
                <a:schemeClr val="bg2">
                  <a:lumMod val="25000"/>
                  <a:lumOff val="75000"/>
                </a:schemeClr>
              </a:solidFill>
            </a:endParaRPr>
          </a:p>
        </p:txBody>
      </p:sp>
      <p:sp>
        <p:nvSpPr>
          <p:cNvPr id="14" name="文本框 13"/>
          <p:cNvSpPr txBox="1"/>
          <p:nvPr/>
        </p:nvSpPr>
        <p:spPr>
          <a:xfrm>
            <a:off x="755650" y="2093913"/>
            <a:ext cx="8010525" cy="645160"/>
          </a:xfrm>
          <a:prstGeom prst="rect">
            <a:avLst/>
          </a:prstGeom>
          <a:noFill/>
        </p:spPr>
        <p:txBody>
          <a:bodyPr>
            <a:spAutoFit/>
          </a:bodyPr>
          <a:lstStyle/>
          <a:p>
            <a:pPr>
              <a:defRPr/>
            </a:pPr>
            <a:r>
              <a:rPr lang="zh-CN" altLang="en-US">
                <a:solidFill>
                  <a:srgbClr val="000066"/>
                </a:solidFill>
                <a:uFillTx/>
                <a:latin typeface="Times New Roman" panose="02020603050405020304" pitchFamily="18" charset="0"/>
              </a:rPr>
              <a:t>情景再现</a:t>
            </a:r>
            <a:r>
              <a:rPr lang="en-US" altLang="zh-CN" dirty="0">
                <a:solidFill>
                  <a:srgbClr val="000066"/>
                </a:solidFill>
                <a:uFillTx/>
                <a:latin typeface="Times New Roman" panose="02020603050405020304" pitchFamily="18" charset="0"/>
              </a:rPr>
              <a:t>:</a:t>
            </a:r>
            <a:r>
              <a:rPr lang="zh-CN" altLang="en-US">
                <a:solidFill>
                  <a:srgbClr val="000066"/>
                </a:solidFill>
                <a:uFillTx/>
                <a:latin typeface="Times New Roman" panose="02020603050405020304" pitchFamily="18" charset="0"/>
              </a:rPr>
              <a:t>小明过年和朋友一起进入迷宫，比赛看谁先从迷宫中走出来，请问小明靠什么方法来走出迷宫？</a:t>
            </a:r>
            <a:endParaRPr lang="zh-CN" altLang="en-US">
              <a:solidFill>
                <a:srgbClr val="000066"/>
              </a:solidFill>
              <a:uFillTx/>
              <a:latin typeface="Times New Roman" panose="02020603050405020304" pitchFamily="18" charset="0"/>
            </a:endParaRPr>
          </a:p>
        </p:txBody>
      </p:sp>
      <p:pic>
        <p:nvPicPr>
          <p:cNvPr id="10245"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2484438" y="2997200"/>
            <a:ext cx="3600450" cy="2676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文本框 3"/>
          <p:cNvSpPr txBox="1"/>
          <p:nvPr/>
        </p:nvSpPr>
        <p:spPr>
          <a:xfrm>
            <a:off x="2484438" y="5157788"/>
            <a:ext cx="792162" cy="368300"/>
          </a:xfrm>
          <a:prstGeom prst="rect">
            <a:avLst/>
          </a:prstGeom>
          <a:noFill/>
        </p:spPr>
        <p:txBody>
          <a:bodyPr>
            <a:spAutoFit/>
          </a:bodyPr>
          <a:lstStyle/>
          <a:p>
            <a:pPr>
              <a:defRPr/>
            </a:pPr>
            <a:r>
              <a:rPr lang="zh-CN" altLang="en-US">
                <a:solidFill>
                  <a:srgbClr val="000066"/>
                </a:solidFill>
                <a:uFillTx/>
                <a:latin typeface="Times New Roman" panose="02020603050405020304" pitchFamily="18" charset="0"/>
              </a:rPr>
              <a:t>小明</a:t>
            </a:r>
            <a:endParaRPr lang="zh-CN" altLang="en-US">
              <a:solidFill>
                <a:srgbClr val="000066"/>
              </a:solidFill>
              <a:uFillTx/>
              <a:latin typeface="Times New Roman" panose="02020603050405020304" pitchFamily="18" charset="0"/>
            </a:endParaRPr>
          </a:p>
        </p:txBody>
      </p:sp>
      <p:sp>
        <p:nvSpPr>
          <p:cNvPr id="8" name="文本框 7"/>
          <p:cNvSpPr txBox="1"/>
          <p:nvPr/>
        </p:nvSpPr>
        <p:spPr>
          <a:xfrm>
            <a:off x="5508625" y="3929063"/>
            <a:ext cx="792163" cy="368300"/>
          </a:xfrm>
          <a:prstGeom prst="rect">
            <a:avLst/>
          </a:prstGeom>
          <a:noFill/>
        </p:spPr>
        <p:txBody>
          <a:bodyPr>
            <a:spAutoFit/>
          </a:bodyPr>
          <a:lstStyle/>
          <a:p>
            <a:pPr>
              <a:defRPr/>
            </a:pPr>
            <a:r>
              <a:rPr lang="zh-CN" altLang="en-US">
                <a:solidFill>
                  <a:srgbClr val="000066"/>
                </a:solidFill>
                <a:latin typeface="宋体" panose="02010600030101010101" pitchFamily="2" charset="-122"/>
              </a:rPr>
              <a:t>出口</a:t>
            </a:r>
            <a:endParaRPr lang="zh-CN" altLang="en-US">
              <a:solidFill>
                <a:srgbClr val="000066"/>
              </a:solidFill>
              <a:latin typeface="宋体" panose="02010600030101010101" pitchFamily="2" charset="-122"/>
            </a:endParaRPr>
          </a:p>
        </p:txBody>
      </p:sp>
      <p:cxnSp>
        <p:nvCxnSpPr>
          <p:cNvPr id="10248" name="直接连接符 5"/>
          <p:cNvCxnSpPr>
            <a:cxnSpLocks noChangeShapeType="1"/>
          </p:cNvCxnSpPr>
          <p:nvPr/>
        </p:nvCxnSpPr>
        <p:spPr bwMode="auto">
          <a:xfrm flipH="1" flipV="1">
            <a:off x="3613150" y="3324225"/>
            <a:ext cx="3175" cy="942975"/>
          </a:xfrm>
          <a:prstGeom prst="line">
            <a:avLst/>
          </a:prstGeom>
          <a:noFill/>
          <a:ln w="76200" algn="ctr">
            <a:solidFill>
              <a:schemeClr val="tx1"/>
            </a:solidFill>
            <a:round/>
          </a:ln>
          <a:extLst>
            <a:ext uri="{909E8E84-426E-40DD-AFC4-6F175D3DCCD1}">
              <a14:hiddenFill xmlns:a14="http://schemas.microsoft.com/office/drawing/2010/main">
                <a:noFill/>
              </a14:hiddenFill>
            </a:ext>
          </a:extLst>
        </p:spPr>
      </p:cxnSp>
      <p:cxnSp>
        <p:nvCxnSpPr>
          <p:cNvPr id="10249" name="直接连接符 12"/>
          <p:cNvCxnSpPr>
            <a:cxnSpLocks noChangeShapeType="1"/>
          </p:cNvCxnSpPr>
          <p:nvPr/>
        </p:nvCxnSpPr>
        <p:spPr bwMode="auto">
          <a:xfrm flipV="1">
            <a:off x="3613150" y="4870450"/>
            <a:ext cx="0" cy="471488"/>
          </a:xfrm>
          <a:prstGeom prst="line">
            <a:avLst/>
          </a:prstGeom>
          <a:noFill/>
          <a:ln w="76200" algn="ctr">
            <a:solidFill>
              <a:schemeClr val="tx1"/>
            </a:solidFill>
            <a:round/>
          </a:ln>
          <a:extLst>
            <a:ext uri="{909E8E84-426E-40DD-AFC4-6F175D3DCCD1}">
              <a14:hiddenFill xmlns:a14="http://schemas.microsoft.com/office/drawing/2010/main">
                <a:noFill/>
              </a14:hiddenFill>
            </a:ext>
          </a:extLst>
        </p:spPr>
      </p:cxnSp>
      <p:sp>
        <p:nvSpPr>
          <p:cNvPr id="15" name="文本框 14"/>
          <p:cNvSpPr txBox="1"/>
          <p:nvPr/>
        </p:nvSpPr>
        <p:spPr>
          <a:xfrm>
            <a:off x="3586163" y="3157538"/>
            <a:ext cx="792162"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6" name="文本框 15"/>
          <p:cNvSpPr txBox="1"/>
          <p:nvPr/>
        </p:nvSpPr>
        <p:spPr>
          <a:xfrm>
            <a:off x="3586163" y="5138738"/>
            <a:ext cx="792162" cy="368300"/>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17" name="文本框 16"/>
          <p:cNvSpPr txBox="1"/>
          <p:nvPr/>
        </p:nvSpPr>
        <p:spPr>
          <a:xfrm>
            <a:off x="3887788" y="3949700"/>
            <a:ext cx="792162" cy="369888"/>
          </a:xfrm>
          <a:prstGeom prst="rect">
            <a:avLst/>
          </a:prstGeom>
          <a:noFill/>
        </p:spPr>
        <p:txBody>
          <a:bodyPr>
            <a:spAutoFit/>
          </a:bodyPr>
          <a:lstStyle/>
          <a:p>
            <a:pPr>
              <a:defRPr/>
            </a:pPr>
            <a:r>
              <a:rPr lang="zh-CN" altLang="en-US">
                <a:solidFill>
                  <a:srgbClr val="FF0000"/>
                </a:solidFill>
                <a:latin typeface="+mj-ea"/>
                <a:ea typeface="+mj-ea"/>
              </a:rPr>
              <a:t>③</a:t>
            </a:r>
            <a:endParaRPr lang="zh-CN" altLang="en-US">
              <a:solidFill>
                <a:srgbClr val="FF0000"/>
              </a:solidFill>
              <a:latin typeface="+mj-ea"/>
              <a:ea typeface="+mj-ea"/>
            </a:endParaRPr>
          </a:p>
        </p:txBody>
      </p:sp>
      <p:sp>
        <p:nvSpPr>
          <p:cNvPr id="3" name="文本框 2"/>
          <p:cNvSpPr txBox="1"/>
          <p:nvPr/>
        </p:nvSpPr>
        <p:spPr>
          <a:xfrm>
            <a:off x="251460" y="83693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6.1.1 </a:t>
            </a:r>
            <a:r>
              <a:rPr lang="zh-CN" altLang="en-US" sz="2400" b="1" kern="0" dirty="0">
                <a:uFillTx/>
                <a:latin typeface="Times New Roman" panose="02020603050405020304" pitchFamily="18" charset="0"/>
                <a:cs typeface="Times New Roman" panose="02020603050405020304" pitchFamily="18" charset="0"/>
                <a:sym typeface="+mn-ea"/>
              </a:rPr>
              <a:t>回溯</a:t>
            </a:r>
            <a:r>
              <a:rPr lang="zh-CN" altLang="en-US" sz="2400" b="1" kern="0" dirty="0">
                <a:uFillTx/>
                <a:latin typeface="Times New Roman" panose="02020603050405020304" pitchFamily="18" charset="0"/>
                <a:cs typeface="Times New Roman" panose="02020603050405020304" pitchFamily="18" charset="0"/>
                <a:sym typeface="+mn-ea"/>
              </a:rPr>
              <a:t>思想</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transition spd="slow" advTm="109041"/>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4</a:t>
            </a:r>
            <a:endParaRPr lang="zh-CN" altLang="en-US">
              <a:solidFill>
                <a:schemeClr val="bg2">
                  <a:lumMod val="25000"/>
                  <a:lumOff val="75000"/>
                </a:schemeClr>
              </a:solidFill>
            </a:endParaRPr>
          </a:p>
        </p:txBody>
      </p:sp>
      <p:sp>
        <p:nvSpPr>
          <p:cNvPr id="14" name="文本框 13"/>
          <p:cNvSpPr txBox="1"/>
          <p:nvPr/>
        </p:nvSpPr>
        <p:spPr>
          <a:xfrm>
            <a:off x="251460" y="1051878"/>
            <a:ext cx="8010525"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迷宫问题可以抽象成一棵树（解空间</a:t>
            </a:r>
            <a:r>
              <a:rPr lang="zh-CN" altLang="en-US">
                <a:solidFill>
                  <a:schemeClr val="tx1"/>
                </a:solidFill>
                <a:uFillTx/>
                <a:latin typeface="Times New Roman" panose="02020603050405020304" pitchFamily="18" charset="0"/>
              </a:rPr>
              <a:t>树）：</a:t>
            </a:r>
            <a:endParaRPr lang="zh-CN" altLang="en-US">
              <a:solidFill>
                <a:schemeClr val="tx1"/>
              </a:solidFill>
              <a:uFillTx/>
              <a:latin typeface="Times New Roman" panose="02020603050405020304" pitchFamily="18" charset="0"/>
            </a:endParaRPr>
          </a:p>
        </p:txBody>
      </p:sp>
      <p:pic>
        <p:nvPicPr>
          <p:cNvPr id="10245"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467043" y="1628775"/>
            <a:ext cx="3600450" cy="2676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文本框 3"/>
          <p:cNvSpPr txBox="1"/>
          <p:nvPr/>
        </p:nvSpPr>
        <p:spPr>
          <a:xfrm>
            <a:off x="467043" y="3789363"/>
            <a:ext cx="792162" cy="368300"/>
          </a:xfrm>
          <a:prstGeom prst="rect">
            <a:avLst/>
          </a:prstGeom>
          <a:noFill/>
        </p:spPr>
        <p:txBody>
          <a:bodyPr>
            <a:spAutoFit/>
          </a:bodyPr>
          <a:lstStyle/>
          <a:p>
            <a:pPr>
              <a:defRPr/>
            </a:pPr>
            <a:r>
              <a:rPr lang="zh-CN" altLang="en-US">
                <a:solidFill>
                  <a:srgbClr val="000066"/>
                </a:solidFill>
                <a:latin typeface="+mj-ea"/>
                <a:ea typeface="+mj-ea"/>
              </a:rPr>
              <a:t>小明</a:t>
            </a:r>
            <a:endParaRPr lang="zh-CN" altLang="en-US">
              <a:solidFill>
                <a:srgbClr val="000066"/>
              </a:solidFill>
              <a:latin typeface="+mj-ea"/>
              <a:ea typeface="+mj-ea"/>
            </a:endParaRPr>
          </a:p>
        </p:txBody>
      </p:sp>
      <p:sp>
        <p:nvSpPr>
          <p:cNvPr id="8" name="文本框 7"/>
          <p:cNvSpPr txBox="1"/>
          <p:nvPr/>
        </p:nvSpPr>
        <p:spPr>
          <a:xfrm>
            <a:off x="3491230" y="2560638"/>
            <a:ext cx="792163" cy="369887"/>
          </a:xfrm>
          <a:prstGeom prst="rect">
            <a:avLst/>
          </a:prstGeom>
          <a:noFill/>
        </p:spPr>
        <p:txBody>
          <a:bodyPr>
            <a:spAutoFit/>
          </a:bodyPr>
          <a:lstStyle/>
          <a:p>
            <a:pPr>
              <a:defRPr/>
            </a:pPr>
            <a:r>
              <a:rPr lang="zh-CN" altLang="en-US">
                <a:solidFill>
                  <a:srgbClr val="000066"/>
                </a:solidFill>
                <a:latin typeface="+mj-ea"/>
                <a:ea typeface="+mj-ea"/>
              </a:rPr>
              <a:t>出口</a:t>
            </a:r>
            <a:endParaRPr lang="zh-CN" altLang="en-US">
              <a:solidFill>
                <a:srgbClr val="000066"/>
              </a:solidFill>
              <a:latin typeface="+mj-ea"/>
              <a:ea typeface="+mj-ea"/>
            </a:endParaRPr>
          </a:p>
        </p:txBody>
      </p:sp>
      <p:cxnSp>
        <p:nvCxnSpPr>
          <p:cNvPr id="10248" name="直接连接符 5"/>
          <p:cNvCxnSpPr>
            <a:cxnSpLocks noChangeShapeType="1"/>
          </p:cNvCxnSpPr>
          <p:nvPr/>
        </p:nvCxnSpPr>
        <p:spPr bwMode="auto">
          <a:xfrm flipH="1" flipV="1">
            <a:off x="1595755" y="1955800"/>
            <a:ext cx="3175" cy="942975"/>
          </a:xfrm>
          <a:prstGeom prst="line">
            <a:avLst/>
          </a:prstGeom>
          <a:noFill/>
          <a:ln w="76200" algn="ctr">
            <a:solidFill>
              <a:schemeClr val="tx1"/>
            </a:solidFill>
            <a:round/>
          </a:ln>
          <a:extLst>
            <a:ext uri="{909E8E84-426E-40DD-AFC4-6F175D3DCCD1}">
              <a14:hiddenFill xmlns:a14="http://schemas.microsoft.com/office/drawing/2010/main">
                <a:noFill/>
              </a14:hiddenFill>
            </a:ext>
          </a:extLst>
        </p:spPr>
      </p:cxnSp>
      <p:cxnSp>
        <p:nvCxnSpPr>
          <p:cNvPr id="10249" name="直接连接符 12"/>
          <p:cNvCxnSpPr>
            <a:cxnSpLocks noChangeShapeType="1"/>
          </p:cNvCxnSpPr>
          <p:nvPr/>
        </p:nvCxnSpPr>
        <p:spPr bwMode="auto">
          <a:xfrm flipV="1">
            <a:off x="1595755" y="3502025"/>
            <a:ext cx="0" cy="471488"/>
          </a:xfrm>
          <a:prstGeom prst="line">
            <a:avLst/>
          </a:prstGeom>
          <a:noFill/>
          <a:ln w="76200" algn="ctr">
            <a:solidFill>
              <a:schemeClr val="tx1"/>
            </a:solidFill>
            <a:round/>
          </a:ln>
          <a:extLst>
            <a:ext uri="{909E8E84-426E-40DD-AFC4-6F175D3DCCD1}">
              <a14:hiddenFill xmlns:a14="http://schemas.microsoft.com/office/drawing/2010/main">
                <a:noFill/>
              </a14:hiddenFill>
            </a:ext>
          </a:extLst>
        </p:spPr>
      </p:cxnSp>
      <p:sp>
        <p:nvSpPr>
          <p:cNvPr id="15" name="文本框 14"/>
          <p:cNvSpPr txBox="1"/>
          <p:nvPr/>
        </p:nvSpPr>
        <p:spPr>
          <a:xfrm>
            <a:off x="1568768" y="1789113"/>
            <a:ext cx="792162"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6" name="文本框 15"/>
          <p:cNvSpPr txBox="1"/>
          <p:nvPr/>
        </p:nvSpPr>
        <p:spPr>
          <a:xfrm>
            <a:off x="1568768" y="3770313"/>
            <a:ext cx="792162" cy="368300"/>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17" name="文本框 16"/>
          <p:cNvSpPr txBox="1"/>
          <p:nvPr/>
        </p:nvSpPr>
        <p:spPr>
          <a:xfrm>
            <a:off x="1870393" y="2581275"/>
            <a:ext cx="792162" cy="369888"/>
          </a:xfrm>
          <a:prstGeom prst="rect">
            <a:avLst/>
          </a:prstGeom>
          <a:noFill/>
        </p:spPr>
        <p:txBody>
          <a:bodyPr>
            <a:spAutoFit/>
          </a:bodyPr>
          <a:lstStyle/>
          <a:p>
            <a:pPr>
              <a:defRPr/>
            </a:pPr>
            <a:r>
              <a:rPr lang="zh-CN" altLang="en-US">
                <a:solidFill>
                  <a:srgbClr val="FF0000"/>
                </a:solidFill>
                <a:latin typeface="+mj-ea"/>
                <a:ea typeface="+mj-ea"/>
              </a:rPr>
              <a:t>③</a:t>
            </a:r>
            <a:endParaRPr lang="zh-CN" altLang="en-US">
              <a:solidFill>
                <a:srgbClr val="FF0000"/>
              </a:solidFill>
              <a:latin typeface="+mj-ea"/>
              <a:ea typeface="+mj-ea"/>
            </a:endParaRPr>
          </a:p>
        </p:txBody>
      </p:sp>
      <p:grpSp>
        <p:nvGrpSpPr>
          <p:cNvPr id="72" name="组合 71"/>
          <p:cNvGrpSpPr/>
          <p:nvPr/>
        </p:nvGrpSpPr>
        <p:grpSpPr>
          <a:xfrm>
            <a:off x="5003800" y="1268730"/>
            <a:ext cx="3688080" cy="2865120"/>
            <a:chOff x="8221" y="3132"/>
            <a:chExt cx="5808" cy="4512"/>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 name="文本框 1"/>
              <p:cNvSpPr txBox="1"/>
              <p:nvPr/>
            </p:nvSpPr>
            <p:spPr>
              <a:xfrm>
                <a:off x="10602" y="3586"/>
                <a:ext cx="874" cy="552"/>
              </a:xfrm>
              <a:prstGeom prst="rect">
                <a:avLst/>
              </a:prstGeom>
              <a:noFill/>
            </p:spPr>
            <p:txBody>
              <a:bodyPr>
                <a:noAutofit/>
              </a:bodyPr>
              <a:p>
                <a:pPr>
                  <a:defRPr/>
                </a:pPr>
                <a:r>
                  <a:rPr lang="zh-CN" altLang="en-US" sz="1400">
                    <a:solidFill>
                      <a:srgbClr val="000066"/>
                    </a:solidFill>
                    <a:latin typeface="+mj-ea"/>
                    <a:ea typeface="+mj-ea"/>
                  </a:rPr>
                  <a:t>入口</a:t>
                </a:r>
                <a:endParaRPr lang="zh-CN" altLang="en-US" sz="1400">
                  <a:solidFill>
                    <a:srgbClr val="000066"/>
                  </a:solidFill>
                  <a:latin typeface="+mj-ea"/>
                  <a:ea typeface="+mj-ea"/>
                </a:endParaRPr>
              </a:p>
            </p:txBody>
          </p:sp>
        </p:grpSp>
        <p:grpSp>
          <p:nvGrpSpPr>
            <p:cNvPr id="3" name="组合 2"/>
            <p:cNvGrpSpPr/>
            <p:nvPr/>
          </p:nvGrpSpPr>
          <p:grpSpPr>
            <a:xfrm>
              <a:off x="8675" y="4607"/>
              <a:ext cx="1018" cy="917"/>
              <a:chOff x="10489" y="3359"/>
              <a:chExt cx="1018" cy="917"/>
            </a:xfrm>
          </p:grpSpPr>
          <p:sp>
            <p:nvSpPr>
              <p:cNvPr id="5" name="椭圆 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cxnSp>
          <p:nvCxnSpPr>
            <p:cNvPr id="24" name="曲线连接符 23"/>
            <p:cNvCxnSpPr>
              <a:stCxn id="10" idx="2"/>
              <a:endCxn id="5"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7" name="组合 6"/>
            <p:cNvGrpSpPr/>
            <p:nvPr/>
          </p:nvGrpSpPr>
          <p:grpSpPr>
            <a:xfrm>
              <a:off x="11440" y="6011"/>
              <a:ext cx="538" cy="539"/>
              <a:chOff x="10489" y="3359"/>
              <a:chExt cx="1018" cy="917"/>
            </a:xfrm>
          </p:grpSpPr>
          <p:sp>
            <p:nvSpPr>
              <p:cNvPr id="9" name="椭圆 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 name="文本框 1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36" name="组合 35"/>
            <p:cNvGrpSpPr/>
            <p:nvPr/>
          </p:nvGrpSpPr>
          <p:grpSpPr>
            <a:xfrm>
              <a:off x="13468" y="6011"/>
              <a:ext cx="538" cy="539"/>
              <a:chOff x="10489" y="3359"/>
              <a:chExt cx="1018" cy="917"/>
            </a:xfrm>
          </p:grpSpPr>
          <p:sp>
            <p:nvSpPr>
              <p:cNvPr id="37" name="椭圆 3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8" name="文本框 3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39" name="组合 38"/>
            <p:cNvGrpSpPr/>
            <p:nvPr/>
          </p:nvGrpSpPr>
          <p:grpSpPr>
            <a:xfrm>
              <a:off x="12334" y="6011"/>
              <a:ext cx="538" cy="539"/>
              <a:chOff x="10489" y="3359"/>
              <a:chExt cx="1018" cy="917"/>
            </a:xfrm>
          </p:grpSpPr>
          <p:sp>
            <p:nvSpPr>
              <p:cNvPr id="40" name="椭圆 3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1" name="文本框 4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5"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5"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1"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22" idx="4"/>
              <a:endCxn id="9" idx="0"/>
            </p:cNvCxnSpPr>
            <p:nvPr/>
          </p:nvCxnSpPr>
          <p:spPr>
            <a:xfrm rot="5400000">
              <a:off x="12130" y="5102"/>
              <a:ext cx="487" cy="132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7"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75" name="弧形 74"/>
          <p:cNvSpPr/>
          <p:nvPr/>
        </p:nvSpPr>
        <p:spPr>
          <a:xfrm flipH="1">
            <a:off x="5312410" y="2997200"/>
            <a:ext cx="807720" cy="1555115"/>
          </a:xfrm>
          <a:prstGeom prst="arc">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6" name="弧形 75"/>
          <p:cNvSpPr/>
          <p:nvPr/>
        </p:nvSpPr>
        <p:spPr>
          <a:xfrm rot="1500000" flipH="1" flipV="1">
            <a:off x="5034915" y="1771015"/>
            <a:ext cx="934720" cy="2374265"/>
          </a:xfrm>
          <a:prstGeom prst="arc">
            <a:avLst>
              <a:gd name="adj1" fmla="val 16200000"/>
              <a:gd name="adj2" fmla="val 2141762"/>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9" name="文本框 78"/>
          <p:cNvSpPr txBox="1"/>
          <p:nvPr/>
        </p:nvSpPr>
        <p:spPr>
          <a:xfrm>
            <a:off x="4499610" y="3213735"/>
            <a:ext cx="469265" cy="401320"/>
          </a:xfrm>
          <a:prstGeom prst="rect">
            <a:avLst/>
          </a:prstGeom>
          <a:noFill/>
        </p:spPr>
        <p:txBody>
          <a:bodyPr wrap="square" rtlCol="0">
            <a:noAutofit/>
          </a:bodyPr>
          <a:p>
            <a:r>
              <a:rPr lang="zh-CN" altLang="en-US">
                <a:solidFill>
                  <a:srgbClr val="FF0000"/>
                </a:solidFill>
              </a:rPr>
              <a:t>②</a:t>
            </a:r>
            <a:endParaRPr lang="zh-CN" altLang="en-US">
              <a:solidFill>
                <a:srgbClr val="FF0000"/>
              </a:solidFill>
            </a:endParaRPr>
          </a:p>
        </p:txBody>
      </p:sp>
      <p:sp>
        <p:nvSpPr>
          <p:cNvPr id="80" name="文本框 79"/>
          <p:cNvSpPr txBox="1"/>
          <p:nvPr/>
        </p:nvSpPr>
        <p:spPr>
          <a:xfrm>
            <a:off x="5363845" y="3340735"/>
            <a:ext cx="469265" cy="401320"/>
          </a:xfrm>
          <a:prstGeom prst="rect">
            <a:avLst/>
          </a:prstGeom>
          <a:noFill/>
        </p:spPr>
        <p:txBody>
          <a:bodyPr wrap="square" rtlCol="0">
            <a:noAutofit/>
          </a:bodyPr>
          <a:p>
            <a:r>
              <a:rPr lang="zh-CN" altLang="en-US">
                <a:solidFill>
                  <a:srgbClr val="FF0000"/>
                </a:solidFill>
              </a:rPr>
              <a:t>③</a:t>
            </a:r>
            <a:endParaRPr lang="zh-CN" altLang="en-US">
              <a:solidFill>
                <a:srgbClr val="FF0000"/>
              </a:solidFill>
            </a:endParaRPr>
          </a:p>
        </p:txBody>
      </p:sp>
      <p:sp>
        <p:nvSpPr>
          <p:cNvPr id="73" name="弧形 72"/>
          <p:cNvSpPr/>
          <p:nvPr/>
        </p:nvSpPr>
        <p:spPr>
          <a:xfrm rot="10140000" flipH="1">
            <a:off x="5828665" y="2590165"/>
            <a:ext cx="295910" cy="1134110"/>
          </a:xfrm>
          <a:prstGeom prst="arc">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4" name="文本框 73"/>
          <p:cNvSpPr txBox="1"/>
          <p:nvPr/>
        </p:nvSpPr>
        <p:spPr>
          <a:xfrm>
            <a:off x="6156325" y="3213735"/>
            <a:ext cx="469265" cy="401320"/>
          </a:xfrm>
          <a:prstGeom prst="rect">
            <a:avLst/>
          </a:prstGeom>
          <a:noFill/>
        </p:spPr>
        <p:txBody>
          <a:bodyPr wrap="square" rtlCol="0">
            <a:noAutofit/>
          </a:bodyPr>
          <a:p>
            <a:r>
              <a:rPr lang="zh-CN" altLang="en-US">
                <a:solidFill>
                  <a:srgbClr val="FF0000"/>
                </a:solidFill>
              </a:rPr>
              <a:t>④</a:t>
            </a:r>
            <a:endParaRPr lang="zh-CN" altLang="en-US">
              <a:solidFill>
                <a:srgbClr val="FF0000"/>
              </a:solidFill>
            </a:endParaRPr>
          </a:p>
        </p:txBody>
      </p:sp>
      <p:sp>
        <p:nvSpPr>
          <p:cNvPr id="83" name="任意多边形 82"/>
          <p:cNvSpPr/>
          <p:nvPr/>
        </p:nvSpPr>
        <p:spPr>
          <a:xfrm>
            <a:off x="5438775" y="1303020"/>
            <a:ext cx="962660" cy="625475"/>
          </a:xfrm>
          <a:custGeom>
            <a:avLst/>
            <a:gdLst>
              <a:gd name="connisteX0" fmla="*/ 962660 w 962660"/>
              <a:gd name="connsiteY0" fmla="*/ 0 h 625475"/>
              <a:gd name="connisteX1" fmla="*/ 307975 w 962660"/>
              <a:gd name="connsiteY1" fmla="*/ 163830 h 625475"/>
              <a:gd name="connisteX2" fmla="*/ 0 w 962660"/>
              <a:gd name="connsiteY2" fmla="*/ 625475 h 625475"/>
            </a:gdLst>
            <a:ahLst/>
            <a:cxnLst>
              <a:cxn ang="0">
                <a:pos x="connisteX0" y="connsiteY0"/>
              </a:cxn>
              <a:cxn ang="0">
                <a:pos x="connisteX1" y="connsiteY1"/>
              </a:cxn>
              <a:cxn ang="0">
                <a:pos x="connisteX2" y="connsiteY2"/>
              </a:cxn>
            </a:cxnLst>
            <a:rect l="l" t="t" r="r" b="b"/>
            <a:pathLst>
              <a:path w="962660" h="625475">
                <a:moveTo>
                  <a:pt x="962660" y="0"/>
                </a:moveTo>
                <a:cubicBezTo>
                  <a:pt x="837565" y="23495"/>
                  <a:pt x="500380" y="38735"/>
                  <a:pt x="307975" y="163830"/>
                </a:cubicBezTo>
                <a:cubicBezTo>
                  <a:pt x="115570" y="288925"/>
                  <a:pt x="48260" y="536575"/>
                  <a:pt x="0" y="625475"/>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4" name="文本框 83"/>
          <p:cNvSpPr txBox="1"/>
          <p:nvPr/>
        </p:nvSpPr>
        <p:spPr>
          <a:xfrm>
            <a:off x="5292725" y="1186815"/>
            <a:ext cx="469265" cy="401320"/>
          </a:xfrm>
          <a:prstGeom prst="rect">
            <a:avLst/>
          </a:prstGeom>
          <a:noFill/>
        </p:spPr>
        <p:txBody>
          <a:bodyPr wrap="square" rtlCol="0">
            <a:noAutofit/>
          </a:bodyPr>
          <a:p>
            <a:r>
              <a:rPr lang="zh-CN" altLang="en-US">
                <a:solidFill>
                  <a:srgbClr val="FF0000"/>
                </a:solidFill>
              </a:rPr>
              <a:t>①</a:t>
            </a:r>
            <a:endParaRPr lang="zh-CN" altLang="en-US">
              <a:solidFill>
                <a:srgbClr val="FF0000"/>
              </a:solidFill>
            </a:endParaRPr>
          </a:p>
        </p:txBody>
      </p:sp>
      <p:sp>
        <p:nvSpPr>
          <p:cNvPr id="85" name="任意多边形 84"/>
          <p:cNvSpPr/>
          <p:nvPr/>
        </p:nvSpPr>
        <p:spPr>
          <a:xfrm>
            <a:off x="5950585" y="1763395"/>
            <a:ext cx="529590" cy="461645"/>
          </a:xfrm>
          <a:custGeom>
            <a:avLst/>
            <a:gdLst>
              <a:gd name="connisteX0" fmla="*/ 0 w 529590"/>
              <a:gd name="connsiteY0" fmla="*/ 461645 h 461645"/>
              <a:gd name="connisteX1" fmla="*/ 182880 w 529590"/>
              <a:gd name="connsiteY1" fmla="*/ 153670 h 461645"/>
              <a:gd name="connisteX2" fmla="*/ 529590 w 529590"/>
              <a:gd name="connsiteY2" fmla="*/ 0 h 461645"/>
            </a:gdLst>
            <a:ahLst/>
            <a:cxnLst>
              <a:cxn ang="0">
                <a:pos x="connisteX0" y="connsiteY0"/>
              </a:cxn>
              <a:cxn ang="0">
                <a:pos x="connisteX1" y="connsiteY1"/>
              </a:cxn>
              <a:cxn ang="0">
                <a:pos x="connisteX2" y="connsiteY2"/>
              </a:cxn>
            </a:cxnLst>
            <a:rect l="l" t="t" r="r" b="b"/>
            <a:pathLst>
              <a:path w="529590" h="461645">
                <a:moveTo>
                  <a:pt x="0" y="461645"/>
                </a:moveTo>
                <a:cubicBezTo>
                  <a:pt x="29845" y="403225"/>
                  <a:pt x="76835" y="245745"/>
                  <a:pt x="182880" y="153670"/>
                </a:cubicBezTo>
                <a:cubicBezTo>
                  <a:pt x="288925" y="61595"/>
                  <a:pt x="464185" y="24765"/>
                  <a:pt x="529590" y="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6" name="文本框 85"/>
          <p:cNvSpPr txBox="1"/>
          <p:nvPr/>
        </p:nvSpPr>
        <p:spPr>
          <a:xfrm>
            <a:off x="6156325" y="1955800"/>
            <a:ext cx="469265" cy="401320"/>
          </a:xfrm>
          <a:prstGeom prst="rect">
            <a:avLst/>
          </a:prstGeom>
          <a:noFill/>
        </p:spPr>
        <p:txBody>
          <a:bodyPr wrap="square" rtlCol="0">
            <a:noAutofit/>
          </a:bodyPr>
          <a:p>
            <a:r>
              <a:rPr lang="zh-CN" altLang="en-US">
                <a:solidFill>
                  <a:srgbClr val="FF0000"/>
                </a:solidFill>
              </a:rPr>
              <a:t>⑤</a:t>
            </a:r>
            <a:endParaRPr lang="zh-CN" altLang="en-US">
              <a:solidFill>
                <a:srgbClr val="FF0000"/>
              </a:solidFill>
            </a:endParaRPr>
          </a:p>
        </p:txBody>
      </p:sp>
      <p:sp>
        <p:nvSpPr>
          <p:cNvPr id="87" name="任意多边形 86"/>
          <p:cNvSpPr/>
          <p:nvPr/>
        </p:nvSpPr>
        <p:spPr>
          <a:xfrm>
            <a:off x="6891655" y="1841500"/>
            <a:ext cx="856615" cy="2165350"/>
          </a:xfrm>
          <a:custGeom>
            <a:avLst/>
            <a:gdLst>
              <a:gd name="connisteX0" fmla="*/ 230943 w 856595"/>
              <a:gd name="connsiteY0" fmla="*/ 0 h 2165350"/>
              <a:gd name="connisteX1" fmla="*/ 740848 w 856595"/>
              <a:gd name="connsiteY1" fmla="*/ 67310 h 2165350"/>
              <a:gd name="connisteX2" fmla="*/ 846893 w 856595"/>
              <a:gd name="connsiteY2" fmla="*/ 394970 h 2165350"/>
              <a:gd name="connisteX3" fmla="*/ 634803 w 856595"/>
              <a:gd name="connsiteY3" fmla="*/ 856615 h 2165350"/>
              <a:gd name="connisteX4" fmla="*/ 67113 w 856595"/>
              <a:gd name="connsiteY4" fmla="*/ 1183640 h 2165350"/>
              <a:gd name="connisteX5" fmla="*/ 29013 w 856595"/>
              <a:gd name="connsiteY5" fmla="*/ 2165350 h 216535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Lst>
            <a:rect l="l" t="t" r="r" b="b"/>
            <a:pathLst>
              <a:path w="856596" h="2165350">
                <a:moveTo>
                  <a:pt x="230944" y="0"/>
                </a:moveTo>
                <a:cubicBezTo>
                  <a:pt x="330639" y="6985"/>
                  <a:pt x="617659" y="-11430"/>
                  <a:pt x="740849" y="67310"/>
                </a:cubicBezTo>
                <a:cubicBezTo>
                  <a:pt x="864039" y="146050"/>
                  <a:pt x="867849" y="236855"/>
                  <a:pt x="846894" y="394970"/>
                </a:cubicBezTo>
                <a:cubicBezTo>
                  <a:pt x="825939" y="553085"/>
                  <a:pt x="791014" y="699135"/>
                  <a:pt x="634804" y="856615"/>
                </a:cubicBezTo>
                <a:cubicBezTo>
                  <a:pt x="478594" y="1014095"/>
                  <a:pt x="188399" y="922020"/>
                  <a:pt x="67114" y="1183640"/>
                </a:cubicBezTo>
                <a:cubicBezTo>
                  <a:pt x="-54171" y="1445260"/>
                  <a:pt x="25204" y="1975485"/>
                  <a:pt x="29014" y="216535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8" name="文本框 87"/>
          <p:cNvSpPr txBox="1"/>
          <p:nvPr/>
        </p:nvSpPr>
        <p:spPr>
          <a:xfrm>
            <a:off x="7270115" y="2061210"/>
            <a:ext cx="469265" cy="401320"/>
          </a:xfrm>
          <a:prstGeom prst="rect">
            <a:avLst/>
          </a:prstGeom>
          <a:noFill/>
        </p:spPr>
        <p:txBody>
          <a:bodyPr wrap="square" rtlCol="0">
            <a:noAutofit/>
          </a:bodyPr>
          <a:p>
            <a:r>
              <a:rPr lang="zh-CN" altLang="en-US">
                <a:solidFill>
                  <a:srgbClr val="FF0000"/>
                </a:solidFill>
              </a:rPr>
              <a:t>⑥</a:t>
            </a:r>
            <a:endParaRPr lang="zh-CN" altLang="en-US">
              <a:solidFill>
                <a:srgbClr val="FF0000"/>
              </a:solidFill>
            </a:endParaRPr>
          </a:p>
        </p:txBody>
      </p:sp>
      <p:sp>
        <p:nvSpPr>
          <p:cNvPr id="89" name="文本框 88"/>
          <p:cNvSpPr txBox="1"/>
          <p:nvPr/>
        </p:nvSpPr>
        <p:spPr>
          <a:xfrm>
            <a:off x="6901815" y="4362450"/>
            <a:ext cx="694690" cy="922020"/>
          </a:xfrm>
          <a:prstGeom prst="rect">
            <a:avLst/>
          </a:prstGeom>
          <a:noFill/>
        </p:spPr>
        <p:txBody>
          <a:bodyPr wrap="square" rtlCol="0">
            <a:spAutoFit/>
          </a:bodyPr>
          <a:p>
            <a:r>
              <a:rPr lang="zh-CN" altLang="en-US">
                <a:solidFill>
                  <a:srgbClr val="FF0000"/>
                </a:solidFill>
              </a:rPr>
              <a:t>出口直接返回</a:t>
            </a:r>
            <a:endParaRPr lang="zh-CN" altLang="en-US">
              <a:solidFill>
                <a:srgbClr val="FF0000"/>
              </a:solidFill>
            </a:endParaRPr>
          </a:p>
        </p:txBody>
      </p:sp>
      <p:sp>
        <p:nvSpPr>
          <p:cNvPr id="90" name="文本框 89"/>
          <p:cNvSpPr txBox="1"/>
          <p:nvPr/>
        </p:nvSpPr>
        <p:spPr>
          <a:xfrm>
            <a:off x="773430" y="5423535"/>
            <a:ext cx="7759065" cy="1198880"/>
          </a:xfrm>
          <a:prstGeom prst="rect">
            <a:avLst/>
          </a:prstGeom>
          <a:noFill/>
        </p:spPr>
        <p:txBody>
          <a:bodyPr wrap="square" rtlCol="0">
            <a:spAutoFit/>
          </a:bodyPr>
          <a:p>
            <a:r>
              <a:rPr lang="zh-CN" altLang="en-US"/>
              <a:t>回溯：系统地搜索所有可能解的算法（抽象解</a:t>
            </a:r>
            <a:r>
              <a:rPr lang="zh-CN" altLang="en-US"/>
              <a:t>空间树），通过递归的方式逐步构建解的过程。当发现当前路径无法满足题目要求或无法得到有效解时，算法会撤销上一步的选择（即「回溯」），返回到上一个决策点，尝试其他可能的路径。</a:t>
            </a:r>
            <a:endParaRPr lang="zh-CN" altLang="en-US"/>
          </a:p>
        </p:txBody>
      </p:sp>
    </p:spTree>
  </p:cSld>
  <p:clrMapOvr>
    <a:masterClrMapping/>
  </p:clrMapOvr>
  <p:transition spd="slow" advTm="109041"/>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4</a:t>
            </a:r>
            <a:endParaRPr lang="zh-CN" altLang="en-US">
              <a:solidFill>
                <a:schemeClr val="bg2">
                  <a:lumMod val="25000"/>
                  <a:lumOff val="75000"/>
                </a:schemeClr>
              </a:solidFill>
            </a:endParaRPr>
          </a:p>
        </p:txBody>
      </p:sp>
      <p:sp>
        <p:nvSpPr>
          <p:cNvPr id="13" name="Rectangle 2"/>
          <p:cNvSpPr txBox="1">
            <a:spLocks noChangeArrowheads="1"/>
          </p:cNvSpPr>
          <p:nvPr/>
        </p:nvSpPr>
        <p:spPr bwMode="auto">
          <a:xfrm>
            <a:off x="556260" y="1443355"/>
            <a:ext cx="3943350" cy="48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smtClean="0">
                <a:solidFill>
                  <a:srgbClr val="FF0000"/>
                </a:solidFill>
                <a:uFillTx/>
                <a:latin typeface="宋体" panose="02010600030101010101" pitchFamily="2" charset="-122"/>
                <a:ea typeface="宋体" panose="02010600030101010101" pitchFamily="2" charset="-122"/>
              </a:rPr>
              <a:t>回顾二叉树的前、中、后序遍历</a:t>
            </a:r>
            <a:endParaRPr lang="zh-CN" altLang="en-US" sz="2000" kern="0" dirty="0" smtClean="0">
              <a:solidFill>
                <a:srgbClr val="FF0000"/>
              </a:solidFill>
              <a:uFillTx/>
              <a:latin typeface="宋体" panose="02010600030101010101" pitchFamily="2" charset="-122"/>
              <a:ea typeface="宋体" panose="02010600030101010101" pitchFamily="2" charset="-122"/>
            </a:endParaRPr>
          </a:p>
        </p:txBody>
      </p:sp>
      <p:pic>
        <p:nvPicPr>
          <p:cNvPr id="2" name="图片 1"/>
          <p:cNvPicPr>
            <a:picLocks noChangeAspect="1"/>
          </p:cNvPicPr>
          <p:nvPr/>
        </p:nvPicPr>
        <p:blipFill>
          <a:blip r:embed="rId1"/>
          <a:stretch>
            <a:fillRect/>
          </a:stretch>
        </p:blipFill>
        <p:spPr>
          <a:xfrm>
            <a:off x="899592" y="2708920"/>
            <a:ext cx="3311823" cy="2113807"/>
          </a:xfrm>
          <a:prstGeom prst="rect">
            <a:avLst/>
          </a:prstGeom>
        </p:spPr>
      </p:pic>
      <p:sp>
        <p:nvSpPr>
          <p:cNvPr id="3" name="文本框 2"/>
          <p:cNvSpPr txBox="1"/>
          <p:nvPr/>
        </p:nvSpPr>
        <p:spPr>
          <a:xfrm>
            <a:off x="1475656" y="2132856"/>
            <a:ext cx="2448272" cy="369332"/>
          </a:xfrm>
          <a:prstGeom prst="rect">
            <a:avLst/>
          </a:prstGeom>
          <a:noFill/>
        </p:spPr>
        <p:txBody>
          <a:bodyPr wrap="square" rtlCol="0">
            <a:spAutoFit/>
          </a:bodyPr>
          <a:lstStyle/>
          <a:p>
            <a:r>
              <a:rPr lang="zh-CN" altLang="en-US" b="1" smtClean="0"/>
              <a:t>如何遍历二叉树？</a:t>
            </a:r>
            <a:endParaRPr lang="zh-CN" altLang="en-US" b="1"/>
          </a:p>
        </p:txBody>
      </p:sp>
      <p:sp>
        <p:nvSpPr>
          <p:cNvPr id="18" name="文本框 17"/>
          <p:cNvSpPr txBox="1"/>
          <p:nvPr/>
        </p:nvSpPr>
        <p:spPr>
          <a:xfrm>
            <a:off x="4788024" y="2924944"/>
            <a:ext cx="3448224" cy="1754326"/>
          </a:xfrm>
          <a:prstGeom prst="rect">
            <a:avLst/>
          </a:prstGeom>
          <a:noFill/>
        </p:spPr>
        <p:txBody>
          <a:bodyPr wrap="square" rtlCol="0">
            <a:spAutoFit/>
          </a:bodyPr>
          <a:lstStyle/>
          <a:p>
            <a:r>
              <a:rPr lang="zh-CN" altLang="en-US" b="1" smtClean="0"/>
              <a:t>①二叉树的前序遍历？</a:t>
            </a:r>
            <a:endParaRPr lang="en-US" altLang="zh-CN" b="1" smtClean="0"/>
          </a:p>
          <a:p>
            <a:endParaRPr lang="en-US" altLang="zh-CN" b="1" smtClean="0"/>
          </a:p>
          <a:p>
            <a:r>
              <a:rPr lang="zh-CN" altLang="en-US" b="1" smtClean="0"/>
              <a:t>②二叉树的中序遍历？</a:t>
            </a:r>
            <a:endParaRPr lang="en-US" altLang="zh-CN" b="1" smtClean="0"/>
          </a:p>
          <a:p>
            <a:endParaRPr lang="zh-CN" altLang="en-US" b="1" smtClean="0"/>
          </a:p>
          <a:p>
            <a:r>
              <a:rPr lang="zh-CN" altLang="en-US" b="1" smtClean="0"/>
              <a:t>③二叉树的后序</a:t>
            </a:r>
            <a:r>
              <a:rPr lang="zh-CN" altLang="en-US" b="1"/>
              <a:t>遍历？</a:t>
            </a:r>
            <a:endParaRPr lang="zh-CN" altLang="en-US" b="1"/>
          </a:p>
          <a:p>
            <a:endParaRPr lang="zh-CN" altLang="en-US" b="1"/>
          </a:p>
        </p:txBody>
      </p:sp>
      <p:sp>
        <p:nvSpPr>
          <p:cNvPr id="5" name="文本框 4"/>
          <p:cNvSpPr txBox="1"/>
          <p:nvPr/>
        </p:nvSpPr>
        <p:spPr>
          <a:xfrm>
            <a:off x="4499992" y="2889415"/>
            <a:ext cx="3664248" cy="369332"/>
          </a:xfrm>
          <a:prstGeom prst="rect">
            <a:avLst/>
          </a:prstGeom>
          <a:solidFill>
            <a:schemeClr val="accent2">
              <a:lumMod val="60000"/>
              <a:lumOff val="40000"/>
            </a:schemeClr>
          </a:solidFill>
        </p:spPr>
        <p:txBody>
          <a:bodyPr wrap="square" rtlCol="0">
            <a:spAutoFit/>
          </a:bodyPr>
          <a:lstStyle/>
          <a:p>
            <a:r>
              <a:rPr lang="zh-CN" altLang="en-US" smtClean="0"/>
              <a:t>前序遍历：</a:t>
            </a:r>
            <a:r>
              <a:rPr lang="en-US" altLang="zh-CN" smtClean="0"/>
              <a:t>2</a:t>
            </a:r>
            <a:r>
              <a:rPr lang="zh-CN" altLang="en-US" smtClean="0"/>
              <a:t>，</a:t>
            </a:r>
            <a:r>
              <a:rPr lang="en-US" altLang="zh-CN" smtClean="0"/>
              <a:t>9</a:t>
            </a:r>
            <a:r>
              <a:rPr lang="zh-CN" altLang="en-US" smtClean="0"/>
              <a:t>，</a:t>
            </a:r>
            <a:r>
              <a:rPr lang="en-US" altLang="zh-CN" smtClean="0"/>
              <a:t>20</a:t>
            </a:r>
            <a:r>
              <a:rPr lang="zh-CN" altLang="en-US" smtClean="0"/>
              <a:t>，</a:t>
            </a:r>
            <a:r>
              <a:rPr lang="en-US" altLang="zh-CN" smtClean="0"/>
              <a:t>15</a:t>
            </a:r>
            <a:r>
              <a:rPr lang="zh-CN" altLang="en-US" smtClean="0"/>
              <a:t>，</a:t>
            </a:r>
            <a:r>
              <a:rPr lang="en-US" altLang="zh-CN" smtClean="0"/>
              <a:t>3</a:t>
            </a:r>
            <a:endParaRPr lang="zh-CN" altLang="en-US"/>
          </a:p>
        </p:txBody>
      </p:sp>
      <p:sp>
        <p:nvSpPr>
          <p:cNvPr id="19" name="文本框 18"/>
          <p:cNvSpPr txBox="1"/>
          <p:nvPr/>
        </p:nvSpPr>
        <p:spPr>
          <a:xfrm>
            <a:off x="4499992" y="3453052"/>
            <a:ext cx="3664248" cy="369332"/>
          </a:xfrm>
          <a:prstGeom prst="rect">
            <a:avLst/>
          </a:prstGeom>
          <a:solidFill>
            <a:schemeClr val="accent2">
              <a:lumMod val="60000"/>
              <a:lumOff val="40000"/>
            </a:schemeClr>
          </a:solidFill>
        </p:spPr>
        <p:txBody>
          <a:bodyPr wrap="square" rtlCol="0">
            <a:spAutoFit/>
          </a:bodyPr>
          <a:lstStyle/>
          <a:p>
            <a:r>
              <a:rPr lang="zh-CN" altLang="en-US" smtClean="0"/>
              <a:t>中序遍历：</a:t>
            </a:r>
            <a:r>
              <a:rPr lang="en-US" altLang="zh-CN" smtClean="0"/>
              <a:t>9</a:t>
            </a:r>
            <a:r>
              <a:rPr lang="zh-CN" altLang="en-US" smtClean="0"/>
              <a:t>，</a:t>
            </a:r>
            <a:r>
              <a:rPr lang="en-US" altLang="zh-CN" smtClean="0"/>
              <a:t>2</a:t>
            </a:r>
            <a:r>
              <a:rPr lang="zh-CN" altLang="en-US" smtClean="0"/>
              <a:t>，</a:t>
            </a:r>
            <a:r>
              <a:rPr lang="en-US" altLang="zh-CN" smtClean="0"/>
              <a:t>15</a:t>
            </a:r>
            <a:r>
              <a:rPr lang="zh-CN" altLang="en-US" smtClean="0"/>
              <a:t>，</a:t>
            </a:r>
            <a:r>
              <a:rPr lang="en-US" altLang="zh-CN" smtClean="0"/>
              <a:t>20</a:t>
            </a:r>
            <a:r>
              <a:rPr lang="zh-CN" altLang="en-US" smtClean="0"/>
              <a:t>，</a:t>
            </a:r>
            <a:r>
              <a:rPr lang="en-US" altLang="zh-CN" smtClean="0"/>
              <a:t>3</a:t>
            </a:r>
            <a:endParaRPr lang="zh-CN" altLang="en-US"/>
          </a:p>
        </p:txBody>
      </p:sp>
      <p:sp>
        <p:nvSpPr>
          <p:cNvPr id="20" name="文本框 19"/>
          <p:cNvSpPr txBox="1"/>
          <p:nvPr/>
        </p:nvSpPr>
        <p:spPr>
          <a:xfrm>
            <a:off x="4499447" y="4066161"/>
            <a:ext cx="3664248" cy="369332"/>
          </a:xfrm>
          <a:prstGeom prst="rect">
            <a:avLst/>
          </a:prstGeom>
          <a:solidFill>
            <a:schemeClr val="accent2">
              <a:lumMod val="60000"/>
              <a:lumOff val="40000"/>
            </a:schemeClr>
          </a:solidFill>
        </p:spPr>
        <p:txBody>
          <a:bodyPr wrap="square" rtlCol="0">
            <a:spAutoFit/>
          </a:bodyPr>
          <a:lstStyle/>
          <a:p>
            <a:r>
              <a:rPr lang="zh-CN" altLang="en-US" smtClean="0"/>
              <a:t>后序遍历：</a:t>
            </a:r>
            <a:r>
              <a:rPr lang="en-US" altLang="zh-CN" smtClean="0"/>
              <a:t>9</a:t>
            </a:r>
            <a:r>
              <a:rPr lang="zh-CN" altLang="en-US" smtClean="0"/>
              <a:t>，</a:t>
            </a:r>
            <a:r>
              <a:rPr lang="en-US" altLang="zh-CN" smtClean="0"/>
              <a:t>15</a:t>
            </a:r>
            <a:r>
              <a:rPr lang="zh-CN" altLang="en-US" smtClean="0"/>
              <a:t>，</a:t>
            </a:r>
            <a:r>
              <a:rPr lang="en-US" altLang="zh-CN" smtClean="0"/>
              <a:t>3</a:t>
            </a:r>
            <a:r>
              <a:rPr lang="zh-CN" altLang="en-US" smtClean="0"/>
              <a:t>，</a:t>
            </a:r>
            <a:r>
              <a:rPr lang="en-US" altLang="zh-CN" smtClean="0"/>
              <a:t>20</a:t>
            </a:r>
            <a:r>
              <a:rPr lang="zh-CN" altLang="en-US" smtClean="0"/>
              <a:t>，</a:t>
            </a:r>
            <a:r>
              <a:rPr lang="en-US" altLang="zh-CN" smtClean="0"/>
              <a:t>2</a:t>
            </a:r>
            <a:endParaRPr lang="zh-CN" altLang="en-US"/>
          </a:p>
        </p:txBody>
      </p:sp>
      <p:sp>
        <p:nvSpPr>
          <p:cNvPr id="4" name="文本框 3"/>
          <p:cNvSpPr txBox="1"/>
          <p:nvPr/>
        </p:nvSpPr>
        <p:spPr>
          <a:xfrm>
            <a:off x="251460" y="836930"/>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6.1.2</a:t>
            </a:r>
            <a:r>
              <a:rPr lang="zh-CN" altLang="en-US" sz="2400" b="1" kern="0" dirty="0">
                <a:uFillTx/>
                <a:latin typeface="Times New Roman" panose="02020603050405020304" pitchFamily="18" charset="0"/>
                <a:cs typeface="Times New Roman" panose="02020603050405020304" pitchFamily="18" charset="0"/>
                <a:sym typeface="+mn-ea"/>
              </a:rPr>
              <a:t>深度优先搜索（如何遍历</a:t>
            </a:r>
            <a:r>
              <a:rPr lang="zh-CN" altLang="en-US" sz="2400" b="1" kern="0" dirty="0">
                <a:uFillTx/>
                <a:latin typeface="Times New Roman" panose="02020603050405020304" pitchFamily="18" charset="0"/>
                <a:cs typeface="Times New Roman" panose="02020603050405020304" pitchFamily="18" charset="0"/>
                <a:sym typeface="+mn-ea"/>
              </a:rPr>
              <a:t>树？）</a:t>
            </a:r>
            <a:endParaRPr lang="en-US" altLang="zh-CN"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transition spd="slow" advTm="109041"/>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19"/>
                                        </p:tgtEl>
                                        <p:attrNameLst>
                                          <p:attrName>style.visibility</p:attrName>
                                        </p:attrNameLst>
                                      </p:cBhvr>
                                      <p:to>
                                        <p:strVal val="visible"/>
                                      </p:to>
                                    </p:set>
                                    <p:animEffect transition="in" filter="fade">
                                      <p:cBhvr>
                                        <p:cTn id="14" dur="1000"/>
                                        <p:tgtEl>
                                          <p:spTgt spid="19"/>
                                        </p:tgtEl>
                                      </p:cBhvr>
                                    </p:animEffect>
                                    <p:anim calcmode="lin" valueType="num">
                                      <p:cBhvr>
                                        <p:cTn id="15" dur="1000" fill="hold"/>
                                        <p:tgtEl>
                                          <p:spTgt spid="19"/>
                                        </p:tgtEl>
                                        <p:attrNameLst>
                                          <p:attrName>ppt_x</p:attrName>
                                        </p:attrNameLst>
                                      </p:cBhvr>
                                      <p:tavLst>
                                        <p:tav tm="0">
                                          <p:val>
                                            <p:strVal val="#ppt_x"/>
                                          </p:val>
                                        </p:tav>
                                        <p:tav tm="100000">
                                          <p:val>
                                            <p:strVal val="#ppt_x"/>
                                          </p:val>
                                        </p:tav>
                                      </p:tavLst>
                                    </p:anim>
                                    <p:anim calcmode="lin" valueType="num">
                                      <p:cBhvr>
                                        <p:cTn id="16" dur="10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fade">
                                      <p:cBhvr>
                                        <p:cTn id="21" dur="1000"/>
                                        <p:tgtEl>
                                          <p:spTgt spid="20"/>
                                        </p:tgtEl>
                                      </p:cBhvr>
                                    </p:animEffect>
                                    <p:anim calcmode="lin" valueType="num">
                                      <p:cBhvr>
                                        <p:cTn id="22" dur="1000" fill="hold"/>
                                        <p:tgtEl>
                                          <p:spTgt spid="20"/>
                                        </p:tgtEl>
                                        <p:attrNameLst>
                                          <p:attrName>ppt_x</p:attrName>
                                        </p:attrNameLst>
                                      </p:cBhvr>
                                      <p:tavLst>
                                        <p:tav tm="0">
                                          <p:val>
                                            <p:strVal val="#ppt_x"/>
                                          </p:val>
                                        </p:tav>
                                        <p:tav tm="100000">
                                          <p:val>
                                            <p:strVal val="#ppt_x"/>
                                          </p:val>
                                        </p:tav>
                                      </p:tavLst>
                                    </p:anim>
                                    <p:anim calcmode="lin" valueType="num">
                                      <p:cBhvr>
                                        <p:cTn id="23" dur="1000" fill="hold"/>
                                        <p:tgtEl>
                                          <p:spTgt spid="2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9" grpId="0" animBg="1"/>
      <p:bldP spid="2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4</a:t>
            </a:r>
            <a:endParaRPr lang="zh-CN" altLang="en-US">
              <a:solidFill>
                <a:schemeClr val="bg2">
                  <a:lumMod val="25000"/>
                  <a:lumOff val="75000"/>
                </a:schemeClr>
              </a:solidFill>
            </a:endParaRPr>
          </a:p>
        </p:txBody>
      </p:sp>
      <p:pic>
        <p:nvPicPr>
          <p:cNvPr id="2" name="图片 1"/>
          <p:cNvPicPr>
            <a:picLocks noChangeAspect="1"/>
          </p:cNvPicPr>
          <p:nvPr/>
        </p:nvPicPr>
        <p:blipFill>
          <a:blip r:embed="rId1"/>
          <a:stretch>
            <a:fillRect/>
          </a:stretch>
        </p:blipFill>
        <p:spPr>
          <a:xfrm>
            <a:off x="899592" y="2708920"/>
            <a:ext cx="3311823" cy="2113807"/>
          </a:xfrm>
          <a:prstGeom prst="rect">
            <a:avLst/>
          </a:prstGeom>
        </p:spPr>
      </p:pic>
      <p:sp>
        <p:nvSpPr>
          <p:cNvPr id="3" name="文本框 2"/>
          <p:cNvSpPr txBox="1"/>
          <p:nvPr/>
        </p:nvSpPr>
        <p:spPr>
          <a:xfrm>
            <a:off x="1115695" y="2132965"/>
            <a:ext cx="2765425" cy="689610"/>
          </a:xfrm>
          <a:prstGeom prst="rect">
            <a:avLst/>
          </a:prstGeom>
          <a:noFill/>
        </p:spPr>
        <p:txBody>
          <a:bodyPr wrap="square" rtlCol="0">
            <a:noAutofit/>
          </a:bodyPr>
          <a:lstStyle/>
          <a:p>
            <a:r>
              <a:rPr lang="zh-CN" altLang="en-US" b="1" smtClean="0"/>
              <a:t>遍历二叉树程序设计？</a:t>
            </a:r>
            <a:endParaRPr lang="zh-CN" altLang="en-US" b="1"/>
          </a:p>
        </p:txBody>
      </p:sp>
      <p:sp>
        <p:nvSpPr>
          <p:cNvPr id="18" name="文本框 17"/>
          <p:cNvSpPr txBox="1"/>
          <p:nvPr/>
        </p:nvSpPr>
        <p:spPr>
          <a:xfrm>
            <a:off x="4772484" y="2779187"/>
            <a:ext cx="3528392" cy="2585323"/>
          </a:xfrm>
          <a:prstGeom prst="rect">
            <a:avLst/>
          </a:prstGeom>
          <a:solidFill>
            <a:schemeClr val="accent1">
              <a:lumMod val="60000"/>
              <a:lumOff val="40000"/>
            </a:schemeClr>
          </a:solidFill>
        </p:spPr>
        <p:txBody>
          <a:bodyPr wrap="square" rtlCol="0">
            <a:spAutoFit/>
          </a:bodyPr>
          <a:lstStyle/>
          <a:p>
            <a:r>
              <a:rPr lang="zh-CN" altLang="en-US" b="1" smtClean="0"/>
              <a:t>前序遍历：</a:t>
            </a:r>
            <a:endParaRPr lang="en-US" altLang="zh-CN" b="1" smtClean="0"/>
          </a:p>
          <a:p>
            <a:r>
              <a:rPr lang="en-US" altLang="zh-CN" b="1">
                <a:latin typeface="Times New Roman" panose="02020603050405020304" pitchFamily="18" charset="0"/>
                <a:cs typeface="Times New Roman" panose="02020603050405020304" pitchFamily="18" charset="0"/>
              </a:rPr>
              <a:t> if root == None:</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return</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else:</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print(root.val)</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dfs(root.left)</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dfs(root.right)</a:t>
            </a:r>
            <a:endParaRPr lang="en-US" altLang="zh-CN" b="1">
              <a:latin typeface="Times New Roman" panose="02020603050405020304" pitchFamily="18" charset="0"/>
              <a:cs typeface="Times New Roman" panose="02020603050405020304" pitchFamily="18" charset="0"/>
            </a:endParaRPr>
          </a:p>
          <a:p>
            <a:endParaRPr lang="zh-CN" altLang="en-US" b="1" smtClean="0"/>
          </a:p>
          <a:p>
            <a:endParaRPr lang="zh-CN" altLang="en-US" b="1"/>
          </a:p>
        </p:txBody>
      </p:sp>
      <p:sp>
        <p:nvSpPr>
          <p:cNvPr id="11" name="文本框 10"/>
          <p:cNvSpPr txBox="1"/>
          <p:nvPr/>
        </p:nvSpPr>
        <p:spPr>
          <a:xfrm>
            <a:off x="4772484" y="2779187"/>
            <a:ext cx="3528392" cy="2585323"/>
          </a:xfrm>
          <a:prstGeom prst="rect">
            <a:avLst/>
          </a:prstGeom>
          <a:solidFill>
            <a:schemeClr val="accent1">
              <a:lumMod val="60000"/>
              <a:lumOff val="40000"/>
            </a:schemeClr>
          </a:solidFill>
        </p:spPr>
        <p:txBody>
          <a:bodyPr wrap="square" rtlCol="0">
            <a:spAutoFit/>
          </a:bodyPr>
          <a:lstStyle/>
          <a:p>
            <a:r>
              <a:rPr lang="zh-CN" altLang="en-US" b="1" smtClean="0"/>
              <a:t>中序遍历：</a:t>
            </a:r>
            <a:endParaRPr lang="en-US" altLang="zh-CN" b="1" smtClean="0"/>
          </a:p>
          <a:p>
            <a:r>
              <a:rPr lang="en-US" altLang="zh-CN" b="1" smtClean="0">
                <a:latin typeface="Times New Roman" panose="02020603050405020304" pitchFamily="18" charset="0"/>
                <a:cs typeface="Times New Roman" panose="02020603050405020304" pitchFamily="18" charset="0"/>
              </a:rPr>
              <a:t> </a:t>
            </a:r>
            <a:r>
              <a:rPr lang="en-US" altLang="zh-CN" b="1">
                <a:latin typeface="Times New Roman" panose="02020603050405020304" pitchFamily="18" charset="0"/>
                <a:cs typeface="Times New Roman" panose="02020603050405020304" pitchFamily="18" charset="0"/>
              </a:rPr>
              <a:t>if root == None:</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return</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a:latin typeface="Times New Roman" panose="02020603050405020304" pitchFamily="18" charset="0"/>
                <a:cs typeface="Times New Roman" panose="02020603050405020304" pitchFamily="18" charset="0"/>
              </a:rPr>
              <a:t>else</a:t>
            </a:r>
            <a:r>
              <a:rPr lang="en-US" altLang="zh-CN" b="1" smtClean="0">
                <a:latin typeface="Times New Roman" panose="02020603050405020304" pitchFamily="18" charset="0"/>
                <a:cs typeface="Times New Roman" panose="02020603050405020304" pitchFamily="18" charset="0"/>
              </a:rPr>
              <a:t>:</a:t>
            </a:r>
            <a:endParaRPr lang="en-US" altLang="zh-CN" b="1" smtClean="0">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dfs(root.left)</a:t>
            </a:r>
            <a:endParaRPr lang="en-US" altLang="zh-CN" b="1" smtClean="0">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print(root.val</a:t>
            </a:r>
            <a:r>
              <a:rPr lang="en-US" altLang="zh-CN" b="1">
                <a:latin typeface="Times New Roman" panose="02020603050405020304" pitchFamily="18" charset="0"/>
                <a:cs typeface="Times New Roman" panose="02020603050405020304" pitchFamily="18" charset="0"/>
              </a:rPr>
              <a:t>)</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dfs(root.right</a:t>
            </a:r>
            <a:r>
              <a:rPr lang="en-US" altLang="zh-CN" b="1">
                <a:latin typeface="Times New Roman" panose="02020603050405020304" pitchFamily="18" charset="0"/>
                <a:cs typeface="Times New Roman" panose="02020603050405020304" pitchFamily="18" charset="0"/>
              </a:rPr>
              <a:t>)</a:t>
            </a:r>
            <a:endParaRPr lang="en-US" altLang="zh-CN" b="1">
              <a:latin typeface="Times New Roman" panose="02020603050405020304" pitchFamily="18" charset="0"/>
              <a:cs typeface="Times New Roman" panose="02020603050405020304" pitchFamily="18" charset="0"/>
            </a:endParaRPr>
          </a:p>
          <a:p>
            <a:endParaRPr lang="zh-CN" altLang="en-US" b="1" smtClean="0"/>
          </a:p>
          <a:p>
            <a:endParaRPr lang="zh-CN" altLang="en-US" b="1"/>
          </a:p>
        </p:txBody>
      </p:sp>
      <p:sp>
        <p:nvSpPr>
          <p:cNvPr id="14" name="文本框 13"/>
          <p:cNvSpPr txBox="1"/>
          <p:nvPr/>
        </p:nvSpPr>
        <p:spPr>
          <a:xfrm>
            <a:off x="4787479" y="2779187"/>
            <a:ext cx="3513397" cy="2585323"/>
          </a:xfrm>
          <a:prstGeom prst="rect">
            <a:avLst/>
          </a:prstGeom>
          <a:solidFill>
            <a:schemeClr val="accent1">
              <a:lumMod val="60000"/>
              <a:lumOff val="40000"/>
            </a:schemeClr>
          </a:solidFill>
        </p:spPr>
        <p:txBody>
          <a:bodyPr wrap="square" rtlCol="0">
            <a:spAutoFit/>
          </a:bodyPr>
          <a:lstStyle/>
          <a:p>
            <a:r>
              <a:rPr lang="zh-CN" altLang="en-US" b="1" smtClean="0"/>
              <a:t>后序遍历：</a:t>
            </a:r>
            <a:endParaRPr lang="en-US" altLang="zh-CN" b="1" smtClean="0"/>
          </a:p>
          <a:p>
            <a:r>
              <a:rPr lang="en-US" altLang="zh-CN" b="1" smtClean="0">
                <a:latin typeface="Times New Roman" panose="02020603050405020304" pitchFamily="18" charset="0"/>
                <a:cs typeface="Times New Roman" panose="02020603050405020304" pitchFamily="18" charset="0"/>
              </a:rPr>
              <a:t> </a:t>
            </a:r>
            <a:r>
              <a:rPr lang="en-US" altLang="zh-CN" b="1">
                <a:latin typeface="Times New Roman" panose="02020603050405020304" pitchFamily="18" charset="0"/>
                <a:cs typeface="Times New Roman" panose="02020603050405020304" pitchFamily="18" charset="0"/>
              </a:rPr>
              <a:t>if root == None:</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return</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a:latin typeface="Times New Roman" panose="02020603050405020304" pitchFamily="18" charset="0"/>
                <a:cs typeface="Times New Roman" panose="02020603050405020304" pitchFamily="18" charset="0"/>
              </a:rPr>
              <a:t>else</a:t>
            </a:r>
            <a:r>
              <a:rPr lang="en-US" altLang="zh-CN" b="1" smtClean="0">
                <a:latin typeface="Times New Roman" panose="02020603050405020304" pitchFamily="18" charset="0"/>
                <a:cs typeface="Times New Roman" panose="02020603050405020304" pitchFamily="18" charset="0"/>
              </a:rPr>
              <a:t>:</a:t>
            </a:r>
            <a:endParaRPr lang="en-US" altLang="zh-CN" b="1" smtClean="0">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dfs(root.left)</a:t>
            </a:r>
            <a:endParaRPr lang="en-US" altLang="zh-CN" b="1" smtClean="0">
              <a:latin typeface="Times New Roman" panose="02020603050405020304" pitchFamily="18" charset="0"/>
              <a:cs typeface="Times New Roman" panose="02020603050405020304" pitchFamily="18" charset="0"/>
            </a:endParaRPr>
          </a:p>
          <a:p>
            <a:r>
              <a:rPr lang="en-US" altLang="zh-CN" b="1" smtClean="0">
                <a:latin typeface="Times New Roman" panose="02020603050405020304" pitchFamily="18" charset="0"/>
                <a:cs typeface="Times New Roman" panose="02020603050405020304" pitchFamily="18" charset="0"/>
              </a:rPr>
              <a:t>            dfs(root.right)</a:t>
            </a:r>
            <a:endParaRPr lang="en-US" altLang="zh-CN" b="1" smtClean="0">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print(root.val</a:t>
            </a:r>
            <a:r>
              <a:rPr lang="en-US" altLang="zh-CN" b="1">
                <a:latin typeface="Times New Roman" panose="02020603050405020304" pitchFamily="18" charset="0"/>
                <a:cs typeface="Times New Roman" panose="02020603050405020304" pitchFamily="18" charset="0"/>
              </a:rPr>
              <a:t>)</a:t>
            </a:r>
            <a:endParaRPr lang="en-US" altLang="zh-CN" b="1">
              <a:latin typeface="Times New Roman" panose="02020603050405020304" pitchFamily="18" charset="0"/>
              <a:cs typeface="Times New Roman" panose="02020603050405020304" pitchFamily="18" charset="0"/>
            </a:endParaRPr>
          </a:p>
          <a:p>
            <a:endParaRPr lang="zh-CN" altLang="en-US" b="1" smtClean="0"/>
          </a:p>
          <a:p>
            <a:endParaRPr lang="zh-CN" altLang="en-US" b="1"/>
          </a:p>
        </p:txBody>
      </p:sp>
      <p:sp>
        <p:nvSpPr>
          <p:cNvPr id="4" name="Rectangle 2"/>
          <p:cNvSpPr txBox="1">
            <a:spLocks noChangeArrowheads="1"/>
          </p:cNvSpPr>
          <p:nvPr/>
        </p:nvSpPr>
        <p:spPr bwMode="auto">
          <a:xfrm>
            <a:off x="467360" y="981075"/>
            <a:ext cx="3943350" cy="48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smtClean="0">
                <a:solidFill>
                  <a:srgbClr val="FF0000"/>
                </a:solidFill>
                <a:uFillTx/>
                <a:latin typeface="宋体" panose="02010600030101010101" pitchFamily="2" charset="-122"/>
                <a:ea typeface="宋体" panose="02010600030101010101" pitchFamily="2" charset="-122"/>
              </a:rPr>
              <a:t>回顾二叉树的前、中、后序遍历</a:t>
            </a:r>
            <a:endParaRPr lang="zh-CN" altLang="en-US" sz="2000" kern="0" dirty="0" smtClean="0">
              <a:solidFill>
                <a:srgbClr val="FF0000"/>
              </a:solidFill>
              <a:uFillTx/>
              <a:latin typeface="宋体" panose="02010600030101010101" pitchFamily="2" charset="-122"/>
              <a:ea typeface="宋体" panose="02010600030101010101" pitchFamily="2" charset="-122"/>
            </a:endParaRPr>
          </a:p>
        </p:txBody>
      </p:sp>
    </p:spTree>
  </p:cSld>
  <p:clrMapOvr>
    <a:masterClrMapping/>
  </p:clrMapOvr>
  <p:transition spd="slow" advTm="109041"/>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anim calcmode="lin" valueType="num">
                                      <p:cBhvr>
                                        <p:cTn id="8" dur="1000" fill="hold"/>
                                        <p:tgtEl>
                                          <p:spTgt spid="18"/>
                                        </p:tgtEl>
                                        <p:attrNameLst>
                                          <p:attrName>ppt_x</p:attrName>
                                        </p:attrNameLst>
                                      </p:cBhvr>
                                      <p:tavLst>
                                        <p:tav tm="0">
                                          <p:val>
                                            <p:strVal val="#ppt_x"/>
                                          </p:val>
                                        </p:tav>
                                        <p:tav tm="100000">
                                          <p:val>
                                            <p:strVal val="#ppt_x"/>
                                          </p:val>
                                        </p:tav>
                                      </p:tavLst>
                                    </p:anim>
                                    <p:anim calcmode="lin" valueType="num">
                                      <p:cBhvr>
                                        <p:cTn id="9" dur="10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1000"/>
                                        <p:tgtEl>
                                          <p:spTgt spid="11"/>
                                        </p:tgtEl>
                                      </p:cBhvr>
                                    </p:animEffect>
                                    <p:anim calcmode="lin" valueType="num">
                                      <p:cBhvr>
                                        <p:cTn id="15" dur="1000" fill="hold"/>
                                        <p:tgtEl>
                                          <p:spTgt spid="11"/>
                                        </p:tgtEl>
                                        <p:attrNameLst>
                                          <p:attrName>ppt_x</p:attrName>
                                        </p:attrNameLst>
                                      </p:cBhvr>
                                      <p:tavLst>
                                        <p:tav tm="0">
                                          <p:val>
                                            <p:strVal val="#ppt_x"/>
                                          </p:val>
                                        </p:tav>
                                        <p:tav tm="100000">
                                          <p:val>
                                            <p:strVal val="#ppt_x"/>
                                          </p:val>
                                        </p:tav>
                                      </p:tavLst>
                                    </p:anim>
                                    <p:anim calcmode="lin" valueType="num">
                                      <p:cBhvr>
                                        <p:cTn id="16"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fade">
                                      <p:cBhvr>
                                        <p:cTn id="21" dur="1000"/>
                                        <p:tgtEl>
                                          <p:spTgt spid="14"/>
                                        </p:tgtEl>
                                      </p:cBhvr>
                                    </p:animEffect>
                                    <p:anim calcmode="lin" valueType="num">
                                      <p:cBhvr>
                                        <p:cTn id="22" dur="1000" fill="hold"/>
                                        <p:tgtEl>
                                          <p:spTgt spid="14"/>
                                        </p:tgtEl>
                                        <p:attrNameLst>
                                          <p:attrName>ppt_x</p:attrName>
                                        </p:attrNameLst>
                                      </p:cBhvr>
                                      <p:tavLst>
                                        <p:tav tm="0">
                                          <p:val>
                                            <p:strVal val="#ppt_x"/>
                                          </p:val>
                                        </p:tav>
                                        <p:tav tm="100000">
                                          <p:val>
                                            <p:strVal val="#ppt_x"/>
                                          </p:val>
                                        </p:tav>
                                      </p:tavLst>
                                    </p:anim>
                                    <p:anim calcmode="lin" valueType="num">
                                      <p:cBhvr>
                                        <p:cTn id="23" dur="10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1" grpId="0" animBg="1"/>
      <p:bldP spid="1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5</a:t>
            </a:r>
            <a:endParaRPr lang="zh-CN" altLang="en-US">
              <a:solidFill>
                <a:schemeClr val="bg2">
                  <a:lumMod val="25000"/>
                  <a:lumOff val="75000"/>
                </a:schemeClr>
              </a:solidFill>
            </a:endParaRPr>
          </a:p>
        </p:txBody>
      </p:sp>
      <p:sp>
        <p:nvSpPr>
          <p:cNvPr id="44" name="文本框 43"/>
          <p:cNvSpPr txBox="1"/>
          <p:nvPr/>
        </p:nvSpPr>
        <p:spPr>
          <a:xfrm>
            <a:off x="466725" y="5862955"/>
            <a:ext cx="8443595" cy="731520"/>
          </a:xfrm>
          <a:prstGeom prst="rect">
            <a:avLst/>
          </a:prstGeom>
          <a:noFill/>
        </p:spPr>
        <p:txBody>
          <a:bodyPr>
            <a:noAutofit/>
          </a:bodyPr>
          <a:lstStyle/>
          <a:p>
            <a:pPr>
              <a:defRPr/>
            </a:pPr>
            <a:r>
              <a:rPr lang="zh-CN" altLang="en-US">
                <a:solidFill>
                  <a:schemeClr val="tx2"/>
                </a:solidFill>
                <a:uFillTx/>
                <a:latin typeface="Times New Roman" panose="02020603050405020304" pitchFamily="18" charset="0"/>
              </a:rPr>
              <a:t>如何用计算机的方式实现图的遍历</a:t>
            </a:r>
            <a:r>
              <a:rPr lang="en-US" altLang="zh-CN" dirty="0">
                <a:solidFill>
                  <a:schemeClr val="tx2"/>
                </a:solidFill>
                <a:uFillTx/>
                <a:latin typeface="Times New Roman" panose="02020603050405020304" pitchFamily="18" charset="0"/>
              </a:rPr>
              <a:t>?</a:t>
            </a:r>
            <a:r>
              <a:rPr lang="zh-CN" altLang="en-US" dirty="0">
                <a:solidFill>
                  <a:schemeClr val="tx2"/>
                </a:solidFill>
                <a:uFillTx/>
                <a:latin typeface="Times New Roman" panose="02020603050405020304" pitchFamily="18" charset="0"/>
              </a:rPr>
              <a:t>如何遇到没有路径的地方回溯到上一个</a:t>
            </a:r>
            <a:r>
              <a:rPr lang="zh-CN" altLang="en-US" dirty="0">
                <a:solidFill>
                  <a:schemeClr val="tx2"/>
                </a:solidFill>
                <a:uFillTx/>
                <a:latin typeface="Times New Roman" panose="02020603050405020304" pitchFamily="18" charset="0"/>
              </a:rPr>
              <a:t>节点？</a:t>
            </a:r>
            <a:endParaRPr lang="zh-CN" altLang="en-US" dirty="0">
              <a:solidFill>
                <a:schemeClr val="tx2"/>
              </a:solidFill>
              <a:uFillTx/>
              <a:latin typeface="Times New Roman" panose="02020603050405020304" pitchFamily="18" charset="0"/>
            </a:endParaRPr>
          </a:p>
        </p:txBody>
      </p:sp>
      <p:sp>
        <p:nvSpPr>
          <p:cNvPr id="45" name="文本框 44"/>
          <p:cNvSpPr txBox="1"/>
          <p:nvPr/>
        </p:nvSpPr>
        <p:spPr>
          <a:xfrm>
            <a:off x="539750" y="1484313"/>
            <a:ext cx="8226425" cy="645160"/>
          </a:xfrm>
          <a:prstGeom prst="rect">
            <a:avLst/>
          </a:prstGeom>
          <a:noFill/>
        </p:spPr>
        <p:txBody>
          <a:bodyPr>
            <a:spAutoFit/>
          </a:bodyPr>
          <a:lstStyle/>
          <a:p>
            <a:pPr>
              <a:defRPr/>
            </a:pPr>
            <a:r>
              <a:rPr lang="zh-CN" altLang="en-US" b="1">
                <a:solidFill>
                  <a:schemeClr val="tx1"/>
                </a:solidFill>
                <a:latin typeface="宋体" panose="02010600030101010101" pitchFamily="2" charset="-122"/>
                <a:cs typeface="宋体" panose="02010600030101010101" pitchFamily="2" charset="-122"/>
              </a:rPr>
              <a:t>方法</a:t>
            </a:r>
            <a:r>
              <a:rPr lang="en-US" altLang="zh-CN" b="1" dirty="0">
                <a:solidFill>
                  <a:schemeClr val="tx1"/>
                </a:solidFill>
                <a:latin typeface="宋体" panose="02010600030101010101" pitchFamily="2" charset="-122"/>
                <a:cs typeface="宋体" panose="02010600030101010101" pitchFamily="2" charset="-122"/>
              </a:rPr>
              <a:t>:</a:t>
            </a:r>
            <a:r>
              <a:rPr lang="zh-CN" altLang="en-US" b="1">
                <a:solidFill>
                  <a:schemeClr val="tx1"/>
                </a:solidFill>
                <a:latin typeface="宋体" panose="02010600030101010101" pitchFamily="2" charset="-122"/>
                <a:cs typeface="宋体" panose="02010600030101010101" pitchFamily="2" charset="-122"/>
              </a:rPr>
              <a:t>找出刚访问过的顶点的第一个未被访问的邻接点， 访问该顶点。 以该顶点为新顶点，重复此步骤， 直至刚访问过的顶点没有未被访问的邻接点为止。</a:t>
            </a:r>
            <a:endParaRPr lang="zh-CN" altLang="en-US" b="1">
              <a:solidFill>
                <a:schemeClr val="tx1"/>
              </a:solidFill>
              <a:latin typeface="宋体" panose="02010600030101010101" pitchFamily="2" charset="-122"/>
              <a:cs typeface="宋体" panose="02010600030101010101" pitchFamily="2" charset="-122"/>
            </a:endParaRPr>
          </a:p>
        </p:txBody>
      </p:sp>
      <p:sp>
        <p:nvSpPr>
          <p:cNvPr id="47" name="文本框 46"/>
          <p:cNvSpPr txBox="1"/>
          <p:nvPr/>
        </p:nvSpPr>
        <p:spPr>
          <a:xfrm>
            <a:off x="763588" y="2697163"/>
            <a:ext cx="930275"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例如：</a:t>
            </a:r>
            <a:endParaRPr lang="zh-CN" altLang="en-US">
              <a:solidFill>
                <a:schemeClr val="tx1"/>
              </a:solidFill>
              <a:uFillTx/>
              <a:latin typeface="Times New Roman" panose="02020603050405020304" pitchFamily="18" charset="0"/>
            </a:endParaRPr>
          </a:p>
        </p:txBody>
      </p:sp>
      <p:sp>
        <p:nvSpPr>
          <p:cNvPr id="48" name="文本框 47"/>
          <p:cNvSpPr txBox="1"/>
          <p:nvPr/>
        </p:nvSpPr>
        <p:spPr>
          <a:xfrm>
            <a:off x="5054600" y="2687638"/>
            <a:ext cx="2154238"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深度优先遍历：</a:t>
            </a:r>
            <a:endParaRPr lang="zh-CN" altLang="en-US">
              <a:solidFill>
                <a:schemeClr val="tx1"/>
              </a:solidFill>
              <a:uFillTx/>
              <a:latin typeface="Times New Roman" panose="02020603050405020304" pitchFamily="18" charset="0"/>
            </a:endParaRPr>
          </a:p>
        </p:txBody>
      </p:sp>
      <p:pic>
        <p:nvPicPr>
          <p:cNvPr id="12296"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55650" y="3227388"/>
            <a:ext cx="3624263" cy="2320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297" name="文本框 2"/>
          <p:cNvSpPr txBox="1">
            <a:spLocks noChangeArrowheads="1"/>
          </p:cNvSpPr>
          <p:nvPr/>
        </p:nvSpPr>
        <p:spPr bwMode="auto">
          <a:xfrm>
            <a:off x="5054600" y="3935413"/>
            <a:ext cx="3262313"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a:spcBef>
                <a:spcPct val="0"/>
              </a:spcBef>
              <a:buClrTx/>
              <a:buSzTx/>
              <a:buFontTx/>
              <a:buNone/>
            </a:pPr>
            <a:r>
              <a:rPr lang="en-US" altLang="zh-CN" sz="2400">
                <a:solidFill>
                  <a:schemeClr val="tx1"/>
                </a:solidFill>
                <a:ea typeface="宋体" panose="02010600030101010101" pitchFamily="2" charset="-122"/>
              </a:rPr>
              <a:t>A B E G F C H  D   </a:t>
            </a:r>
            <a:endParaRPr lang="zh-CN" altLang="en-US" sz="2400">
              <a:solidFill>
                <a:schemeClr val="tx1"/>
              </a:solidFill>
              <a:ea typeface="宋体" panose="02010600030101010101" pitchFamily="2" charset="-122"/>
            </a:endParaRPr>
          </a:p>
        </p:txBody>
      </p:sp>
      <p:sp>
        <p:nvSpPr>
          <p:cNvPr id="12298" name="矩形 20"/>
          <p:cNvSpPr>
            <a:spLocks noChangeArrowheads="1"/>
          </p:cNvSpPr>
          <p:nvPr/>
        </p:nvSpPr>
        <p:spPr bwMode="auto">
          <a:xfrm>
            <a:off x="5084763" y="3852863"/>
            <a:ext cx="1216025" cy="542925"/>
          </a:xfrm>
          <a:prstGeom prst="rect">
            <a:avLst/>
          </a:prstGeom>
          <a:noFill/>
          <a:ln w="38100" algn="ctr">
            <a:solidFill>
              <a:schemeClr val="accent1"/>
            </a:solidFill>
            <a:prstDash val="sysDash"/>
            <a:rou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2299" name="矩形 21"/>
          <p:cNvSpPr>
            <a:spLocks noChangeArrowheads="1"/>
          </p:cNvSpPr>
          <p:nvPr/>
        </p:nvSpPr>
        <p:spPr bwMode="auto">
          <a:xfrm>
            <a:off x="6300788" y="3848100"/>
            <a:ext cx="908050" cy="547688"/>
          </a:xfrm>
          <a:prstGeom prst="rect">
            <a:avLst/>
          </a:prstGeom>
          <a:noFill/>
          <a:ln w="38100" algn="ctr">
            <a:solidFill>
              <a:schemeClr val="tx2"/>
            </a:solidFill>
            <a:prstDash val="sysDash"/>
            <a:rou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2300" name="矩形 22"/>
          <p:cNvSpPr>
            <a:spLocks noChangeArrowheads="1"/>
          </p:cNvSpPr>
          <p:nvPr/>
        </p:nvSpPr>
        <p:spPr bwMode="auto">
          <a:xfrm>
            <a:off x="7208838" y="3868738"/>
            <a:ext cx="458787" cy="527050"/>
          </a:xfrm>
          <a:prstGeom prst="rect">
            <a:avLst/>
          </a:prstGeom>
          <a:noFill/>
          <a:ln w="38100" algn="ctr">
            <a:solidFill>
              <a:schemeClr val="accent1"/>
            </a:solidFill>
            <a:prstDash val="sysDash"/>
            <a:rou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4" name="文本框 3"/>
          <p:cNvSpPr txBox="1"/>
          <p:nvPr/>
        </p:nvSpPr>
        <p:spPr>
          <a:xfrm>
            <a:off x="251460" y="836930"/>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6.1.2</a:t>
            </a:r>
            <a:r>
              <a:rPr lang="zh-CN" altLang="en-US" sz="2400" b="1" kern="0" dirty="0">
                <a:uFillTx/>
                <a:latin typeface="Times New Roman" panose="02020603050405020304" pitchFamily="18" charset="0"/>
                <a:cs typeface="Times New Roman" panose="02020603050405020304" pitchFamily="18" charset="0"/>
                <a:sym typeface="+mn-ea"/>
              </a:rPr>
              <a:t>深度优先搜索（回溯</a:t>
            </a:r>
            <a:r>
              <a:rPr lang="zh-CN" altLang="en-US" sz="2400" b="1" kern="0" dirty="0">
                <a:uFillTx/>
                <a:latin typeface="Times New Roman" panose="02020603050405020304" pitchFamily="18" charset="0"/>
                <a:cs typeface="Times New Roman" panose="02020603050405020304" pitchFamily="18" charset="0"/>
                <a:sym typeface="+mn-ea"/>
              </a:rPr>
              <a:t>实现）</a:t>
            </a:r>
            <a:endParaRPr lang="en-US" altLang="zh-CN"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transition spd="slow" advTm="147941"/>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6</a:t>
            </a:r>
            <a:endParaRPr lang="zh-CN" altLang="en-US">
              <a:solidFill>
                <a:schemeClr val="bg2">
                  <a:lumMod val="25000"/>
                  <a:lumOff val="75000"/>
                </a:schemeClr>
              </a:solidFill>
            </a:endParaRPr>
          </a:p>
        </p:txBody>
      </p:sp>
      <p:pic>
        <p:nvPicPr>
          <p:cNvPr id="14340" name="图片 3"/>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827405" y="2016125"/>
            <a:ext cx="3960813" cy="26368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文本框 13"/>
          <p:cNvSpPr txBox="1"/>
          <p:nvPr/>
        </p:nvSpPr>
        <p:spPr>
          <a:xfrm>
            <a:off x="827405" y="4752975"/>
            <a:ext cx="2519363" cy="368300"/>
          </a:xfrm>
          <a:prstGeom prst="rect">
            <a:avLst/>
          </a:prstGeom>
          <a:noFill/>
        </p:spPr>
        <p:txBody>
          <a:bodyPr>
            <a:spAutoFit/>
          </a:bodyPr>
          <a:lstStyle/>
          <a:p>
            <a:pPr>
              <a:defRPr/>
            </a:pPr>
            <a:r>
              <a:rPr lang="zh-CN" altLang="en-US">
                <a:solidFill>
                  <a:srgbClr val="000066"/>
                </a:solidFill>
                <a:uFillTx/>
                <a:latin typeface="Times New Roman" panose="02020603050405020304" pitchFamily="18" charset="0"/>
              </a:rPr>
              <a:t>记录访问结果：</a:t>
            </a:r>
            <a:r>
              <a:rPr lang="en-US" altLang="zh-CN">
                <a:solidFill>
                  <a:srgbClr val="000066"/>
                </a:solidFill>
                <a:uFillTx/>
                <a:latin typeface="Times New Roman" panose="02020603050405020304" pitchFamily="18" charset="0"/>
              </a:rPr>
              <a:t>A </a:t>
            </a:r>
            <a:endParaRPr lang="en-US" altLang="zh-CN">
              <a:solidFill>
                <a:srgbClr val="000066"/>
              </a:solidFill>
              <a:uFillTx/>
              <a:latin typeface="Times New Roman" panose="02020603050405020304" pitchFamily="18" charset="0"/>
            </a:endParaRPr>
          </a:p>
        </p:txBody>
      </p:sp>
      <p:pic>
        <p:nvPicPr>
          <p:cNvPr id="14342"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443980" y="1916113"/>
            <a:ext cx="1257300" cy="2838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343" name="右箭头 9"/>
          <p:cNvSpPr>
            <a:spLocks noChangeArrowheads="1"/>
          </p:cNvSpPr>
          <p:nvPr/>
        </p:nvSpPr>
        <p:spPr bwMode="auto">
          <a:xfrm>
            <a:off x="5102543" y="319087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5123180" y="2828925"/>
            <a:ext cx="21526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入栈</a:t>
            </a:r>
            <a:r>
              <a:rPr lang="en-US" altLang="zh-CN">
                <a:solidFill>
                  <a:schemeClr val="tx2"/>
                </a:solidFill>
                <a:uFillTx/>
                <a:latin typeface="Times New Roman" panose="02020603050405020304" pitchFamily="18" charset="0"/>
              </a:rPr>
              <a:t>A</a:t>
            </a:r>
            <a:endParaRPr lang="en-US" altLang="zh-CN">
              <a:solidFill>
                <a:schemeClr val="tx2"/>
              </a:solidFill>
              <a:uFillTx/>
              <a:latin typeface="Times New Roman" panose="02020603050405020304" pitchFamily="18" charset="0"/>
            </a:endParaRPr>
          </a:p>
        </p:txBody>
      </p:sp>
      <p:sp>
        <p:nvSpPr>
          <p:cNvPr id="2" name="Rectangle 2"/>
          <p:cNvSpPr txBox="1">
            <a:spLocks noChangeArrowheads="1"/>
          </p:cNvSpPr>
          <p:nvPr/>
        </p:nvSpPr>
        <p:spPr bwMode="auto">
          <a:xfrm>
            <a:off x="323215" y="105219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7</a:t>
            </a:r>
            <a:endParaRPr lang="zh-CN" altLang="en-US">
              <a:solidFill>
                <a:schemeClr val="bg2">
                  <a:lumMod val="25000"/>
                  <a:lumOff val="75000"/>
                </a:schemeClr>
              </a:solidFill>
            </a:endParaRPr>
          </a:p>
        </p:txBody>
      </p:sp>
      <p:sp>
        <p:nvSpPr>
          <p:cNvPr id="14" name="文本框 13"/>
          <p:cNvSpPr txBox="1"/>
          <p:nvPr/>
        </p:nvSpPr>
        <p:spPr>
          <a:xfrm>
            <a:off x="1147445" y="4685030"/>
            <a:ext cx="2376488"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记录访问结果：</a:t>
            </a:r>
            <a:r>
              <a:rPr lang="en-US" altLang="zh-CN">
                <a:solidFill>
                  <a:schemeClr val="tx1"/>
                </a:solidFill>
                <a:uFillTx/>
                <a:latin typeface="Times New Roman" panose="02020603050405020304" pitchFamily="18" charset="0"/>
              </a:rPr>
              <a:t>A B </a:t>
            </a:r>
            <a:endParaRPr lang="en-US" altLang="zh-CN">
              <a:solidFill>
                <a:schemeClr val="tx1"/>
              </a:solidFill>
              <a:uFillTx/>
              <a:latin typeface="Times New Roman" panose="02020603050405020304" pitchFamily="18" charset="0"/>
            </a:endParaRPr>
          </a:p>
        </p:txBody>
      </p:sp>
      <p:sp>
        <p:nvSpPr>
          <p:cNvPr id="16389" name="右箭头 9"/>
          <p:cNvSpPr>
            <a:spLocks noChangeArrowheads="1"/>
          </p:cNvSpPr>
          <p:nvPr/>
        </p:nvSpPr>
        <p:spPr bwMode="auto">
          <a:xfrm>
            <a:off x="5206683" y="3307080"/>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5227320" y="2945130"/>
            <a:ext cx="21526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入栈</a:t>
            </a:r>
            <a:r>
              <a:rPr lang="en-US" altLang="zh-CN">
                <a:solidFill>
                  <a:schemeClr val="tx2"/>
                </a:solidFill>
                <a:uFillTx/>
                <a:latin typeface="Times New Roman" panose="02020603050405020304" pitchFamily="18" charset="0"/>
              </a:rPr>
              <a:t>B</a:t>
            </a:r>
            <a:endParaRPr lang="en-US" altLang="zh-CN">
              <a:solidFill>
                <a:schemeClr val="tx2"/>
              </a:solidFill>
              <a:uFillTx/>
              <a:latin typeface="Times New Roman" panose="02020603050405020304" pitchFamily="18" charset="0"/>
            </a:endParaRPr>
          </a:p>
        </p:txBody>
      </p:sp>
      <p:pic>
        <p:nvPicPr>
          <p:cNvPr id="16391"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06120" y="1957705"/>
            <a:ext cx="4076700" cy="2628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6392" name="图片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371908" y="2132330"/>
            <a:ext cx="1447800" cy="2771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2"/>
          <p:cNvSpPr txBox="1">
            <a:spLocks noChangeArrowheads="1"/>
          </p:cNvSpPr>
          <p:nvPr/>
        </p:nvSpPr>
        <p:spPr bwMode="auto">
          <a:xfrm>
            <a:off x="323215" y="105219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8</a:t>
            </a:r>
            <a:endParaRPr lang="zh-CN" altLang="en-US">
              <a:solidFill>
                <a:schemeClr val="bg2">
                  <a:lumMod val="25000"/>
                  <a:lumOff val="75000"/>
                </a:schemeClr>
              </a:solidFill>
            </a:endParaRPr>
          </a:p>
        </p:txBody>
      </p:sp>
      <p:sp>
        <p:nvSpPr>
          <p:cNvPr id="41" name="Rectangle 2"/>
          <p:cNvSpPr txBox="1">
            <a:spLocks noChangeArrowheads="1"/>
          </p:cNvSpPr>
          <p:nvPr/>
        </p:nvSpPr>
        <p:spPr bwMode="auto">
          <a:xfrm>
            <a:off x="323215" y="145097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
        <p:nvSpPr>
          <p:cNvPr id="14" name="文本框 13"/>
          <p:cNvSpPr txBox="1"/>
          <p:nvPr/>
        </p:nvSpPr>
        <p:spPr>
          <a:xfrm>
            <a:off x="755650" y="5513388"/>
            <a:ext cx="2808288"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记录访问结果：</a:t>
            </a:r>
            <a:r>
              <a:rPr lang="en-US" altLang="zh-CN">
                <a:solidFill>
                  <a:schemeClr val="tx2"/>
                </a:solidFill>
                <a:uFillTx/>
                <a:latin typeface="Times New Roman" panose="02020603050405020304" pitchFamily="18" charset="0"/>
              </a:rPr>
              <a:t>A B E </a:t>
            </a:r>
            <a:endParaRPr lang="en-US" altLang="zh-CN">
              <a:solidFill>
                <a:schemeClr val="tx2"/>
              </a:solidFill>
              <a:uFillTx/>
              <a:latin typeface="Times New Roman" panose="02020603050405020304" pitchFamily="18" charset="0"/>
            </a:endParaRPr>
          </a:p>
        </p:txBody>
      </p:sp>
      <p:sp>
        <p:nvSpPr>
          <p:cNvPr id="18437" name="右箭头 9"/>
          <p:cNvSpPr>
            <a:spLocks noChangeArrowheads="1"/>
          </p:cNvSpPr>
          <p:nvPr/>
        </p:nvSpPr>
        <p:spPr bwMode="auto">
          <a:xfrm>
            <a:off x="4597400" y="410527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597400" y="3770313"/>
            <a:ext cx="2154238"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入栈</a:t>
            </a:r>
            <a:r>
              <a:rPr lang="en-US" altLang="zh-CN">
                <a:solidFill>
                  <a:schemeClr val="tx2"/>
                </a:solidFill>
                <a:uFillTx/>
                <a:latin typeface="Times New Roman" panose="02020603050405020304" pitchFamily="18" charset="0"/>
              </a:rPr>
              <a:t>E</a:t>
            </a:r>
            <a:endParaRPr lang="en-US" altLang="zh-CN">
              <a:solidFill>
                <a:schemeClr val="tx2"/>
              </a:solidFill>
              <a:uFillTx/>
              <a:latin typeface="Times New Roman" panose="02020603050405020304" pitchFamily="18" charset="0"/>
            </a:endParaRPr>
          </a:p>
        </p:txBody>
      </p:sp>
      <p:pic>
        <p:nvPicPr>
          <p:cNvPr id="18439" name="图片 3"/>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377825" y="2960688"/>
            <a:ext cx="3954463" cy="2552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8440"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132513" y="2673350"/>
            <a:ext cx="1533525" cy="2781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slow" advTm="147941"/>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09825"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9</a:t>
            </a:r>
            <a:endParaRPr lang="zh-CN" altLang="en-US">
              <a:solidFill>
                <a:schemeClr val="bg2">
                  <a:lumMod val="25000"/>
                  <a:lumOff val="75000"/>
                </a:schemeClr>
              </a:solidFill>
            </a:endParaRPr>
          </a:p>
        </p:txBody>
      </p:sp>
      <p:sp>
        <p:nvSpPr>
          <p:cNvPr id="14" name="文本框 13"/>
          <p:cNvSpPr txBox="1"/>
          <p:nvPr/>
        </p:nvSpPr>
        <p:spPr>
          <a:xfrm>
            <a:off x="1547178" y="4640580"/>
            <a:ext cx="2808287"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a:t>
            </a:r>
            <a:endParaRPr lang="en-US" altLang="zh-CN">
              <a:solidFill>
                <a:schemeClr val="tx2"/>
              </a:solidFill>
              <a:uFillTx/>
              <a:latin typeface="Times New Roman" panose="02020603050405020304" pitchFamily="18" charset="0"/>
            </a:endParaRPr>
          </a:p>
        </p:txBody>
      </p:sp>
      <p:sp>
        <p:nvSpPr>
          <p:cNvPr id="20485" name="右箭头 9"/>
          <p:cNvSpPr>
            <a:spLocks noChangeArrowheads="1"/>
          </p:cNvSpPr>
          <p:nvPr/>
        </p:nvSpPr>
        <p:spPr bwMode="auto">
          <a:xfrm>
            <a:off x="4885690" y="3268980"/>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885690" y="2934018"/>
            <a:ext cx="2154238"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cs typeface="Times New Roman" panose="02020603050405020304" pitchFamily="18" charset="0"/>
              </a:rPr>
              <a:t>入栈</a:t>
            </a:r>
            <a:r>
              <a:rPr lang="en-US" altLang="zh-CN">
                <a:solidFill>
                  <a:schemeClr val="tx1"/>
                </a:solidFill>
                <a:uFillTx/>
                <a:latin typeface="Times New Roman" panose="02020603050405020304" pitchFamily="18" charset="0"/>
                <a:cs typeface="Times New Roman" panose="02020603050405020304" pitchFamily="18" charset="0"/>
              </a:rPr>
              <a:t>G</a:t>
            </a:r>
            <a:endParaRPr lang="en-US" altLang="zh-CN">
              <a:solidFill>
                <a:schemeClr val="tx1"/>
              </a:solidFill>
              <a:uFillTx/>
              <a:latin typeface="Times New Roman" panose="02020603050405020304" pitchFamily="18" charset="0"/>
              <a:cs typeface="Times New Roman" panose="02020603050405020304" pitchFamily="18" charset="0"/>
            </a:endParaRPr>
          </a:p>
        </p:txBody>
      </p:sp>
      <p:pic>
        <p:nvPicPr>
          <p:cNvPr id="20487"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91528" y="2087880"/>
            <a:ext cx="3829050" cy="2552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488"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300153" y="1916430"/>
            <a:ext cx="1190625" cy="2771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530"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177347" y="1891485"/>
            <a:ext cx="1219200" cy="2790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10</a:t>
            </a:r>
            <a:endParaRPr lang="zh-CN" altLang="en-US">
              <a:solidFill>
                <a:schemeClr val="bg2">
                  <a:lumMod val="25000"/>
                  <a:lumOff val="75000"/>
                </a:schemeClr>
              </a:solidFill>
            </a:endParaRPr>
          </a:p>
        </p:txBody>
      </p:sp>
      <p:sp>
        <p:nvSpPr>
          <p:cNvPr id="14" name="文本框 13"/>
          <p:cNvSpPr txBox="1"/>
          <p:nvPr/>
        </p:nvSpPr>
        <p:spPr>
          <a:xfrm>
            <a:off x="1321118" y="4563745"/>
            <a:ext cx="2808287"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a:t>
            </a:r>
            <a:endParaRPr lang="en-US" altLang="zh-CN">
              <a:solidFill>
                <a:schemeClr val="tx2"/>
              </a:solidFill>
              <a:uFillTx/>
              <a:latin typeface="Times New Roman" panose="02020603050405020304" pitchFamily="18" charset="0"/>
            </a:endParaRPr>
          </a:p>
        </p:txBody>
      </p:sp>
      <p:sp>
        <p:nvSpPr>
          <p:cNvPr id="22534" name="右箭头 9"/>
          <p:cNvSpPr>
            <a:spLocks noChangeArrowheads="1"/>
          </p:cNvSpPr>
          <p:nvPr/>
        </p:nvSpPr>
        <p:spPr bwMode="auto">
          <a:xfrm>
            <a:off x="4461193" y="317309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353243" y="2803208"/>
            <a:ext cx="21526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将</a:t>
            </a:r>
            <a:r>
              <a:rPr lang="en-US" altLang="zh-CN">
                <a:solidFill>
                  <a:schemeClr val="tx2"/>
                </a:solidFill>
                <a:uFillTx/>
                <a:latin typeface="Times New Roman" panose="02020603050405020304" pitchFamily="18" charset="0"/>
              </a:rPr>
              <a:t>E</a:t>
            </a:r>
            <a:r>
              <a:rPr lang="zh-CN" altLang="en-US">
                <a:solidFill>
                  <a:schemeClr val="tx2"/>
                </a:solidFill>
                <a:uFillTx/>
                <a:latin typeface="Times New Roman" panose="02020603050405020304" pitchFamily="18" charset="0"/>
              </a:rPr>
              <a:t>、</a:t>
            </a:r>
            <a:r>
              <a:rPr lang="en-US" altLang="zh-CN">
                <a:solidFill>
                  <a:schemeClr val="tx2"/>
                </a:solidFill>
                <a:uFillTx/>
                <a:latin typeface="Times New Roman" panose="02020603050405020304" pitchFamily="18" charset="0"/>
              </a:rPr>
              <a:t>G</a:t>
            </a:r>
            <a:r>
              <a:rPr lang="zh-CN" altLang="en-US">
                <a:solidFill>
                  <a:schemeClr val="tx2"/>
                </a:solidFill>
                <a:uFillTx/>
                <a:latin typeface="Times New Roman" panose="02020603050405020304" pitchFamily="18" charset="0"/>
              </a:rPr>
              <a:t>出栈</a:t>
            </a:r>
            <a:endParaRPr lang="zh-CN" altLang="en-US">
              <a:solidFill>
                <a:schemeClr val="tx2"/>
              </a:solidFill>
              <a:uFillTx/>
              <a:latin typeface="Times New Roman" panose="02020603050405020304" pitchFamily="18" charset="0"/>
            </a:endParaRPr>
          </a:p>
        </p:txBody>
      </p:sp>
      <p:pic>
        <p:nvPicPr>
          <p:cNvPr id="22536" name="图片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65468" y="2011045"/>
            <a:ext cx="3829050" cy="2552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2537" name="图片 4"/>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835909" y="1843860"/>
            <a:ext cx="1190625" cy="2771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文本框 8"/>
          <p:cNvSpPr txBox="1"/>
          <p:nvPr/>
        </p:nvSpPr>
        <p:spPr>
          <a:xfrm>
            <a:off x="6232784" y="1699397"/>
            <a:ext cx="793750"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1" name="文本框 10"/>
          <p:cNvSpPr txBox="1"/>
          <p:nvPr/>
        </p:nvSpPr>
        <p:spPr>
          <a:xfrm>
            <a:off x="7596447" y="1659710"/>
            <a:ext cx="793750" cy="369887"/>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11</a:t>
            </a:r>
            <a:endParaRPr lang="zh-CN" altLang="en-US">
              <a:solidFill>
                <a:schemeClr val="bg2">
                  <a:lumMod val="25000"/>
                  <a:lumOff val="75000"/>
                </a:schemeClr>
              </a:solidFill>
            </a:endParaRPr>
          </a:p>
        </p:txBody>
      </p:sp>
      <p:sp>
        <p:nvSpPr>
          <p:cNvPr id="14" name="文本框 13"/>
          <p:cNvSpPr txBox="1"/>
          <p:nvPr/>
        </p:nvSpPr>
        <p:spPr>
          <a:xfrm>
            <a:off x="1232218" y="4551680"/>
            <a:ext cx="2808287" cy="369888"/>
          </a:xfrm>
          <a:prstGeom prst="rect">
            <a:avLst/>
          </a:prstGeom>
          <a:noFill/>
        </p:spPr>
        <p:txBody>
          <a:bodyPr>
            <a:spAutoFit/>
          </a:bodyPr>
          <a:lstStyle/>
          <a:p>
            <a:pPr>
              <a:defRPr/>
            </a:pPr>
            <a:r>
              <a:rPr lang="zh-CN" altLang="en-US">
                <a:solidFill>
                  <a:srgbClr val="000066"/>
                </a:solidFill>
                <a:latin typeface="+mj-ea"/>
                <a:ea typeface="+mj-ea"/>
              </a:rPr>
              <a:t>访问结果：</a:t>
            </a:r>
            <a:r>
              <a:rPr lang="en-US" altLang="zh-CN">
                <a:solidFill>
                  <a:srgbClr val="000066"/>
                </a:solidFill>
                <a:latin typeface="+mj-ea"/>
                <a:ea typeface="+mj-ea"/>
              </a:rPr>
              <a:t>A B E G F </a:t>
            </a:r>
            <a:endParaRPr lang="zh-CN" altLang="en-US">
              <a:solidFill>
                <a:srgbClr val="000066"/>
              </a:solidFill>
              <a:latin typeface="+mj-ea"/>
              <a:ea typeface="+mj-ea"/>
            </a:endParaRPr>
          </a:p>
        </p:txBody>
      </p:sp>
      <p:sp>
        <p:nvSpPr>
          <p:cNvPr id="24581" name="右箭头 9"/>
          <p:cNvSpPr>
            <a:spLocks noChangeArrowheads="1"/>
          </p:cNvSpPr>
          <p:nvPr/>
        </p:nvSpPr>
        <p:spPr bwMode="auto">
          <a:xfrm>
            <a:off x="4372293" y="3161030"/>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264343" y="2791143"/>
            <a:ext cx="1289050" cy="369887"/>
          </a:xfrm>
          <a:prstGeom prst="rect">
            <a:avLst/>
          </a:prstGeom>
          <a:noFill/>
        </p:spPr>
        <p:txBody>
          <a:bodyPr>
            <a:spAutoFit/>
          </a:bodyPr>
          <a:lstStyle/>
          <a:p>
            <a:pPr>
              <a:defRPr/>
            </a:pPr>
            <a:r>
              <a:rPr lang="zh-CN" altLang="en-US">
                <a:solidFill>
                  <a:srgbClr val="000066"/>
                </a:solidFill>
                <a:latin typeface="+mj-ea"/>
                <a:ea typeface="+mj-ea"/>
              </a:rPr>
              <a:t>入栈</a:t>
            </a:r>
            <a:r>
              <a:rPr lang="en-US" altLang="zh-CN">
                <a:solidFill>
                  <a:srgbClr val="000066"/>
                </a:solidFill>
                <a:latin typeface="+mj-ea"/>
                <a:ea typeface="+mj-ea"/>
              </a:rPr>
              <a:t>F</a:t>
            </a:r>
            <a:endParaRPr lang="zh-CN" altLang="en-US">
              <a:solidFill>
                <a:srgbClr val="000066"/>
              </a:solidFill>
              <a:latin typeface="+mj-ea"/>
              <a:ea typeface="+mj-ea"/>
            </a:endParaRPr>
          </a:p>
        </p:txBody>
      </p:sp>
      <p:pic>
        <p:nvPicPr>
          <p:cNvPr id="24583" name="图片 3"/>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16280" y="2225993"/>
            <a:ext cx="3324225" cy="2195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584" name="图片 5"/>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7209155" y="1484630"/>
            <a:ext cx="1181100" cy="2981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585" name="图片 2"/>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553393" y="1675130"/>
            <a:ext cx="1219200" cy="2790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文本框 9"/>
          <p:cNvSpPr txBox="1"/>
          <p:nvPr/>
        </p:nvSpPr>
        <p:spPr>
          <a:xfrm>
            <a:off x="5978843" y="1492568"/>
            <a:ext cx="793750"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1" name="文本框 10"/>
          <p:cNvSpPr txBox="1"/>
          <p:nvPr/>
        </p:nvSpPr>
        <p:spPr>
          <a:xfrm>
            <a:off x="7569518" y="1490980"/>
            <a:ext cx="793750" cy="369888"/>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12</a:t>
            </a:r>
            <a:endParaRPr lang="zh-CN" altLang="en-US">
              <a:solidFill>
                <a:schemeClr val="bg2">
                  <a:lumMod val="25000"/>
                  <a:lumOff val="75000"/>
                </a:schemeClr>
              </a:solidFill>
            </a:endParaRPr>
          </a:p>
        </p:txBody>
      </p:sp>
      <p:sp>
        <p:nvSpPr>
          <p:cNvPr id="14" name="文本框 13"/>
          <p:cNvSpPr txBox="1"/>
          <p:nvPr/>
        </p:nvSpPr>
        <p:spPr>
          <a:xfrm>
            <a:off x="1618298" y="4396105"/>
            <a:ext cx="3140075"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F C H </a:t>
            </a:r>
            <a:endParaRPr lang="en-US" altLang="zh-CN">
              <a:solidFill>
                <a:schemeClr val="tx2"/>
              </a:solidFill>
              <a:uFillTx/>
              <a:latin typeface="Times New Roman" panose="02020603050405020304" pitchFamily="18" charset="0"/>
            </a:endParaRPr>
          </a:p>
        </p:txBody>
      </p:sp>
      <p:sp>
        <p:nvSpPr>
          <p:cNvPr id="26629" name="右箭头 9"/>
          <p:cNvSpPr>
            <a:spLocks noChangeArrowheads="1"/>
          </p:cNvSpPr>
          <p:nvPr/>
        </p:nvSpPr>
        <p:spPr bwMode="auto">
          <a:xfrm>
            <a:off x="4758373" y="300545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650423" y="2635568"/>
            <a:ext cx="12890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入栈</a:t>
            </a:r>
            <a:r>
              <a:rPr lang="en-US" altLang="zh-CN">
                <a:solidFill>
                  <a:schemeClr val="tx2"/>
                </a:solidFill>
                <a:uFillTx/>
                <a:latin typeface="Times New Roman" panose="02020603050405020304" pitchFamily="18" charset="0"/>
              </a:rPr>
              <a:t>C</a:t>
            </a:r>
            <a:r>
              <a:rPr lang="zh-CN" altLang="en-US">
                <a:solidFill>
                  <a:schemeClr val="tx2"/>
                </a:solidFill>
                <a:uFillTx/>
                <a:latin typeface="Times New Roman" panose="02020603050405020304" pitchFamily="18" charset="0"/>
              </a:rPr>
              <a:t>、</a:t>
            </a:r>
            <a:r>
              <a:rPr lang="en-US" altLang="zh-CN">
                <a:solidFill>
                  <a:schemeClr val="tx2"/>
                </a:solidFill>
                <a:uFillTx/>
                <a:latin typeface="Times New Roman" panose="02020603050405020304" pitchFamily="18" charset="0"/>
              </a:rPr>
              <a:t>H</a:t>
            </a:r>
            <a:endParaRPr lang="en-US" altLang="zh-CN">
              <a:solidFill>
                <a:schemeClr val="tx2"/>
              </a:solidFill>
              <a:uFillTx/>
              <a:latin typeface="Times New Roman" panose="02020603050405020304" pitchFamily="18" charset="0"/>
            </a:endParaRPr>
          </a:p>
        </p:txBody>
      </p:sp>
      <p:pic>
        <p:nvPicPr>
          <p:cNvPr id="26631" name="图片 4"/>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969010" y="1984693"/>
            <a:ext cx="3646488" cy="236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6632" name="图片 6"/>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299835" y="1916430"/>
            <a:ext cx="1323975" cy="270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674"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900228" y="1884363"/>
            <a:ext cx="1333500" cy="270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13</a:t>
            </a:r>
            <a:endParaRPr lang="zh-CN" altLang="en-US">
              <a:solidFill>
                <a:schemeClr val="bg2">
                  <a:lumMod val="25000"/>
                  <a:lumOff val="75000"/>
                </a:schemeClr>
              </a:solidFill>
            </a:endParaRPr>
          </a:p>
        </p:txBody>
      </p:sp>
      <p:sp>
        <p:nvSpPr>
          <p:cNvPr id="14" name="文本框 13"/>
          <p:cNvSpPr txBox="1"/>
          <p:nvPr/>
        </p:nvSpPr>
        <p:spPr>
          <a:xfrm>
            <a:off x="1221423" y="4537075"/>
            <a:ext cx="3140075"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F C H </a:t>
            </a:r>
            <a:endParaRPr lang="en-US" altLang="zh-CN">
              <a:solidFill>
                <a:schemeClr val="tx2"/>
              </a:solidFill>
              <a:uFillTx/>
              <a:latin typeface="Times New Roman" panose="02020603050405020304" pitchFamily="18" charset="0"/>
            </a:endParaRPr>
          </a:p>
        </p:txBody>
      </p:sp>
      <p:sp>
        <p:nvSpPr>
          <p:cNvPr id="28678" name="右箭头 9"/>
          <p:cNvSpPr>
            <a:spLocks noChangeArrowheads="1"/>
          </p:cNvSpPr>
          <p:nvPr/>
        </p:nvSpPr>
        <p:spPr bwMode="auto">
          <a:xfrm>
            <a:off x="4361498" y="314642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253548" y="2776538"/>
            <a:ext cx="12890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出栈</a:t>
            </a:r>
            <a:r>
              <a:rPr lang="en-US" altLang="zh-CN">
                <a:solidFill>
                  <a:schemeClr val="tx2"/>
                </a:solidFill>
                <a:uFillTx/>
                <a:latin typeface="Times New Roman" panose="02020603050405020304" pitchFamily="18" charset="0"/>
              </a:rPr>
              <a:t>C</a:t>
            </a:r>
            <a:r>
              <a:rPr lang="zh-CN" altLang="en-US">
                <a:solidFill>
                  <a:schemeClr val="tx2"/>
                </a:solidFill>
                <a:uFillTx/>
                <a:latin typeface="Times New Roman" panose="02020603050405020304" pitchFamily="18" charset="0"/>
              </a:rPr>
              <a:t>、</a:t>
            </a:r>
            <a:r>
              <a:rPr lang="en-US" altLang="zh-CN">
                <a:solidFill>
                  <a:schemeClr val="tx2"/>
                </a:solidFill>
                <a:uFillTx/>
                <a:latin typeface="Times New Roman" panose="02020603050405020304" pitchFamily="18" charset="0"/>
              </a:rPr>
              <a:t>H</a:t>
            </a:r>
            <a:endParaRPr lang="en-US" altLang="zh-CN">
              <a:solidFill>
                <a:schemeClr val="tx2"/>
              </a:solidFill>
              <a:uFillTx/>
              <a:latin typeface="Times New Roman" panose="02020603050405020304" pitchFamily="18" charset="0"/>
            </a:endParaRPr>
          </a:p>
        </p:txBody>
      </p:sp>
      <p:pic>
        <p:nvPicPr>
          <p:cNvPr id="28680"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72135" y="2125663"/>
            <a:ext cx="3646488" cy="236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8681" name="图片 6"/>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515928" y="1955800"/>
            <a:ext cx="1323975" cy="270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文本框 9"/>
          <p:cNvSpPr txBox="1"/>
          <p:nvPr/>
        </p:nvSpPr>
        <p:spPr>
          <a:xfrm>
            <a:off x="6014403" y="1738313"/>
            <a:ext cx="793750" cy="369887"/>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1" name="文本框 10"/>
          <p:cNvSpPr txBox="1"/>
          <p:nvPr/>
        </p:nvSpPr>
        <p:spPr>
          <a:xfrm>
            <a:off x="7379653" y="1700213"/>
            <a:ext cx="792162" cy="368300"/>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14</a:t>
            </a:r>
            <a:endParaRPr lang="zh-CN" altLang="en-US">
              <a:solidFill>
                <a:schemeClr val="bg2">
                  <a:lumMod val="25000"/>
                  <a:lumOff val="75000"/>
                </a:schemeClr>
              </a:solidFill>
            </a:endParaRPr>
          </a:p>
        </p:txBody>
      </p:sp>
      <p:sp>
        <p:nvSpPr>
          <p:cNvPr id="14" name="文本框 13"/>
          <p:cNvSpPr txBox="1"/>
          <p:nvPr/>
        </p:nvSpPr>
        <p:spPr>
          <a:xfrm>
            <a:off x="1933893" y="4530725"/>
            <a:ext cx="3140075"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F C H D </a:t>
            </a:r>
            <a:endParaRPr lang="en-US" altLang="zh-CN">
              <a:solidFill>
                <a:schemeClr val="tx2"/>
              </a:solidFill>
              <a:uFillTx/>
              <a:latin typeface="Times New Roman" panose="02020603050405020304" pitchFamily="18" charset="0"/>
            </a:endParaRPr>
          </a:p>
        </p:txBody>
      </p:sp>
      <p:sp>
        <p:nvSpPr>
          <p:cNvPr id="30725" name="右箭头 9"/>
          <p:cNvSpPr>
            <a:spLocks noChangeArrowheads="1"/>
          </p:cNvSpPr>
          <p:nvPr/>
        </p:nvSpPr>
        <p:spPr bwMode="auto">
          <a:xfrm>
            <a:off x="5073968" y="314007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966018" y="2770188"/>
            <a:ext cx="1289050"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入栈</a:t>
            </a:r>
            <a:r>
              <a:rPr lang="en-US" altLang="zh-CN">
                <a:solidFill>
                  <a:schemeClr val="tx1"/>
                </a:solidFill>
                <a:uFillTx/>
                <a:latin typeface="Times New Roman" panose="02020603050405020304" pitchFamily="18" charset="0"/>
              </a:rPr>
              <a:t>D</a:t>
            </a:r>
            <a:endParaRPr lang="en-US" altLang="zh-CN">
              <a:solidFill>
                <a:schemeClr val="tx1"/>
              </a:solidFill>
              <a:uFillTx/>
              <a:latin typeface="Times New Roman" panose="02020603050405020304" pitchFamily="18" charset="0"/>
            </a:endParaRPr>
          </a:p>
        </p:txBody>
      </p:sp>
      <p:pic>
        <p:nvPicPr>
          <p:cNvPr id="30727"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228080" y="1844675"/>
            <a:ext cx="1285875" cy="268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728" name="图片 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060768" y="1762125"/>
            <a:ext cx="3905250" cy="2562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15</a:t>
            </a:r>
            <a:endParaRPr lang="zh-CN" altLang="en-US">
              <a:solidFill>
                <a:schemeClr val="bg2">
                  <a:lumMod val="25000"/>
                  <a:lumOff val="75000"/>
                </a:schemeClr>
              </a:solidFill>
            </a:endParaRPr>
          </a:p>
        </p:txBody>
      </p:sp>
      <p:sp>
        <p:nvSpPr>
          <p:cNvPr id="14" name="文本框 13"/>
          <p:cNvSpPr txBox="1"/>
          <p:nvPr/>
        </p:nvSpPr>
        <p:spPr>
          <a:xfrm>
            <a:off x="1443673" y="4705350"/>
            <a:ext cx="3140075"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访问结果：</a:t>
            </a:r>
            <a:r>
              <a:rPr lang="en-US" altLang="zh-CN">
                <a:solidFill>
                  <a:schemeClr val="tx1"/>
                </a:solidFill>
                <a:uFillTx/>
                <a:latin typeface="Times New Roman" panose="02020603050405020304" pitchFamily="18" charset="0"/>
              </a:rPr>
              <a:t>A B E G F C H D </a:t>
            </a:r>
            <a:endParaRPr lang="en-US" altLang="zh-CN">
              <a:solidFill>
                <a:schemeClr val="tx1"/>
              </a:solidFill>
              <a:uFillTx/>
              <a:latin typeface="Times New Roman" panose="02020603050405020304" pitchFamily="18" charset="0"/>
            </a:endParaRPr>
          </a:p>
        </p:txBody>
      </p:sp>
      <p:sp>
        <p:nvSpPr>
          <p:cNvPr id="32773" name="右箭头 9"/>
          <p:cNvSpPr>
            <a:spLocks noChangeArrowheads="1"/>
          </p:cNvSpPr>
          <p:nvPr/>
        </p:nvSpPr>
        <p:spPr bwMode="auto">
          <a:xfrm>
            <a:off x="4583748" y="3314700"/>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475798" y="2944813"/>
            <a:ext cx="12890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判断出栈</a:t>
            </a:r>
            <a:endParaRPr lang="zh-CN" altLang="en-US">
              <a:solidFill>
                <a:schemeClr val="tx2"/>
              </a:solidFill>
              <a:uFillTx/>
              <a:latin typeface="Times New Roman" panose="02020603050405020304" pitchFamily="18" charset="0"/>
            </a:endParaRPr>
          </a:p>
        </p:txBody>
      </p:sp>
      <p:pic>
        <p:nvPicPr>
          <p:cNvPr id="32775"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5547360" y="2133600"/>
            <a:ext cx="1285875" cy="268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776" name="图片 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70548" y="1936750"/>
            <a:ext cx="3905250" cy="2562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777" name="图片 2"/>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6876098" y="2038350"/>
            <a:ext cx="1371600" cy="2781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文本框 9"/>
          <p:cNvSpPr txBox="1"/>
          <p:nvPr/>
        </p:nvSpPr>
        <p:spPr>
          <a:xfrm>
            <a:off x="6034723" y="2078038"/>
            <a:ext cx="793750"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1" name="文本框 10"/>
          <p:cNvSpPr txBox="1"/>
          <p:nvPr/>
        </p:nvSpPr>
        <p:spPr>
          <a:xfrm>
            <a:off x="7398385" y="2038350"/>
            <a:ext cx="793750" cy="369888"/>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p:transition spd="slow" advTm="147941"/>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16</a:t>
            </a:r>
            <a:endParaRPr lang="zh-CN" altLang="en-US">
              <a:solidFill>
                <a:schemeClr val="bg2">
                  <a:lumMod val="25000"/>
                  <a:lumOff val="75000"/>
                </a:schemeClr>
              </a:solidFill>
            </a:endParaRPr>
          </a:p>
        </p:txBody>
      </p:sp>
      <p:pic>
        <p:nvPicPr>
          <p:cNvPr id="34821"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83260" y="1412240"/>
            <a:ext cx="7839075" cy="2762250"/>
          </a:xfrm>
          <a:prstGeom prst="rect">
            <a:avLst/>
          </a:prstGeom>
          <a:noFill/>
          <a:ln w="9525">
            <a:solidFill>
              <a:srgbClr val="5A93CA"/>
            </a:solidFill>
            <a:miter lim="800000"/>
            <a:headEnd/>
            <a:tailEnd/>
          </a:ln>
          <a:extLst>
            <a:ext uri="{909E8E84-426E-40DD-AFC4-6F175D3DCCD1}">
              <a14:hiddenFill xmlns:a14="http://schemas.microsoft.com/office/drawing/2010/main">
                <a:solidFill>
                  <a:srgbClr val="FFFFFF"/>
                </a:solidFill>
              </a14:hiddenFill>
            </a:ext>
          </a:extLst>
        </p:spPr>
      </p:pic>
      <p:sp>
        <p:nvSpPr>
          <p:cNvPr id="2" name="Rectangle 2"/>
          <p:cNvSpPr txBox="1">
            <a:spLocks noChangeArrowheads="1"/>
          </p:cNvSpPr>
          <p:nvPr/>
        </p:nvSpPr>
        <p:spPr bwMode="auto">
          <a:xfrm>
            <a:off x="323215" y="83629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优先遍历流程算法</a:t>
            </a:r>
            <a:r>
              <a:rPr lang="zh-CN" altLang="en-US" sz="2000" kern="0" smtClean="0">
                <a:solidFill>
                  <a:schemeClr val="tx2"/>
                </a:solidFill>
                <a:uFillTx/>
                <a:latin typeface="Times New Roman" panose="02020603050405020304" pitchFamily="18" charset="0"/>
                <a:ea typeface="宋体" panose="02010600030101010101" pitchFamily="2" charset="-122"/>
              </a:rPr>
              <a:t>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
        <p:nvSpPr>
          <p:cNvPr id="4" name="文本框 3"/>
          <p:cNvSpPr txBox="1"/>
          <p:nvPr/>
        </p:nvSpPr>
        <p:spPr>
          <a:xfrm>
            <a:off x="251460" y="4580890"/>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6.1</a:t>
            </a:r>
            <a:r>
              <a:rPr lang="zh-CN" altLang="en-US" sz="2400" b="1" kern="0" dirty="0">
                <a:uFillTx/>
                <a:latin typeface="Times New Roman" panose="02020603050405020304" pitchFamily="18" charset="0"/>
                <a:cs typeface="Times New Roman" panose="02020603050405020304" pitchFamily="18" charset="0"/>
                <a:sym typeface="+mn-ea"/>
              </a:rPr>
              <a:t>小结</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3" name="文本框 2"/>
          <p:cNvSpPr txBox="1"/>
          <p:nvPr/>
        </p:nvSpPr>
        <p:spPr>
          <a:xfrm>
            <a:off x="680085" y="5229225"/>
            <a:ext cx="7860030" cy="1198880"/>
          </a:xfrm>
          <a:prstGeom prst="rect">
            <a:avLst/>
          </a:prstGeom>
          <a:noFill/>
          <a:ln>
            <a:solidFill>
              <a:srgbClr val="0066FF"/>
            </a:solidFill>
          </a:ln>
        </p:spPr>
        <p:txBody>
          <a:bodyPr wrap="square" rtlCol="0">
            <a:spAutoFit/>
          </a:bodyPr>
          <a:p>
            <a:r>
              <a:rPr lang="zh-CN" altLang="en-US">
                <a:solidFill>
                  <a:srgbClr val="FF0000"/>
                </a:solidFill>
              </a:rPr>
              <a:t>（</a:t>
            </a:r>
            <a:r>
              <a:rPr lang="en-US" altLang="zh-CN">
                <a:solidFill>
                  <a:srgbClr val="FF0000"/>
                </a:solidFill>
              </a:rPr>
              <a:t>1</a:t>
            </a:r>
            <a:r>
              <a:rPr lang="zh-CN" altLang="en-US">
                <a:solidFill>
                  <a:srgbClr val="FF0000"/>
                </a:solidFill>
              </a:rPr>
              <a:t>）回溯的思想</a:t>
            </a:r>
            <a:endParaRPr lang="zh-CN" altLang="en-US">
              <a:solidFill>
                <a:srgbClr val="FF0000"/>
              </a:solidFill>
            </a:endParaRPr>
          </a:p>
          <a:p>
            <a:r>
              <a:rPr lang="zh-CN" altLang="en-US">
                <a:solidFill>
                  <a:srgbClr val="FF0000"/>
                </a:solidFill>
              </a:rPr>
              <a:t>（</a:t>
            </a:r>
            <a:r>
              <a:rPr lang="en-US" altLang="zh-CN">
                <a:solidFill>
                  <a:srgbClr val="FF0000"/>
                </a:solidFill>
              </a:rPr>
              <a:t>2</a:t>
            </a:r>
            <a:r>
              <a:rPr lang="zh-CN" altLang="en-US">
                <a:solidFill>
                  <a:srgbClr val="FF0000"/>
                </a:solidFill>
              </a:rPr>
              <a:t>）回溯算法的基本应用</a:t>
            </a:r>
            <a:endParaRPr lang="zh-CN" altLang="en-US">
              <a:solidFill>
                <a:srgbClr val="FF0000"/>
              </a:solidFill>
            </a:endParaRPr>
          </a:p>
          <a:p>
            <a:pPr lvl="1"/>
            <a:r>
              <a:rPr lang="zh-CN" altLang="en-US">
                <a:solidFill>
                  <a:srgbClr val="FF0000"/>
                </a:solidFill>
              </a:rPr>
              <a:t>①树的搜索</a:t>
            </a:r>
            <a:endParaRPr lang="zh-CN" altLang="en-US">
              <a:solidFill>
                <a:srgbClr val="FF0000"/>
              </a:solidFill>
            </a:endParaRPr>
          </a:p>
          <a:p>
            <a:pPr lvl="1"/>
            <a:r>
              <a:rPr lang="zh-CN" altLang="en-US">
                <a:solidFill>
                  <a:srgbClr val="FF0000"/>
                </a:solidFill>
              </a:rPr>
              <a:t>②图的遍历</a:t>
            </a:r>
            <a:endParaRPr lang="zh-CN" altLang="en-US">
              <a:solidFill>
                <a:srgbClr val="FF0000"/>
              </a:solidFill>
            </a:endParaRPr>
          </a:p>
        </p:txBody>
      </p:sp>
    </p:spTree>
  </p:cSld>
  <p:clrMapOvr>
    <a:masterClrMapping/>
  </p:clrMapOvr>
  <p:transition spd="slow" advTm="437"/>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16</a:t>
            </a:r>
            <a:endParaRPr lang="zh-CN" altLang="en-US">
              <a:solidFill>
                <a:schemeClr val="bg2">
                  <a:lumMod val="25000"/>
                  <a:lumOff val="75000"/>
                </a:schemeClr>
              </a:solidFill>
            </a:endParaRPr>
          </a:p>
        </p:txBody>
      </p:sp>
      <p:grpSp>
        <p:nvGrpSpPr>
          <p:cNvPr id="7" name="组合 6"/>
          <p:cNvGrpSpPr/>
          <p:nvPr/>
        </p:nvGrpSpPr>
        <p:grpSpPr>
          <a:xfrm>
            <a:off x="5220335" y="2060575"/>
            <a:ext cx="3931285" cy="2380615"/>
            <a:chOff x="1417" y="5627"/>
            <a:chExt cx="6191" cy="3749"/>
          </a:xfrm>
        </p:grpSpPr>
        <p:sp>
          <p:nvSpPr>
            <p:cNvPr id="4" name="文本框 3"/>
            <p:cNvSpPr txBox="1"/>
            <p:nvPr/>
          </p:nvSpPr>
          <p:spPr>
            <a:xfrm>
              <a:off x="1417" y="5627"/>
              <a:ext cx="6191" cy="580"/>
            </a:xfrm>
            <a:prstGeom prst="rect">
              <a:avLst/>
            </a:prstGeom>
            <a:noFill/>
          </p:spPr>
          <p:txBody>
            <a:bodyPr wrap="square" rtlCol="0">
              <a:spAutoFit/>
            </a:bodyPr>
            <a:p>
              <a:r>
                <a:rPr lang="en-US" altLang="zh-CN"/>
                <a:t>0-1</a:t>
              </a:r>
              <a:r>
                <a:rPr lang="zh-CN" altLang="en-US"/>
                <a:t>背包问题？</a:t>
              </a:r>
              <a:endParaRPr lang="zh-CN" altLang="en-US"/>
            </a:p>
          </p:txBody>
        </p:sp>
        <p:pic>
          <p:nvPicPr>
            <p:cNvPr id="5" name="图片 4"/>
            <p:cNvPicPr>
              <a:picLocks noChangeAspect="1"/>
            </p:cNvPicPr>
            <p:nvPr/>
          </p:nvPicPr>
          <p:blipFill>
            <a:blip r:embed="rId1"/>
            <a:stretch>
              <a:fillRect/>
            </a:stretch>
          </p:blipFill>
          <p:spPr>
            <a:xfrm>
              <a:off x="1757" y="6421"/>
              <a:ext cx="5113" cy="2955"/>
            </a:xfrm>
            <a:prstGeom prst="rect">
              <a:avLst/>
            </a:prstGeom>
          </p:spPr>
        </p:pic>
      </p:grpSp>
      <p:sp>
        <p:nvSpPr>
          <p:cNvPr id="8" name="文本框 7"/>
          <p:cNvSpPr txBox="1"/>
          <p:nvPr/>
        </p:nvSpPr>
        <p:spPr>
          <a:xfrm>
            <a:off x="755650" y="4725035"/>
            <a:ext cx="7136130" cy="694055"/>
          </a:xfrm>
          <a:prstGeom prst="rect">
            <a:avLst/>
          </a:prstGeom>
          <a:noFill/>
        </p:spPr>
        <p:txBody>
          <a:bodyPr wrap="square" rtlCol="0">
            <a:noAutofit/>
          </a:bodyPr>
          <a:p>
            <a:r>
              <a:rPr lang="zh-CN" altLang="en-US"/>
              <a:t>尝试列出问题的所有可能解？或者说列出问题的</a:t>
            </a:r>
            <a:r>
              <a:rPr lang="zh-CN" altLang="en-US"/>
              <a:t>搜索树。</a:t>
            </a:r>
            <a:endParaRPr lang="zh-CN" altLang="en-US"/>
          </a:p>
        </p:txBody>
      </p:sp>
      <p:sp>
        <p:nvSpPr>
          <p:cNvPr id="9" name="文本框 8"/>
          <p:cNvSpPr txBox="1"/>
          <p:nvPr/>
        </p:nvSpPr>
        <p:spPr>
          <a:xfrm>
            <a:off x="683260" y="908685"/>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6.2.1 </a:t>
            </a:r>
            <a:r>
              <a:rPr lang="zh-CN" altLang="en-US" sz="2400" kern="0">
                <a:solidFill>
                  <a:schemeClr val="tx1"/>
                </a:solidFill>
                <a:uFillTx/>
                <a:latin typeface="Times New Roman" panose="02020603050405020304" pitchFamily="18" charset="0"/>
                <a:sym typeface="+mn-ea"/>
              </a:rPr>
              <a:t>为什么说全排列和子集问题重要</a:t>
            </a:r>
            <a:endParaRPr lang="zh-CN" altLang="en-US" sz="2400" b="1" kern="0" dirty="0">
              <a:solidFill>
                <a:schemeClr val="tx1"/>
              </a:solidFill>
              <a:uFillTx/>
              <a:latin typeface="Times New Roman" panose="02020603050405020304" pitchFamily="18" charset="0"/>
              <a:cs typeface="Times New Roman" panose="02020603050405020304" pitchFamily="18" charset="0"/>
              <a:sym typeface="+mn-ea"/>
            </a:endParaRPr>
          </a:p>
        </p:txBody>
      </p:sp>
      <p:sp>
        <p:nvSpPr>
          <p:cNvPr id="11" name="文本框 10"/>
          <p:cNvSpPr txBox="1"/>
          <p:nvPr/>
        </p:nvSpPr>
        <p:spPr>
          <a:xfrm>
            <a:off x="539115" y="2187575"/>
            <a:ext cx="3931285" cy="368300"/>
          </a:xfrm>
          <a:prstGeom prst="rect">
            <a:avLst/>
          </a:prstGeom>
          <a:noFill/>
        </p:spPr>
        <p:txBody>
          <a:bodyPr wrap="square" rtlCol="0">
            <a:spAutoFit/>
          </a:bodyPr>
          <a:p>
            <a:r>
              <a:rPr lang="zh-CN" altLang="en-US"/>
              <a:t>暴力</a:t>
            </a:r>
            <a:r>
              <a:rPr lang="zh-CN" altLang="en-US"/>
              <a:t>枚举</a:t>
            </a:r>
            <a:endParaRPr lang="zh-CN" altLang="en-US"/>
          </a:p>
        </p:txBody>
      </p:sp>
      <p:sp>
        <p:nvSpPr>
          <p:cNvPr id="13" name="文本框 12"/>
          <p:cNvSpPr txBox="1"/>
          <p:nvPr/>
        </p:nvSpPr>
        <p:spPr>
          <a:xfrm>
            <a:off x="2239645" y="2694305"/>
            <a:ext cx="748030" cy="368300"/>
          </a:xfrm>
          <a:prstGeom prst="rect">
            <a:avLst/>
          </a:prstGeom>
          <a:noFill/>
        </p:spPr>
        <p:txBody>
          <a:bodyPr wrap="square" rtlCol="0">
            <a:spAutoFit/>
          </a:bodyPr>
          <a:p>
            <a:r>
              <a:rPr lang="en-US" altLang="zh-CN">
                <a:solidFill>
                  <a:schemeClr val="tx1"/>
                </a:solidFill>
                <a:uFillTx/>
                <a:latin typeface="Times New Roman" panose="02020603050405020304" pitchFamily="18" charset="0"/>
              </a:rPr>
              <a:t>A B</a:t>
            </a:r>
            <a:endParaRPr lang="en-US" altLang="zh-CN">
              <a:solidFill>
                <a:schemeClr val="tx1"/>
              </a:solidFill>
              <a:uFillTx/>
              <a:latin typeface="Times New Roman" panose="02020603050405020304" pitchFamily="18" charset="0"/>
            </a:endParaRPr>
          </a:p>
        </p:txBody>
      </p:sp>
      <p:sp>
        <p:nvSpPr>
          <p:cNvPr id="14" name="文本框 13"/>
          <p:cNvSpPr txBox="1"/>
          <p:nvPr/>
        </p:nvSpPr>
        <p:spPr>
          <a:xfrm>
            <a:off x="2239645" y="3068955"/>
            <a:ext cx="748030" cy="368300"/>
          </a:xfrm>
          <a:prstGeom prst="rect">
            <a:avLst/>
          </a:prstGeom>
          <a:noFill/>
        </p:spPr>
        <p:txBody>
          <a:bodyPr wrap="square" rtlCol="0">
            <a:spAutoFit/>
          </a:bodyPr>
          <a:p>
            <a:r>
              <a:rPr lang="en-US" altLang="zh-CN">
                <a:solidFill>
                  <a:schemeClr val="tx1"/>
                </a:solidFill>
                <a:uFillTx/>
                <a:latin typeface="Times New Roman" panose="02020603050405020304" pitchFamily="18" charset="0"/>
              </a:rPr>
              <a:t>A </a:t>
            </a:r>
            <a:r>
              <a:rPr lang="en-US" altLang="zh-CN">
                <a:solidFill>
                  <a:schemeClr val="tx1"/>
                </a:solidFill>
                <a:uFillTx/>
                <a:latin typeface="Times New Roman" panose="02020603050405020304" pitchFamily="18" charset="0"/>
              </a:rPr>
              <a:t>C</a:t>
            </a:r>
            <a:endParaRPr lang="en-US" altLang="zh-CN">
              <a:solidFill>
                <a:schemeClr val="tx1"/>
              </a:solidFill>
              <a:uFillTx/>
              <a:latin typeface="Times New Roman" panose="02020603050405020304" pitchFamily="18" charset="0"/>
            </a:endParaRPr>
          </a:p>
        </p:txBody>
      </p:sp>
      <p:sp>
        <p:nvSpPr>
          <p:cNvPr id="15" name="文本框 14"/>
          <p:cNvSpPr txBox="1"/>
          <p:nvPr/>
        </p:nvSpPr>
        <p:spPr>
          <a:xfrm>
            <a:off x="1763395" y="2899410"/>
            <a:ext cx="411480" cy="368300"/>
          </a:xfrm>
          <a:prstGeom prst="rect">
            <a:avLst/>
          </a:prstGeom>
          <a:noFill/>
        </p:spPr>
        <p:txBody>
          <a:bodyPr wrap="none" rtlCol="0" anchor="t">
            <a:spAutoFit/>
          </a:bodyPr>
          <a:p>
            <a:r>
              <a:rPr lang="zh-CN" altLang="en-US">
                <a:latin typeface="宋体" panose="02010600030101010101" pitchFamily="2" charset="-122"/>
              </a:rPr>
              <a:t>＋</a:t>
            </a:r>
            <a:endParaRPr lang="zh-CN" altLang="en-US">
              <a:latin typeface="宋体" panose="02010600030101010101" pitchFamily="2" charset="-122"/>
            </a:endParaRPr>
          </a:p>
        </p:txBody>
      </p:sp>
      <p:cxnSp>
        <p:nvCxnSpPr>
          <p:cNvPr id="16" name="直接连接符 15"/>
          <p:cNvCxnSpPr/>
          <p:nvPr/>
        </p:nvCxnSpPr>
        <p:spPr>
          <a:xfrm>
            <a:off x="1589405" y="3500120"/>
            <a:ext cx="1902460" cy="63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7" name="文本框 16"/>
          <p:cNvSpPr txBox="1"/>
          <p:nvPr/>
        </p:nvSpPr>
        <p:spPr>
          <a:xfrm>
            <a:off x="2051685" y="3563620"/>
            <a:ext cx="748030" cy="368300"/>
          </a:xfrm>
          <a:prstGeom prst="rect">
            <a:avLst/>
          </a:prstGeom>
          <a:noFill/>
        </p:spPr>
        <p:txBody>
          <a:bodyPr wrap="square" rtlCol="0">
            <a:spAutoFit/>
          </a:bodyPr>
          <a:p>
            <a:r>
              <a:rPr lang="en-US" altLang="zh-CN">
                <a:solidFill>
                  <a:schemeClr val="tx1"/>
                </a:solidFill>
                <a:uFillTx/>
                <a:latin typeface="Times New Roman" panose="02020603050405020304" pitchFamily="18" charset="0"/>
              </a:rPr>
              <a:t>B </a:t>
            </a:r>
            <a:r>
              <a:rPr lang="en-US" altLang="zh-CN">
                <a:solidFill>
                  <a:schemeClr val="tx1"/>
                </a:solidFill>
                <a:uFillTx/>
                <a:latin typeface="Times New Roman" panose="02020603050405020304" pitchFamily="18" charset="0"/>
              </a:rPr>
              <a:t>C A </a:t>
            </a:r>
            <a:endParaRPr lang="en-US" altLang="zh-CN">
              <a:solidFill>
                <a:schemeClr val="tx1"/>
              </a:solidFill>
              <a:uFillTx/>
              <a:latin typeface="Times New Roman" panose="02020603050405020304" pitchFamily="18" charset="0"/>
            </a:endParaRPr>
          </a:p>
        </p:txBody>
      </p:sp>
    </p:spTree>
  </p:cSld>
  <p:clrMapOvr>
    <a:masterClrMapping/>
  </p:clrMapOvr>
  <p:transition spd="slow" advTm="437"/>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539750" y="1557020"/>
            <a:ext cx="4032250" cy="442595"/>
          </a:xfrm>
          <a:prstGeom prst="rect">
            <a:avLst/>
          </a:prstGeom>
          <a:noFill/>
        </p:spPr>
        <p:txBody>
          <a:bodyPr>
            <a:noAutofit/>
          </a:bodyPr>
          <a:p>
            <a:pPr>
              <a:defRPr/>
            </a:pPr>
            <a:r>
              <a:rPr lang="zh-CN" altLang="en-US">
                <a:solidFill>
                  <a:srgbClr val="000066"/>
                </a:solidFill>
                <a:latin typeface="+mj-ea"/>
                <a:ea typeface="+mj-ea"/>
              </a:rPr>
              <a:t>假设有数组元素</a:t>
            </a:r>
            <a:r>
              <a:rPr lang="en-US" altLang="zh-CN">
                <a:solidFill>
                  <a:srgbClr val="000066"/>
                </a:solidFill>
                <a:latin typeface="+mj-ea"/>
                <a:ea typeface="+mj-ea"/>
              </a:rPr>
              <a:t>nums = [1,2,3] </a:t>
            </a:r>
            <a:endParaRPr lang="zh-CN" altLang="en-US">
              <a:solidFill>
                <a:srgbClr val="000066"/>
              </a:solidFill>
              <a:latin typeface="+mj-ea"/>
              <a:ea typeface="+mj-ea"/>
            </a:endParaRPr>
          </a:p>
        </p:txBody>
      </p:sp>
      <p:sp>
        <p:nvSpPr>
          <p:cNvPr id="5" name="文本框 4"/>
          <p:cNvSpPr txBox="1"/>
          <p:nvPr/>
        </p:nvSpPr>
        <p:spPr>
          <a:xfrm>
            <a:off x="539750" y="1988820"/>
            <a:ext cx="4481195" cy="448945"/>
          </a:xfrm>
          <a:prstGeom prst="rect">
            <a:avLst/>
          </a:prstGeom>
          <a:noFill/>
        </p:spPr>
        <p:txBody>
          <a:bodyPr>
            <a:noAutofit/>
          </a:bodyPr>
          <a:p>
            <a:pPr>
              <a:defRPr/>
            </a:pPr>
            <a:r>
              <a:rPr lang="zh-CN" altLang="en-US">
                <a:solidFill>
                  <a:srgbClr val="000066"/>
                </a:solidFill>
                <a:latin typeface="+mj-ea"/>
                <a:ea typeface="+mj-ea"/>
              </a:rPr>
              <a:t>找出</a:t>
            </a:r>
            <a:r>
              <a:rPr lang="en-US" altLang="zh-CN">
                <a:solidFill>
                  <a:srgbClr val="000066"/>
                </a:solidFill>
                <a:latin typeface="+mj-ea"/>
                <a:ea typeface="+mj-ea"/>
              </a:rPr>
              <a:t>nums</a:t>
            </a:r>
            <a:r>
              <a:rPr lang="zh-CN" altLang="en-US">
                <a:solidFill>
                  <a:srgbClr val="000066"/>
                </a:solidFill>
                <a:latin typeface="+mj-ea"/>
                <a:ea typeface="+mj-ea"/>
              </a:rPr>
              <a:t>数组元素所有的全排列集合？</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7" name="文本框 6"/>
          <p:cNvSpPr txBox="1"/>
          <p:nvPr/>
        </p:nvSpPr>
        <p:spPr>
          <a:xfrm>
            <a:off x="576580" y="3429000"/>
            <a:ext cx="2649855" cy="1005840"/>
          </a:xfrm>
          <a:prstGeom prst="rect">
            <a:avLst/>
          </a:prstGeom>
          <a:solidFill>
            <a:schemeClr val="accent1">
              <a:lumMod val="60000"/>
              <a:lumOff val="40000"/>
            </a:schemeClr>
          </a:solidFill>
        </p:spPr>
        <p:txBody>
          <a:bodyPr>
            <a:noAutofit/>
          </a:bodyPr>
          <a:p>
            <a:pPr algn="ctr">
              <a:defRPr/>
            </a:pPr>
            <a:r>
              <a:rPr lang="en-US" altLang="zh-CN">
                <a:solidFill>
                  <a:srgbClr val="000066"/>
                </a:solidFill>
                <a:latin typeface="+mj-ea"/>
                <a:ea typeface="+mj-ea"/>
              </a:rPr>
              <a:t>[[1,2,3],[1,3,2],[2,1,3]</a:t>
            </a:r>
            <a:endParaRPr lang="en-US" altLang="zh-CN">
              <a:solidFill>
                <a:srgbClr val="000066"/>
              </a:solidFill>
              <a:latin typeface="+mj-ea"/>
              <a:ea typeface="+mj-ea"/>
            </a:endParaRPr>
          </a:p>
          <a:p>
            <a:pPr algn="ctr">
              <a:defRPr/>
            </a:pPr>
            <a:endParaRPr lang="en-US" altLang="zh-CN">
              <a:solidFill>
                <a:srgbClr val="000066"/>
              </a:solidFill>
              <a:latin typeface="+mj-ea"/>
              <a:ea typeface="+mj-ea"/>
            </a:endParaRPr>
          </a:p>
          <a:p>
            <a:pPr algn="ctr">
              <a:defRPr/>
            </a:pPr>
            <a:r>
              <a:rPr lang="en-US" altLang="zh-CN">
                <a:solidFill>
                  <a:srgbClr val="000066"/>
                </a:solidFill>
                <a:latin typeface="+mj-ea"/>
                <a:ea typeface="+mj-ea"/>
              </a:rPr>
              <a:t>[2,3,1],[3,1,2],[3,2,1]] </a:t>
            </a:r>
            <a:endParaRPr lang="zh-CN" altLang="en-US">
              <a:solidFill>
                <a:srgbClr val="000066"/>
              </a:solidFill>
              <a:latin typeface="+mj-ea"/>
              <a:ea typeface="+mj-ea"/>
            </a:endParaRPr>
          </a:p>
        </p:txBody>
      </p:sp>
      <p:sp>
        <p:nvSpPr>
          <p:cNvPr id="32773" name="右箭头 9"/>
          <p:cNvSpPr>
            <a:spLocks noChangeArrowheads="1"/>
          </p:cNvSpPr>
          <p:nvPr/>
        </p:nvSpPr>
        <p:spPr bwMode="auto">
          <a:xfrm>
            <a:off x="3348355" y="3842385"/>
            <a:ext cx="1529715" cy="49784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9" name="文本框 8"/>
          <p:cNvSpPr txBox="1"/>
          <p:nvPr/>
        </p:nvSpPr>
        <p:spPr>
          <a:xfrm>
            <a:off x="3348355" y="3501390"/>
            <a:ext cx="1456690" cy="429895"/>
          </a:xfrm>
          <a:prstGeom prst="rect">
            <a:avLst/>
          </a:prstGeom>
          <a:noFill/>
        </p:spPr>
        <p:txBody>
          <a:bodyPr>
            <a:noAutofit/>
          </a:bodyPr>
          <a:p>
            <a:pPr>
              <a:defRPr/>
            </a:pPr>
            <a:r>
              <a:rPr lang="zh-CN" altLang="en-US">
                <a:solidFill>
                  <a:srgbClr val="000066"/>
                </a:solidFill>
                <a:latin typeface="+mj-ea"/>
                <a:ea typeface="+mj-ea"/>
              </a:rPr>
              <a:t>转成树结构</a:t>
            </a:r>
            <a:r>
              <a:rPr lang="en-US" altLang="zh-CN">
                <a:solidFill>
                  <a:srgbClr val="000066"/>
                </a:solidFill>
                <a:latin typeface="+mj-ea"/>
                <a:ea typeface="+mj-ea"/>
              </a:rPr>
              <a:t> </a:t>
            </a:r>
            <a:endParaRPr lang="zh-CN" altLang="en-US">
              <a:solidFill>
                <a:srgbClr val="000066"/>
              </a:solidFill>
              <a:latin typeface="+mj-ea"/>
              <a:ea typeface="+mj-ea"/>
            </a:endParaRPr>
          </a:p>
        </p:txBody>
      </p:sp>
      <p:grpSp>
        <p:nvGrpSpPr>
          <p:cNvPr id="72" name="组合 71"/>
          <p:cNvGrpSpPr/>
          <p:nvPr/>
        </p:nvGrpSpPr>
        <p:grpSpPr>
          <a:xfrm>
            <a:off x="5220335" y="1988820"/>
            <a:ext cx="3688080" cy="2864485"/>
            <a:chOff x="8221" y="3132"/>
            <a:chExt cx="5808" cy="4511"/>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 name="组合 1"/>
            <p:cNvGrpSpPr/>
            <p:nvPr/>
          </p:nvGrpSpPr>
          <p:grpSpPr>
            <a:xfrm>
              <a:off x="11440" y="6011"/>
              <a:ext cx="538" cy="539"/>
              <a:chOff x="10489" y="3359"/>
              <a:chExt cx="1018" cy="917"/>
            </a:xfrm>
          </p:grpSpPr>
          <p:sp>
            <p:nvSpPr>
              <p:cNvPr id="3" name="椭圆 2"/>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3"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grpSp>
        <p:nvGrpSpPr>
          <p:cNvPr id="72" name="组合 71"/>
          <p:cNvGrpSpPr/>
          <p:nvPr/>
        </p:nvGrpSpPr>
        <p:grpSpPr>
          <a:xfrm>
            <a:off x="828040" y="2276475"/>
            <a:ext cx="3688080" cy="2864485"/>
            <a:chOff x="8221" y="3132"/>
            <a:chExt cx="5808" cy="4511"/>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 name="组合 4"/>
            <p:cNvGrpSpPr/>
            <p:nvPr/>
          </p:nvGrpSpPr>
          <p:grpSpPr>
            <a:xfrm>
              <a:off x="11440" y="6011"/>
              <a:ext cx="538" cy="539"/>
              <a:chOff x="10489" y="3359"/>
              <a:chExt cx="1018" cy="917"/>
            </a:xfrm>
          </p:grpSpPr>
          <p:sp>
            <p:nvSpPr>
              <p:cNvPr id="6" name="椭圆 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 name="文本框 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6"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9" name="文本框 8"/>
          <p:cNvSpPr txBox="1"/>
          <p:nvPr/>
        </p:nvSpPr>
        <p:spPr>
          <a:xfrm>
            <a:off x="611505" y="1462405"/>
            <a:ext cx="4481195" cy="448945"/>
          </a:xfrm>
          <a:prstGeom prst="rect">
            <a:avLst/>
          </a:prstGeom>
          <a:noFill/>
        </p:spPr>
        <p:txBody>
          <a:bodyPr>
            <a:noAutofit/>
          </a:bodyPr>
          <a:p>
            <a:pPr>
              <a:defRPr/>
            </a:pPr>
            <a:r>
              <a:rPr lang="zh-CN" altLang="en-US">
                <a:solidFill>
                  <a:srgbClr val="000066"/>
                </a:solidFill>
                <a:latin typeface="+mj-ea"/>
                <a:ea typeface="+mj-ea"/>
              </a:rPr>
              <a:t>如何设计全排列</a:t>
            </a:r>
            <a:r>
              <a:rPr lang="en-US" altLang="zh-CN">
                <a:solidFill>
                  <a:srgbClr val="000066"/>
                </a:solidFill>
                <a:latin typeface="+mj-ea"/>
                <a:ea typeface="+mj-ea"/>
              </a:rPr>
              <a:t>I</a:t>
            </a:r>
            <a:r>
              <a:rPr lang="zh-CN" altLang="en-US">
                <a:solidFill>
                  <a:srgbClr val="000066"/>
                </a:solidFill>
                <a:latin typeface="+mj-ea"/>
                <a:ea typeface="+mj-ea"/>
              </a:rPr>
              <a:t>的程序？</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75" name="弧形 74"/>
          <p:cNvSpPr/>
          <p:nvPr/>
        </p:nvSpPr>
        <p:spPr>
          <a:xfrm flipH="1">
            <a:off x="1136650" y="4004945"/>
            <a:ext cx="807720" cy="1555115"/>
          </a:xfrm>
          <a:prstGeom prst="arc">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6" name="弧形 75"/>
          <p:cNvSpPr/>
          <p:nvPr/>
        </p:nvSpPr>
        <p:spPr>
          <a:xfrm rot="1500000" flipH="1" flipV="1">
            <a:off x="859155" y="2778760"/>
            <a:ext cx="934720" cy="2374265"/>
          </a:xfrm>
          <a:prstGeom prst="arc">
            <a:avLst>
              <a:gd name="adj1" fmla="val 16200000"/>
              <a:gd name="adj2" fmla="val 2141762"/>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7" name="文本框 76"/>
          <p:cNvSpPr txBox="1"/>
          <p:nvPr/>
        </p:nvSpPr>
        <p:spPr>
          <a:xfrm>
            <a:off x="683895" y="3085465"/>
            <a:ext cx="4010025" cy="783590"/>
          </a:xfrm>
          <a:prstGeom prst="rect">
            <a:avLst/>
          </a:prstGeom>
          <a:noFill/>
          <a:ln w="38100">
            <a:solidFill>
              <a:srgbClr val="FF0000"/>
            </a:solidFill>
          </a:ln>
        </p:spPr>
        <p:txBody>
          <a:bodyPr wrap="square" rtlCol="0">
            <a:noAutofit/>
          </a:bodyPr>
          <a:p>
            <a:endParaRPr lang="zh-CN" altLang="en-US"/>
          </a:p>
        </p:txBody>
      </p:sp>
      <p:sp>
        <p:nvSpPr>
          <p:cNvPr id="78" name="文本框 77"/>
          <p:cNvSpPr txBox="1"/>
          <p:nvPr/>
        </p:nvSpPr>
        <p:spPr>
          <a:xfrm>
            <a:off x="4190365" y="3141345"/>
            <a:ext cx="469265" cy="401320"/>
          </a:xfrm>
          <a:prstGeom prst="rect">
            <a:avLst/>
          </a:prstGeom>
          <a:noFill/>
        </p:spPr>
        <p:txBody>
          <a:bodyPr wrap="square" rtlCol="0">
            <a:noAutofit/>
          </a:bodyPr>
          <a:p>
            <a:r>
              <a:rPr lang="zh-CN" altLang="en-US">
                <a:solidFill>
                  <a:srgbClr val="FF0000"/>
                </a:solidFill>
              </a:rPr>
              <a:t>①</a:t>
            </a:r>
            <a:endParaRPr lang="zh-CN" altLang="en-US">
              <a:solidFill>
                <a:srgbClr val="FF0000"/>
              </a:solidFill>
            </a:endParaRPr>
          </a:p>
        </p:txBody>
      </p:sp>
      <p:sp>
        <p:nvSpPr>
          <p:cNvPr id="79" name="文本框 78"/>
          <p:cNvSpPr txBox="1"/>
          <p:nvPr/>
        </p:nvSpPr>
        <p:spPr>
          <a:xfrm>
            <a:off x="323850" y="4221480"/>
            <a:ext cx="469265" cy="401320"/>
          </a:xfrm>
          <a:prstGeom prst="rect">
            <a:avLst/>
          </a:prstGeom>
          <a:noFill/>
        </p:spPr>
        <p:txBody>
          <a:bodyPr wrap="square" rtlCol="0">
            <a:noAutofit/>
          </a:bodyPr>
          <a:p>
            <a:r>
              <a:rPr lang="zh-CN" altLang="en-US">
                <a:solidFill>
                  <a:srgbClr val="FF0000"/>
                </a:solidFill>
              </a:rPr>
              <a:t>②</a:t>
            </a:r>
            <a:endParaRPr lang="zh-CN" altLang="en-US">
              <a:solidFill>
                <a:srgbClr val="FF0000"/>
              </a:solidFill>
            </a:endParaRPr>
          </a:p>
        </p:txBody>
      </p:sp>
      <p:sp>
        <p:nvSpPr>
          <p:cNvPr id="80" name="文本框 79"/>
          <p:cNvSpPr txBox="1"/>
          <p:nvPr/>
        </p:nvSpPr>
        <p:spPr>
          <a:xfrm>
            <a:off x="1188085" y="4348480"/>
            <a:ext cx="469265" cy="401320"/>
          </a:xfrm>
          <a:prstGeom prst="rect">
            <a:avLst/>
          </a:prstGeom>
          <a:noFill/>
        </p:spPr>
        <p:txBody>
          <a:bodyPr wrap="square" rtlCol="0">
            <a:noAutofit/>
          </a:bodyPr>
          <a:p>
            <a:r>
              <a:rPr lang="zh-CN" altLang="en-US">
                <a:solidFill>
                  <a:srgbClr val="FF0000"/>
                </a:solidFill>
              </a:rPr>
              <a:t>③</a:t>
            </a:r>
            <a:endParaRPr lang="zh-CN" altLang="en-US">
              <a:solidFill>
                <a:srgbClr val="FF0000"/>
              </a:solidFill>
            </a:endParaRPr>
          </a:p>
        </p:txBody>
      </p:sp>
      <p:sp>
        <p:nvSpPr>
          <p:cNvPr id="81" name="文本框 80"/>
          <p:cNvSpPr txBox="1"/>
          <p:nvPr/>
        </p:nvSpPr>
        <p:spPr>
          <a:xfrm>
            <a:off x="5220335" y="2341245"/>
            <a:ext cx="3558540" cy="1097915"/>
          </a:xfrm>
          <a:prstGeom prst="rect">
            <a:avLst/>
          </a:prstGeom>
          <a:noFill/>
        </p:spPr>
        <p:txBody>
          <a:bodyPr wrap="square" rtlCol="0">
            <a:noAutofit/>
          </a:bodyPr>
          <a:p>
            <a:r>
              <a:rPr lang="zh-CN" altLang="en-US"/>
              <a:t>①每一层每个元素都要都有一</a:t>
            </a:r>
            <a:r>
              <a:rPr lang="zh-CN" altLang="en-US"/>
              <a:t>次遍历，是否要遍历要根据元素是否已被</a:t>
            </a:r>
            <a:r>
              <a:rPr lang="zh-CN" altLang="en-US"/>
              <a:t>访问</a:t>
            </a:r>
            <a:endParaRPr lang="zh-CN" altLang="en-US"/>
          </a:p>
        </p:txBody>
      </p:sp>
      <p:sp>
        <p:nvSpPr>
          <p:cNvPr id="82" name="文本框 81"/>
          <p:cNvSpPr txBox="1"/>
          <p:nvPr/>
        </p:nvSpPr>
        <p:spPr>
          <a:xfrm>
            <a:off x="5220335" y="3357245"/>
            <a:ext cx="3558540" cy="812800"/>
          </a:xfrm>
          <a:prstGeom prst="rect">
            <a:avLst/>
          </a:prstGeom>
          <a:noFill/>
        </p:spPr>
        <p:txBody>
          <a:bodyPr wrap="square" rtlCol="0">
            <a:noAutofit/>
          </a:bodyPr>
          <a:p>
            <a:r>
              <a:rPr lang="zh-CN" altLang="en-US"/>
              <a:t>②表示往下递归的方向要标记元素已经被</a:t>
            </a:r>
            <a:r>
              <a:rPr lang="zh-CN" altLang="en-US"/>
              <a:t>访问</a:t>
            </a:r>
            <a:endParaRPr lang="zh-CN" altLang="en-US"/>
          </a:p>
        </p:txBody>
      </p:sp>
      <p:sp>
        <p:nvSpPr>
          <p:cNvPr id="83" name="文本框 82"/>
          <p:cNvSpPr txBox="1"/>
          <p:nvPr/>
        </p:nvSpPr>
        <p:spPr>
          <a:xfrm>
            <a:off x="5292090" y="4237355"/>
            <a:ext cx="3558540" cy="812800"/>
          </a:xfrm>
          <a:prstGeom prst="rect">
            <a:avLst/>
          </a:prstGeom>
          <a:noFill/>
        </p:spPr>
        <p:txBody>
          <a:bodyPr wrap="square" rtlCol="0">
            <a:noAutofit/>
          </a:bodyPr>
          <a:p>
            <a:r>
              <a:rPr lang="zh-CN" altLang="en-US"/>
              <a:t>③表示往上回溯的时候要取消标记，否则在下一个分支就会出现</a:t>
            </a:r>
            <a:r>
              <a:rPr lang="zh-CN" altLang="en-US"/>
              <a:t>问题</a:t>
            </a:r>
            <a:endParaRPr lang="zh-CN" altLang="en-US"/>
          </a:p>
        </p:txBody>
      </p:sp>
      <p:sp>
        <p:nvSpPr>
          <p:cNvPr id="2" name="弧形 1"/>
          <p:cNvSpPr/>
          <p:nvPr/>
        </p:nvSpPr>
        <p:spPr>
          <a:xfrm rot="10140000" flipH="1">
            <a:off x="1652905" y="3597910"/>
            <a:ext cx="295910" cy="1134110"/>
          </a:xfrm>
          <a:prstGeom prst="arc">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 name="文本框 2"/>
          <p:cNvSpPr txBox="1"/>
          <p:nvPr/>
        </p:nvSpPr>
        <p:spPr>
          <a:xfrm>
            <a:off x="1906905" y="4364990"/>
            <a:ext cx="469265" cy="401320"/>
          </a:xfrm>
          <a:prstGeom prst="rect">
            <a:avLst/>
          </a:prstGeom>
          <a:noFill/>
        </p:spPr>
        <p:txBody>
          <a:bodyPr wrap="square" rtlCol="0">
            <a:noAutofit/>
          </a:bodyPr>
          <a:p>
            <a:r>
              <a:rPr lang="zh-CN" altLang="en-US">
                <a:solidFill>
                  <a:srgbClr val="FF0000"/>
                </a:solidFill>
              </a:rPr>
              <a:t>④</a:t>
            </a:r>
            <a:endParaRPr lang="zh-CN" altLang="en-US">
              <a:solidFill>
                <a:srgbClr val="FF0000"/>
              </a:solidFill>
            </a:endParaRPr>
          </a:p>
        </p:txBody>
      </p:sp>
      <p:sp>
        <p:nvSpPr>
          <p:cNvPr id="14" name="文本框 13"/>
          <p:cNvSpPr txBox="1"/>
          <p:nvPr/>
        </p:nvSpPr>
        <p:spPr>
          <a:xfrm>
            <a:off x="5292090" y="5157470"/>
            <a:ext cx="3558540" cy="812800"/>
          </a:xfrm>
          <a:prstGeom prst="rect">
            <a:avLst/>
          </a:prstGeom>
          <a:noFill/>
        </p:spPr>
        <p:txBody>
          <a:bodyPr wrap="square" rtlCol="0">
            <a:noAutofit/>
          </a:bodyPr>
          <a:p>
            <a:r>
              <a:rPr lang="zh-CN" altLang="en-US"/>
              <a:t>④根据根节点状态进入下一个</a:t>
            </a:r>
            <a:r>
              <a:rPr lang="zh-CN" altLang="en-US"/>
              <a:t>分支</a:t>
            </a:r>
            <a:endParaRPr lang="zh-CN" alt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pic>
        <p:nvPicPr>
          <p:cNvPr id="3" name="图片 2"/>
          <p:cNvPicPr/>
          <p:nvPr/>
        </p:nvPicPr>
        <p:blipFill>
          <a:blip r:embed="rId1"/>
          <a:stretch>
            <a:fillRect/>
          </a:stretch>
        </p:blipFill>
        <p:spPr>
          <a:xfrm>
            <a:off x="1691640" y="1988503"/>
            <a:ext cx="5200650" cy="3876674"/>
          </a:xfrm>
          <a:prstGeom prst="rect">
            <a:avLst/>
          </a:prstGeom>
        </p:spPr>
      </p:pic>
      <p:sp>
        <p:nvSpPr>
          <p:cNvPr id="14" name="文本框 13"/>
          <p:cNvSpPr txBox="1"/>
          <p:nvPr/>
        </p:nvSpPr>
        <p:spPr>
          <a:xfrm>
            <a:off x="899795" y="1412875"/>
            <a:ext cx="6430010" cy="780415"/>
          </a:xfrm>
          <a:prstGeom prst="rect">
            <a:avLst/>
          </a:prstGeom>
          <a:noFill/>
        </p:spPr>
        <p:txBody>
          <a:bodyPr wrap="square" rtlCol="0">
            <a:noAutofit/>
          </a:bodyPr>
          <a:p>
            <a:r>
              <a:rPr lang="zh-CN" altLang="en-US"/>
              <a:t>源码实现</a:t>
            </a:r>
            <a:r>
              <a:rPr lang="zh-CN" altLang="en-US"/>
              <a:t>示例：</a:t>
            </a:r>
            <a:endParaRPr lang="zh-CN"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运行流程：（第一层递归会标记第</a:t>
            </a:r>
            <a:r>
              <a:rPr lang="zh-CN" altLang="en-US"/>
              <a:t>一个元素已经</a:t>
            </a:r>
            <a:r>
              <a:rPr lang="zh-CN" altLang="en-US"/>
              <a:t>被访问）</a:t>
            </a:r>
            <a:endParaRPr lang="zh-CN" altLang="en-US"/>
          </a:p>
        </p:txBody>
      </p:sp>
      <p:pic>
        <p:nvPicPr>
          <p:cNvPr id="6" name="图片 5"/>
          <p:cNvPicPr>
            <a:picLocks noChangeAspect="1"/>
          </p:cNvPicPr>
          <p:nvPr/>
        </p:nvPicPr>
        <p:blipFill>
          <a:blip r:embed="rId1"/>
          <a:stretch>
            <a:fillRect/>
          </a:stretch>
        </p:blipFill>
        <p:spPr>
          <a:xfrm>
            <a:off x="1115695" y="1772920"/>
            <a:ext cx="5178425" cy="4631055"/>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运行流程：（第二层递归会标记第</a:t>
            </a:r>
            <a:r>
              <a:rPr lang="zh-CN" altLang="en-US"/>
              <a:t>二个元素已经</a:t>
            </a:r>
            <a:r>
              <a:rPr lang="zh-CN" altLang="en-US"/>
              <a:t>被访问）</a:t>
            </a:r>
            <a:endParaRPr lang="zh-CN" altLang="en-US"/>
          </a:p>
        </p:txBody>
      </p:sp>
      <p:pic>
        <p:nvPicPr>
          <p:cNvPr id="5" name="图片 4"/>
          <p:cNvPicPr/>
          <p:nvPr/>
        </p:nvPicPr>
        <p:blipFill>
          <a:blip r:embed="rId1"/>
          <a:stretch>
            <a:fillRect/>
          </a:stretch>
        </p:blipFill>
        <p:spPr>
          <a:xfrm>
            <a:off x="1181100" y="1844675"/>
            <a:ext cx="6746240" cy="4370705"/>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运行流程：（第三层递归会标记第</a:t>
            </a:r>
            <a:r>
              <a:rPr lang="zh-CN" altLang="en-US"/>
              <a:t>三个元素已经</a:t>
            </a:r>
            <a:r>
              <a:rPr lang="zh-CN" altLang="en-US"/>
              <a:t>被访问）</a:t>
            </a:r>
            <a:endParaRPr lang="zh-CN" altLang="en-US"/>
          </a:p>
        </p:txBody>
      </p:sp>
      <p:pic>
        <p:nvPicPr>
          <p:cNvPr id="2" name="图片 1"/>
          <p:cNvPicPr/>
          <p:nvPr/>
        </p:nvPicPr>
        <p:blipFill>
          <a:blip r:embed="rId1"/>
          <a:stretch>
            <a:fillRect/>
          </a:stretch>
        </p:blipFill>
        <p:spPr>
          <a:xfrm>
            <a:off x="1331595" y="1844675"/>
            <a:ext cx="6250940" cy="437388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运行流程：（第三层递归</a:t>
            </a:r>
            <a:r>
              <a:rPr lang="zh-CN" altLang="en-US"/>
              <a:t>回溯）</a:t>
            </a:r>
            <a:endParaRPr lang="zh-CN" altLang="en-US"/>
          </a:p>
        </p:txBody>
      </p:sp>
      <p:pic>
        <p:nvPicPr>
          <p:cNvPr id="3" name="图片 2"/>
          <p:cNvPicPr>
            <a:picLocks noChangeAspect="1"/>
          </p:cNvPicPr>
          <p:nvPr/>
        </p:nvPicPr>
        <p:blipFill>
          <a:blip r:embed="rId1"/>
          <a:stretch>
            <a:fillRect/>
          </a:stretch>
        </p:blipFill>
        <p:spPr>
          <a:xfrm>
            <a:off x="467995" y="1706880"/>
            <a:ext cx="5674360" cy="4746625"/>
          </a:xfrm>
          <a:prstGeom prst="rect">
            <a:avLst/>
          </a:prstGeom>
        </p:spPr>
      </p:pic>
      <p:sp>
        <p:nvSpPr>
          <p:cNvPr id="5" name="文本框 4"/>
          <p:cNvSpPr txBox="1"/>
          <p:nvPr/>
        </p:nvSpPr>
        <p:spPr>
          <a:xfrm>
            <a:off x="6228080" y="1917065"/>
            <a:ext cx="2915920" cy="1800860"/>
          </a:xfrm>
          <a:prstGeom prst="rect">
            <a:avLst/>
          </a:prstGeom>
          <a:noFill/>
        </p:spPr>
        <p:txBody>
          <a:bodyPr wrap="square" rtlCol="0">
            <a:noAutofit/>
          </a:bodyPr>
          <a:p>
            <a:pPr algn="just"/>
            <a:r>
              <a:rPr lang="zh-CN" altLang="en-US"/>
              <a:t>第三层递归回溯的时候</a:t>
            </a:r>
            <a:r>
              <a:rPr lang="zh-CN" altLang="en-US"/>
              <a:t>已经第三层递归也已经循环</a:t>
            </a:r>
            <a:r>
              <a:rPr lang="zh-CN" altLang="en-US"/>
              <a:t>结束。</a:t>
            </a:r>
            <a:endParaRPr lang="zh-CN" altLang="en-US"/>
          </a:p>
          <a:p>
            <a:pPr algn="just"/>
            <a:r>
              <a:rPr lang="zh-CN" altLang="en-US"/>
              <a:t>此时会直接返回到第二层递归回溯。</a:t>
            </a:r>
            <a:endParaRPr lang="zh-CN" alt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a:t>
            </a:r>
            <a:r>
              <a:rPr lang="zh-CN" altLang="en-US"/>
              <a:t>二层递归</a:t>
            </a:r>
            <a:r>
              <a:rPr lang="zh-CN" altLang="en-US"/>
              <a:t>回溯）</a:t>
            </a:r>
            <a:endParaRPr lang="zh-CN" altLang="en-US"/>
          </a:p>
        </p:txBody>
      </p:sp>
      <p:sp>
        <p:nvSpPr>
          <p:cNvPr id="5" name="文本框 4"/>
          <p:cNvSpPr txBox="1"/>
          <p:nvPr/>
        </p:nvSpPr>
        <p:spPr>
          <a:xfrm>
            <a:off x="6228080" y="1917065"/>
            <a:ext cx="2915920" cy="1800860"/>
          </a:xfrm>
          <a:prstGeom prst="rect">
            <a:avLst/>
          </a:prstGeom>
          <a:noFill/>
        </p:spPr>
        <p:txBody>
          <a:bodyPr wrap="square" rtlCol="0">
            <a:noAutofit/>
          </a:bodyPr>
          <a:p>
            <a:pPr algn="just"/>
            <a:r>
              <a:rPr lang="zh-CN" altLang="en-US"/>
              <a:t>第二层递归回溯的时候递归还没结束，因为第二次递归时候</a:t>
            </a:r>
            <a:r>
              <a:rPr lang="en-US" altLang="zh-CN"/>
              <a:t>i=1</a:t>
            </a:r>
            <a:r>
              <a:rPr lang="zh-CN" altLang="en-US"/>
              <a:t>，此时回溯到标记数组为</a:t>
            </a:r>
            <a:r>
              <a:rPr lang="en-US" altLang="zh-CN"/>
              <a:t>opt=[1,0,0]</a:t>
            </a:r>
            <a:r>
              <a:rPr lang="zh-CN" altLang="en-US"/>
              <a:t>，然后</a:t>
            </a:r>
            <a:r>
              <a:rPr lang="en-US" altLang="zh-CN"/>
              <a:t>i=2</a:t>
            </a:r>
            <a:r>
              <a:rPr lang="zh-CN" altLang="en-US"/>
              <a:t>的时候递归。递归出</a:t>
            </a:r>
            <a:r>
              <a:rPr lang="en-US" altLang="zh-CN"/>
              <a:t>[1,3,2]</a:t>
            </a:r>
            <a:r>
              <a:rPr lang="zh-CN" altLang="en-US"/>
              <a:t>的</a:t>
            </a:r>
            <a:r>
              <a:rPr lang="zh-CN" altLang="en-US"/>
              <a:t>结果。</a:t>
            </a:r>
            <a:endParaRPr lang="zh-CN" altLang="en-US"/>
          </a:p>
        </p:txBody>
      </p:sp>
      <p:pic>
        <p:nvPicPr>
          <p:cNvPr id="2" name="图片 1"/>
          <p:cNvPicPr/>
          <p:nvPr/>
        </p:nvPicPr>
        <p:blipFill>
          <a:blip r:embed="rId1"/>
          <a:stretch>
            <a:fillRect/>
          </a:stretch>
        </p:blipFill>
        <p:spPr>
          <a:xfrm>
            <a:off x="395605" y="1917065"/>
            <a:ext cx="5883275" cy="3974465"/>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2</a:t>
            </a:r>
            <a:r>
              <a:rPr lang="zh-CN" altLang="en-US" sz="3600" kern="0" smtClean="0">
                <a:sym typeface="+mn-ea"/>
              </a:rPr>
              <a:t>）</a:t>
            </a:r>
            <a:r>
              <a:rPr lang="zh-CN" altLang="en-US" sz="3600" kern="0" smtClean="0"/>
              <a:t>子集</a:t>
            </a:r>
            <a:r>
              <a:rPr lang="en-US" altLang="zh-CN" sz="3600" kern="0" smtClean="0"/>
              <a:t>I(</a:t>
            </a:r>
            <a:r>
              <a:rPr lang="zh-CN" altLang="en-US" sz="3600" kern="0" smtClean="0"/>
              <a:t>没有重复元素的子集</a:t>
            </a:r>
            <a:r>
              <a:rPr lang="en-US" altLang="zh-CN" sz="3600" kern="0" smtClean="0"/>
              <a:t>)</a:t>
            </a:r>
            <a:endParaRPr lang="en-US" altLang="zh-CN" sz="3600" kern="0" smtClean="0"/>
          </a:p>
        </p:txBody>
      </p:sp>
      <p:sp>
        <p:nvSpPr>
          <p:cNvPr id="14" name="文本框 13"/>
          <p:cNvSpPr txBox="1"/>
          <p:nvPr/>
        </p:nvSpPr>
        <p:spPr>
          <a:xfrm>
            <a:off x="539750" y="1557020"/>
            <a:ext cx="4032250" cy="442595"/>
          </a:xfrm>
          <a:prstGeom prst="rect">
            <a:avLst/>
          </a:prstGeom>
          <a:noFill/>
        </p:spPr>
        <p:txBody>
          <a:bodyPr>
            <a:noAutofit/>
          </a:bodyPr>
          <a:p>
            <a:pPr>
              <a:defRPr/>
            </a:pPr>
            <a:r>
              <a:rPr lang="zh-CN" altLang="en-US">
                <a:solidFill>
                  <a:srgbClr val="000066"/>
                </a:solidFill>
                <a:latin typeface="+mj-ea"/>
                <a:ea typeface="+mj-ea"/>
              </a:rPr>
              <a:t>假设有数组元素</a:t>
            </a:r>
            <a:r>
              <a:rPr lang="en-US" altLang="zh-CN">
                <a:solidFill>
                  <a:srgbClr val="000066"/>
                </a:solidFill>
                <a:latin typeface="+mj-ea"/>
                <a:ea typeface="+mj-ea"/>
              </a:rPr>
              <a:t>nums = [1,2,3] </a:t>
            </a:r>
            <a:endParaRPr lang="zh-CN" altLang="en-US">
              <a:solidFill>
                <a:srgbClr val="000066"/>
              </a:solidFill>
              <a:latin typeface="+mj-ea"/>
              <a:ea typeface="+mj-ea"/>
            </a:endParaRPr>
          </a:p>
        </p:txBody>
      </p:sp>
      <p:sp>
        <p:nvSpPr>
          <p:cNvPr id="5" name="文本框 4"/>
          <p:cNvSpPr txBox="1"/>
          <p:nvPr/>
        </p:nvSpPr>
        <p:spPr>
          <a:xfrm>
            <a:off x="539750" y="1988820"/>
            <a:ext cx="4481195" cy="448945"/>
          </a:xfrm>
          <a:prstGeom prst="rect">
            <a:avLst/>
          </a:prstGeom>
          <a:noFill/>
        </p:spPr>
        <p:txBody>
          <a:bodyPr>
            <a:noAutofit/>
          </a:bodyPr>
          <a:p>
            <a:pPr>
              <a:defRPr/>
            </a:pPr>
            <a:r>
              <a:rPr lang="zh-CN" altLang="en-US">
                <a:solidFill>
                  <a:srgbClr val="000066"/>
                </a:solidFill>
                <a:latin typeface="+mj-ea"/>
                <a:ea typeface="+mj-ea"/>
              </a:rPr>
              <a:t>找出</a:t>
            </a:r>
            <a:r>
              <a:rPr lang="en-US" altLang="zh-CN">
                <a:solidFill>
                  <a:srgbClr val="000066"/>
                </a:solidFill>
                <a:latin typeface="+mj-ea"/>
                <a:ea typeface="+mj-ea"/>
              </a:rPr>
              <a:t>nums</a:t>
            </a:r>
            <a:r>
              <a:rPr lang="zh-CN" altLang="en-US">
                <a:solidFill>
                  <a:srgbClr val="000066"/>
                </a:solidFill>
                <a:latin typeface="+mj-ea"/>
                <a:ea typeface="+mj-ea"/>
              </a:rPr>
              <a:t>数组元素所有的</a:t>
            </a:r>
            <a:r>
              <a:rPr lang="zh-CN" altLang="en-US">
                <a:solidFill>
                  <a:srgbClr val="000066"/>
                </a:solidFill>
                <a:latin typeface="+mj-ea"/>
                <a:ea typeface="+mj-ea"/>
              </a:rPr>
              <a:t>子集集合？</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7" name="文本框 6"/>
          <p:cNvSpPr txBox="1"/>
          <p:nvPr/>
        </p:nvSpPr>
        <p:spPr>
          <a:xfrm>
            <a:off x="576580" y="3429000"/>
            <a:ext cx="2649855" cy="1005840"/>
          </a:xfrm>
          <a:prstGeom prst="rect">
            <a:avLst/>
          </a:prstGeom>
          <a:solidFill>
            <a:schemeClr val="accent1">
              <a:lumMod val="60000"/>
              <a:lumOff val="40000"/>
            </a:schemeClr>
          </a:solidFill>
        </p:spPr>
        <p:txBody>
          <a:bodyPr>
            <a:noAutofit/>
          </a:bodyPr>
          <a:p>
            <a:pPr algn="ctr">
              <a:defRPr/>
            </a:pPr>
            <a:r>
              <a:rPr lang="en-US" altLang="zh-CN">
                <a:solidFill>
                  <a:srgbClr val="000066"/>
                </a:solidFill>
                <a:latin typeface="+mj-ea"/>
                <a:ea typeface="+mj-ea"/>
              </a:rPr>
              <a:t>[[1,2,3],[1,2],[1,3]</a:t>
            </a:r>
            <a:endParaRPr lang="en-US" altLang="zh-CN">
              <a:solidFill>
                <a:srgbClr val="000066"/>
              </a:solidFill>
              <a:latin typeface="+mj-ea"/>
              <a:ea typeface="+mj-ea"/>
            </a:endParaRPr>
          </a:p>
          <a:p>
            <a:pPr algn="ctr">
              <a:defRPr/>
            </a:pPr>
            <a:endParaRPr lang="en-US" altLang="zh-CN">
              <a:solidFill>
                <a:srgbClr val="000066"/>
              </a:solidFill>
              <a:latin typeface="+mj-ea"/>
              <a:ea typeface="+mj-ea"/>
            </a:endParaRPr>
          </a:p>
          <a:p>
            <a:pPr algn="ctr">
              <a:defRPr/>
            </a:pPr>
            <a:r>
              <a:rPr lang="en-US" altLang="zh-CN">
                <a:solidFill>
                  <a:srgbClr val="000066"/>
                </a:solidFill>
                <a:latin typeface="+mj-ea"/>
                <a:ea typeface="+mj-ea"/>
              </a:rPr>
              <a:t>[2,3],[1],</a:t>
            </a:r>
            <a:r>
              <a:rPr lang="en-US" altLang="zh-CN">
                <a:solidFill>
                  <a:srgbClr val="000066"/>
                </a:solidFill>
                <a:latin typeface="+mj-ea"/>
                <a:ea typeface="+mj-ea"/>
                <a:sym typeface="+mn-ea"/>
              </a:rPr>
              <a:t>[2],[3],</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32773" name="右箭头 9"/>
          <p:cNvSpPr>
            <a:spLocks noChangeArrowheads="1"/>
          </p:cNvSpPr>
          <p:nvPr/>
        </p:nvSpPr>
        <p:spPr bwMode="auto">
          <a:xfrm>
            <a:off x="3348355" y="3842385"/>
            <a:ext cx="1529715" cy="49784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9" name="文本框 8"/>
          <p:cNvSpPr txBox="1"/>
          <p:nvPr/>
        </p:nvSpPr>
        <p:spPr>
          <a:xfrm>
            <a:off x="3348355" y="3501390"/>
            <a:ext cx="1456690" cy="429895"/>
          </a:xfrm>
          <a:prstGeom prst="rect">
            <a:avLst/>
          </a:prstGeom>
          <a:noFill/>
        </p:spPr>
        <p:txBody>
          <a:bodyPr>
            <a:noAutofit/>
          </a:bodyPr>
          <a:p>
            <a:pPr>
              <a:defRPr/>
            </a:pPr>
            <a:r>
              <a:rPr lang="zh-CN" altLang="en-US">
                <a:solidFill>
                  <a:srgbClr val="000066"/>
                </a:solidFill>
                <a:latin typeface="+mj-ea"/>
                <a:ea typeface="+mj-ea"/>
              </a:rPr>
              <a:t>转成树结构</a:t>
            </a:r>
            <a:r>
              <a:rPr lang="en-US" altLang="zh-CN">
                <a:solidFill>
                  <a:srgbClr val="000066"/>
                </a:solidFill>
                <a:latin typeface="+mj-ea"/>
                <a:ea typeface="+mj-ea"/>
              </a:rPr>
              <a:t> </a:t>
            </a:r>
            <a:endParaRPr lang="zh-CN" altLang="en-US">
              <a:solidFill>
                <a:srgbClr val="000066"/>
              </a:solidFill>
              <a:latin typeface="+mj-ea"/>
              <a:ea typeface="+mj-ea"/>
            </a:endParaRPr>
          </a:p>
        </p:txBody>
      </p:sp>
      <p:grpSp>
        <p:nvGrpSpPr>
          <p:cNvPr id="13" name="组合 12"/>
          <p:cNvGrpSpPr/>
          <p:nvPr/>
        </p:nvGrpSpPr>
        <p:grpSpPr>
          <a:xfrm rot="0">
            <a:off x="6732270" y="1628775"/>
            <a:ext cx="646430" cy="581660"/>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rot="0">
            <a:off x="5993765" y="2637790"/>
            <a:ext cx="646430" cy="582295"/>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1" name="组合 20"/>
          <p:cNvGrpSpPr/>
          <p:nvPr/>
        </p:nvGrpSpPr>
        <p:grpSpPr>
          <a:xfrm rot="0">
            <a:off x="7406005" y="2636520"/>
            <a:ext cx="646430" cy="581660"/>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cxnSp>
        <p:nvCxnSpPr>
          <p:cNvPr id="24" name="曲线连接符 23"/>
          <p:cNvCxnSpPr/>
          <p:nvPr/>
        </p:nvCxnSpPr>
        <p:spPr>
          <a:xfrm rot="10800000" flipV="1">
            <a:off x="6334760" y="1919605"/>
            <a:ext cx="396875" cy="716915"/>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p:nvPr/>
        </p:nvCxnSpPr>
        <p:spPr>
          <a:xfrm>
            <a:off x="7359015" y="1948180"/>
            <a:ext cx="370205" cy="688340"/>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rot="0">
            <a:off x="6425565" y="3529330"/>
            <a:ext cx="341630" cy="342265"/>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33" name="组合 32"/>
          <p:cNvGrpSpPr/>
          <p:nvPr/>
        </p:nvGrpSpPr>
        <p:grpSpPr>
          <a:xfrm rot="0">
            <a:off x="5705475" y="3529330"/>
            <a:ext cx="341630" cy="342265"/>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rot="0">
            <a:off x="8002270" y="3528060"/>
            <a:ext cx="341630" cy="342265"/>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38" name="组合 37"/>
          <p:cNvGrpSpPr/>
          <p:nvPr/>
        </p:nvGrpSpPr>
        <p:grpSpPr>
          <a:xfrm rot="0">
            <a:off x="7282180" y="3528060"/>
            <a:ext cx="341630" cy="342265"/>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p:nvPr/>
        </p:nvCxnSpPr>
        <p:spPr>
          <a:xfrm rot="5400000">
            <a:off x="5926455" y="3183890"/>
            <a:ext cx="354330" cy="4267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p:nvPr/>
        </p:nvCxnSpPr>
        <p:spPr>
          <a:xfrm rot="5400000" flipV="1">
            <a:off x="6286500" y="3250565"/>
            <a:ext cx="354330" cy="29337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p:nvPr/>
        </p:nvCxnSpPr>
        <p:spPr>
          <a:xfrm rot="5400000">
            <a:off x="7420610" y="3264535"/>
            <a:ext cx="354330" cy="262255"/>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p:nvPr/>
        </p:nvCxnSpPr>
        <p:spPr>
          <a:xfrm rot="5400000" flipV="1">
            <a:off x="7796530" y="3150870"/>
            <a:ext cx="309245" cy="443865"/>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95" name="组合 94"/>
          <p:cNvGrpSpPr/>
          <p:nvPr/>
        </p:nvGrpSpPr>
        <p:grpSpPr>
          <a:xfrm>
            <a:off x="5364480" y="3871595"/>
            <a:ext cx="1061720" cy="650875"/>
            <a:chOff x="4579" y="8358"/>
            <a:chExt cx="1672" cy="1025"/>
          </a:xfrm>
        </p:grpSpPr>
        <p:grpSp>
          <p:nvGrpSpPr>
            <p:cNvPr id="76" name="组合 75"/>
            <p:cNvGrpSpPr/>
            <p:nvPr/>
          </p:nvGrpSpPr>
          <p:grpSpPr>
            <a:xfrm rot="0">
              <a:off x="5713" y="8845"/>
              <a:ext cx="538" cy="539"/>
              <a:chOff x="10489" y="3359"/>
              <a:chExt cx="1018" cy="917"/>
            </a:xfrm>
          </p:grpSpPr>
          <p:sp>
            <p:nvSpPr>
              <p:cNvPr id="77" name="椭圆 7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8" name="文本框 7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79" name="组合 78"/>
            <p:cNvGrpSpPr/>
            <p:nvPr/>
          </p:nvGrpSpPr>
          <p:grpSpPr>
            <a:xfrm rot="0">
              <a:off x="4579" y="8845"/>
              <a:ext cx="538" cy="539"/>
              <a:chOff x="10489" y="3359"/>
              <a:chExt cx="1018" cy="917"/>
            </a:xfrm>
          </p:grpSpPr>
          <p:sp>
            <p:nvSpPr>
              <p:cNvPr id="80" name="椭圆 7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1" name="文本框 8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82" name="曲线连接符 81"/>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83" name="曲线连接符 82"/>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cxnSp>
        <p:nvCxnSpPr>
          <p:cNvPr id="92" name="直接连接符 91"/>
          <p:cNvCxnSpPr/>
          <p:nvPr/>
        </p:nvCxnSpPr>
        <p:spPr>
          <a:xfrm flipV="1">
            <a:off x="5508625" y="3211195"/>
            <a:ext cx="2872105" cy="6985"/>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93" name="文本框 92"/>
          <p:cNvSpPr txBox="1"/>
          <p:nvPr/>
        </p:nvSpPr>
        <p:spPr>
          <a:xfrm>
            <a:off x="5323840" y="2762885"/>
            <a:ext cx="669925" cy="368300"/>
          </a:xfrm>
          <a:prstGeom prst="rect">
            <a:avLst/>
          </a:prstGeom>
          <a:noFill/>
        </p:spPr>
        <p:txBody>
          <a:bodyPr wrap="square" rtlCol="0">
            <a:spAutoFit/>
          </a:bodyPr>
          <a:p>
            <a:r>
              <a:rPr lang="zh-CN" altLang="en-US"/>
              <a:t>①</a:t>
            </a:r>
            <a:endParaRPr lang="zh-CN" altLang="en-US"/>
          </a:p>
        </p:txBody>
      </p:sp>
      <p:cxnSp>
        <p:nvCxnSpPr>
          <p:cNvPr id="94" name="直接连接符 93"/>
          <p:cNvCxnSpPr/>
          <p:nvPr/>
        </p:nvCxnSpPr>
        <p:spPr>
          <a:xfrm>
            <a:off x="5220335" y="4004945"/>
            <a:ext cx="3744595" cy="0"/>
          </a:xfrm>
          <a:prstGeom prst="line">
            <a:avLst/>
          </a:prstGeom>
          <a:solidFill>
            <a:schemeClr val="accent1"/>
          </a:solidFill>
          <a:ln w="38100" cap="flat" cmpd="sng" algn="ctr">
            <a:solidFill>
              <a:srgbClr val="FF0000"/>
            </a:solidFill>
            <a:prstDash val="solid"/>
            <a:round/>
            <a:headEnd type="none" w="med" len="med"/>
            <a:tailEnd type="none" w="med" len="med"/>
          </a:ln>
        </p:spPr>
      </p:cxnSp>
      <p:cxnSp>
        <p:nvCxnSpPr>
          <p:cNvPr id="98" name="直接连接符 97"/>
          <p:cNvCxnSpPr/>
          <p:nvPr/>
        </p:nvCxnSpPr>
        <p:spPr>
          <a:xfrm flipV="1">
            <a:off x="4805045" y="4699000"/>
            <a:ext cx="4375785" cy="17145"/>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99" name="文本框 98"/>
          <p:cNvSpPr txBox="1"/>
          <p:nvPr/>
        </p:nvSpPr>
        <p:spPr>
          <a:xfrm>
            <a:off x="5048885" y="3472180"/>
            <a:ext cx="669925" cy="368300"/>
          </a:xfrm>
          <a:prstGeom prst="rect">
            <a:avLst/>
          </a:prstGeom>
          <a:noFill/>
        </p:spPr>
        <p:txBody>
          <a:bodyPr wrap="square" rtlCol="0">
            <a:spAutoFit/>
          </a:bodyPr>
          <a:p>
            <a:r>
              <a:rPr lang="zh-CN" altLang="en-US"/>
              <a:t>②</a:t>
            </a:r>
            <a:endParaRPr lang="zh-CN" altLang="en-US"/>
          </a:p>
        </p:txBody>
      </p:sp>
      <p:sp>
        <p:nvSpPr>
          <p:cNvPr id="100" name="文本框 99"/>
          <p:cNvSpPr txBox="1"/>
          <p:nvPr/>
        </p:nvSpPr>
        <p:spPr>
          <a:xfrm>
            <a:off x="4732655" y="4181475"/>
            <a:ext cx="669925" cy="368300"/>
          </a:xfrm>
          <a:prstGeom prst="rect">
            <a:avLst/>
          </a:prstGeom>
          <a:noFill/>
        </p:spPr>
        <p:txBody>
          <a:bodyPr wrap="square" rtlCol="0">
            <a:spAutoFit/>
          </a:bodyPr>
          <a:p>
            <a:r>
              <a:rPr lang="zh-CN" altLang="en-US"/>
              <a:t>③</a:t>
            </a:r>
            <a:endParaRPr lang="zh-CN" altLang="en-US"/>
          </a:p>
        </p:txBody>
      </p:sp>
      <p:sp>
        <p:nvSpPr>
          <p:cNvPr id="101" name="文本框 100"/>
          <p:cNvSpPr txBox="1"/>
          <p:nvPr/>
        </p:nvSpPr>
        <p:spPr>
          <a:xfrm>
            <a:off x="755650" y="5229225"/>
            <a:ext cx="8209280" cy="869950"/>
          </a:xfrm>
          <a:prstGeom prst="rect">
            <a:avLst/>
          </a:prstGeom>
          <a:noFill/>
        </p:spPr>
        <p:txBody>
          <a:bodyPr wrap="square" rtlCol="0">
            <a:noAutofit/>
          </a:bodyPr>
          <a:p>
            <a:r>
              <a:rPr lang="zh-CN" altLang="en-US"/>
              <a:t>①表示第一个元素的选择与不选择，②表示第二个元素的选择与不选择，③表示第三个元素的选择与不选择。从根节点到叶子节点都是一个</a:t>
            </a:r>
            <a:r>
              <a:rPr lang="zh-CN" altLang="en-US"/>
              <a:t>子集。</a:t>
            </a:r>
            <a:endParaRPr lang="zh-CN" alt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2</a:t>
            </a:r>
            <a:r>
              <a:rPr lang="zh-CN" altLang="en-US" sz="3600" kern="0" smtClean="0">
                <a:sym typeface="+mn-ea"/>
              </a:rPr>
              <a:t>）</a:t>
            </a:r>
            <a:r>
              <a:rPr lang="zh-CN" altLang="en-US" sz="3600" kern="0" smtClean="0"/>
              <a:t>子集</a:t>
            </a:r>
            <a:r>
              <a:rPr lang="en-US" altLang="zh-CN" sz="3600" kern="0" smtClean="0"/>
              <a:t>I(</a:t>
            </a:r>
            <a:r>
              <a:rPr lang="zh-CN" altLang="en-US" sz="3600" kern="0" smtClean="0"/>
              <a:t>没有重复元素的子集</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源码实现</a:t>
            </a:r>
            <a:r>
              <a:rPr lang="zh-CN" altLang="en-US"/>
              <a:t>示例：</a:t>
            </a:r>
            <a:endParaRPr lang="zh-CN" altLang="en-US"/>
          </a:p>
        </p:txBody>
      </p:sp>
      <p:pic>
        <p:nvPicPr>
          <p:cNvPr id="2" name="图片 1"/>
          <p:cNvPicPr>
            <a:picLocks noChangeAspect="1"/>
          </p:cNvPicPr>
          <p:nvPr/>
        </p:nvPicPr>
        <p:blipFill>
          <a:blip r:embed="rId1"/>
          <a:stretch>
            <a:fillRect/>
          </a:stretch>
        </p:blipFill>
        <p:spPr>
          <a:xfrm>
            <a:off x="2268220" y="1844675"/>
            <a:ext cx="4781550" cy="382905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2</a:t>
            </a:r>
            <a:r>
              <a:rPr lang="zh-CN" altLang="en-US" sz="3600" kern="0" smtClean="0">
                <a:sym typeface="+mn-ea"/>
              </a:rPr>
              <a:t>）</a:t>
            </a:r>
            <a:r>
              <a:rPr lang="zh-CN" altLang="en-US" sz="3600" kern="0" smtClean="0"/>
              <a:t>子集</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运行流程：代码其中的一个</a:t>
            </a:r>
            <a:r>
              <a:rPr lang="zh-CN" altLang="en-US"/>
              <a:t>状态</a:t>
            </a:r>
            <a:endParaRPr lang="zh-CN" altLang="en-US"/>
          </a:p>
        </p:txBody>
      </p:sp>
      <p:sp>
        <p:nvSpPr>
          <p:cNvPr id="5" name="文本框 4"/>
          <p:cNvSpPr txBox="1"/>
          <p:nvPr/>
        </p:nvSpPr>
        <p:spPr>
          <a:xfrm>
            <a:off x="6161405" y="1917065"/>
            <a:ext cx="2982595" cy="1023620"/>
          </a:xfrm>
          <a:prstGeom prst="rect">
            <a:avLst/>
          </a:prstGeom>
          <a:gradFill>
            <a:gsLst>
              <a:gs pos="50000">
                <a:schemeClr val="accent1"/>
              </a:gs>
              <a:gs pos="0">
                <a:schemeClr val="accent1">
                  <a:lumMod val="25000"/>
                  <a:lumOff val="75000"/>
                </a:schemeClr>
              </a:gs>
              <a:gs pos="100000">
                <a:schemeClr val="accent1">
                  <a:lumMod val="85000"/>
                </a:schemeClr>
              </a:gs>
            </a:gsLst>
            <a:lin ang="5400000" scaled="1"/>
          </a:gradFill>
          <a:ln>
            <a:gradFill>
              <a:gsLst>
                <a:gs pos="50000">
                  <a:schemeClr val="accent3"/>
                </a:gs>
                <a:gs pos="0">
                  <a:schemeClr val="accent3">
                    <a:lumMod val="25000"/>
                    <a:lumOff val="75000"/>
                  </a:schemeClr>
                </a:gs>
                <a:gs pos="100000">
                  <a:schemeClr val="accent3">
                    <a:lumMod val="85000"/>
                  </a:schemeClr>
                </a:gs>
              </a:gsLst>
              <a:lin ang="5400000" scaled="0"/>
            </a:gradFill>
          </a:ln>
        </p:spPr>
        <p:txBody>
          <a:bodyPr wrap="square" rtlCol="0">
            <a:noAutofit/>
          </a:bodyPr>
          <a:p>
            <a:pPr algn="just"/>
            <a:r>
              <a:rPr lang="en-US" altLang="zh-CN">
                <a:latin typeface="Times New Roman" panose="02020603050405020304" pitchFamily="18" charset="0"/>
                <a:cs typeface="Times New Roman" panose="02020603050405020304" pitchFamily="18" charset="0"/>
              </a:rPr>
              <a:t>temp.append(nums[n])</a:t>
            </a:r>
            <a:endParaRPr lang="en-US" altLang="zh-CN">
              <a:latin typeface="Times New Roman" panose="02020603050405020304" pitchFamily="18" charset="0"/>
              <a:cs typeface="Times New Roman" panose="02020603050405020304" pitchFamily="18" charset="0"/>
            </a:endParaRPr>
          </a:p>
          <a:p>
            <a:pPr algn="just"/>
            <a:r>
              <a:rPr lang="en-US" altLang="zh-CN">
                <a:latin typeface="Times New Roman" panose="02020603050405020304" pitchFamily="18" charset="0"/>
                <a:cs typeface="Times New Roman" panose="02020603050405020304" pitchFamily="18" charset="0"/>
              </a:rPr>
              <a:t>dfs(nums,n+1,temp)</a:t>
            </a:r>
            <a:endParaRPr lang="en-US" altLang="zh-CN">
              <a:latin typeface="Times New Roman" panose="02020603050405020304" pitchFamily="18" charset="0"/>
              <a:cs typeface="Times New Roman" panose="02020603050405020304" pitchFamily="18" charset="0"/>
            </a:endParaRPr>
          </a:p>
          <a:p>
            <a:pPr algn="just"/>
            <a:r>
              <a:rPr lang="zh-CN" altLang="en-US">
                <a:latin typeface="Times New Roman" panose="02020603050405020304" pitchFamily="18" charset="0"/>
                <a:cs typeface="Times New Roman" panose="02020603050405020304" pitchFamily="18" charset="0"/>
              </a:rPr>
              <a:t>表示进入左</a:t>
            </a:r>
            <a:r>
              <a:rPr lang="zh-CN" altLang="en-US">
                <a:latin typeface="Times New Roman" panose="02020603050405020304" pitchFamily="18" charset="0"/>
                <a:cs typeface="Times New Roman" panose="02020603050405020304" pitchFamily="18" charset="0"/>
              </a:rPr>
              <a:t>子树</a:t>
            </a:r>
            <a:endParaRPr lang="zh-CN" altLang="en-US">
              <a:latin typeface="Times New Roman" panose="02020603050405020304" pitchFamily="18" charset="0"/>
              <a:cs typeface="Times New Roman" panose="02020603050405020304" pitchFamily="18" charset="0"/>
            </a:endParaRPr>
          </a:p>
          <a:p>
            <a:pPr algn="just"/>
            <a:endParaRPr lang="zh-CN" altLang="en-US">
              <a:latin typeface="Times New Roman" panose="02020603050405020304" pitchFamily="18" charset="0"/>
              <a:cs typeface="Times New Roman" panose="02020603050405020304" pitchFamily="18" charset="0"/>
            </a:endParaRPr>
          </a:p>
        </p:txBody>
      </p:sp>
      <p:pic>
        <p:nvPicPr>
          <p:cNvPr id="2" name="图片 1"/>
          <p:cNvPicPr>
            <a:picLocks noChangeAspect="1"/>
          </p:cNvPicPr>
          <p:nvPr/>
        </p:nvPicPr>
        <p:blipFill>
          <a:blip r:embed="rId1"/>
          <a:stretch>
            <a:fillRect/>
          </a:stretch>
        </p:blipFill>
        <p:spPr>
          <a:xfrm>
            <a:off x="755650" y="1772920"/>
            <a:ext cx="5238750" cy="4288790"/>
          </a:xfrm>
          <a:prstGeom prst="rect">
            <a:avLst/>
          </a:prstGeom>
        </p:spPr>
      </p:pic>
      <p:sp>
        <p:nvSpPr>
          <p:cNvPr id="6" name="文本框 5"/>
          <p:cNvSpPr txBox="1"/>
          <p:nvPr/>
        </p:nvSpPr>
        <p:spPr>
          <a:xfrm>
            <a:off x="6156325" y="2853055"/>
            <a:ext cx="2987675" cy="1229995"/>
          </a:xfrm>
          <a:prstGeom prst="rect">
            <a:avLst/>
          </a:prstGeom>
          <a:gradFill>
            <a:gsLst>
              <a:gs pos="50000">
                <a:schemeClr val="accent1"/>
              </a:gs>
              <a:gs pos="0">
                <a:schemeClr val="accent1">
                  <a:lumMod val="25000"/>
                  <a:lumOff val="75000"/>
                </a:schemeClr>
              </a:gs>
              <a:gs pos="100000">
                <a:schemeClr val="accent1">
                  <a:lumMod val="85000"/>
                </a:schemeClr>
              </a:gs>
            </a:gsLst>
            <a:lin ang="5400000" scaled="1"/>
          </a:gradFill>
        </p:spPr>
        <p:txBody>
          <a:bodyPr wrap="square" rtlCol="0" anchor="t">
            <a:noAutofit/>
          </a:bodyPr>
          <a:p>
            <a:pPr algn="just"/>
            <a:r>
              <a:rPr lang="en-US" altLang="zh-CN">
                <a:latin typeface="Times New Roman" panose="02020603050405020304" pitchFamily="18" charset="0"/>
                <a:cs typeface="Times New Roman" panose="02020603050405020304" pitchFamily="18" charset="0"/>
                <a:sym typeface="+mn-ea"/>
              </a:rPr>
              <a:t>temp.pop(-1)</a:t>
            </a:r>
            <a:endParaRPr lang="en-US" altLang="zh-CN">
              <a:latin typeface="Times New Roman" panose="02020603050405020304" pitchFamily="18" charset="0"/>
              <a:cs typeface="Times New Roman" panose="02020603050405020304" pitchFamily="18" charset="0"/>
            </a:endParaRPr>
          </a:p>
          <a:p>
            <a:pPr algn="just"/>
            <a:r>
              <a:rPr lang="en-US" altLang="zh-CN">
                <a:latin typeface="Times New Roman" panose="02020603050405020304" pitchFamily="18" charset="0"/>
                <a:cs typeface="Times New Roman" panose="02020603050405020304" pitchFamily="18" charset="0"/>
                <a:sym typeface="+mn-ea"/>
              </a:rPr>
              <a:t>dfs(nums,n+1,temp)</a:t>
            </a:r>
            <a:endParaRPr lang="en-US" altLang="zh-CN">
              <a:latin typeface="Times New Roman" panose="02020603050405020304" pitchFamily="18" charset="0"/>
              <a:cs typeface="Times New Roman" panose="02020603050405020304" pitchFamily="18" charset="0"/>
            </a:endParaRPr>
          </a:p>
          <a:p>
            <a:pPr algn="just"/>
            <a:r>
              <a:rPr lang="zh-CN" altLang="en-US">
                <a:latin typeface="Times New Roman" panose="02020603050405020304" pitchFamily="18" charset="0"/>
                <a:cs typeface="Times New Roman" panose="02020603050405020304" pitchFamily="18" charset="0"/>
                <a:sym typeface="+mn-ea"/>
              </a:rPr>
              <a:t>表示进入了右子树</a:t>
            </a:r>
            <a:endParaRPr lang="zh-CN" altLang="en-US">
              <a:latin typeface="Times New Roman" panose="02020603050405020304" pitchFamily="18" charset="0"/>
              <a:cs typeface="Times New Roman" panose="02020603050405020304" pitchFamily="18" charset="0"/>
            </a:endParaRPr>
          </a:p>
          <a:p>
            <a:pPr algn="just"/>
            <a:r>
              <a:rPr lang="zh-CN" altLang="en-US">
                <a:latin typeface="Times New Roman" panose="02020603050405020304" pitchFamily="18" charset="0"/>
                <a:cs typeface="Times New Roman" panose="02020603050405020304" pitchFamily="18" charset="0"/>
                <a:sym typeface="+mn-ea"/>
              </a:rPr>
              <a:t>注意代码的细节</a:t>
            </a:r>
            <a:r>
              <a:rPr lang="en-US" altLang="zh-CN">
                <a:latin typeface="Times New Roman" panose="02020603050405020304" pitchFamily="18" charset="0"/>
                <a:cs typeface="Times New Roman" panose="02020603050405020304" pitchFamily="18" charset="0"/>
                <a:sym typeface="+mn-ea"/>
              </a:rPr>
              <a:t>opt</a:t>
            </a:r>
            <a:r>
              <a:rPr lang="zh-CN" altLang="en-US">
                <a:latin typeface="Times New Roman" panose="02020603050405020304" pitchFamily="18" charset="0"/>
                <a:cs typeface="Times New Roman" panose="02020603050405020304" pitchFamily="18" charset="0"/>
                <a:sym typeface="+mn-ea"/>
              </a:rPr>
              <a:t>数组？</a:t>
            </a:r>
            <a:endParaRPr lang="zh-CN" altLang="en-US">
              <a:latin typeface="Times New Roman" panose="02020603050405020304" pitchFamily="18" charset="0"/>
              <a:cs typeface="Times New Roman" panose="02020603050405020304" pitchFamily="18" charset="0"/>
              <a:sym typeface="+mn-ea"/>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635" y="367030"/>
            <a:ext cx="867664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t>（</a:t>
            </a:r>
            <a:r>
              <a:rPr lang="en-US" altLang="zh-CN" sz="3600" kern="0" smtClean="0"/>
              <a:t>3</a:t>
            </a:r>
            <a:r>
              <a:rPr lang="zh-CN" sz="3600" kern="0" smtClean="0"/>
              <a:t>）</a:t>
            </a:r>
            <a:r>
              <a:rPr lang="zh-CN" altLang="en-US" sz="3600" kern="0" smtClean="0"/>
              <a:t>全排列</a:t>
            </a:r>
            <a:r>
              <a:rPr lang="en-US" altLang="zh-CN" sz="3600" kern="0" smtClean="0"/>
              <a:t>II</a:t>
            </a:r>
            <a:r>
              <a:rPr lang="zh-CN" altLang="en-US" sz="3600" kern="0" smtClean="0"/>
              <a:t>和子集</a:t>
            </a:r>
            <a:r>
              <a:rPr lang="en-US" altLang="zh-CN" sz="3600" kern="0" smtClean="0"/>
              <a:t>II(</a:t>
            </a:r>
            <a:r>
              <a:rPr lang="zh-CN" altLang="en-US" sz="3600" kern="0" smtClean="0"/>
              <a:t>需要对搜索树剪枝</a:t>
            </a:r>
            <a:r>
              <a:rPr lang="en-US" altLang="zh-CN" sz="3600" kern="0" smtClean="0"/>
              <a:t>)</a:t>
            </a:r>
            <a:endParaRPr lang="en-US" altLang="zh-CN" sz="3600" kern="0" smtClean="0"/>
          </a:p>
        </p:txBody>
      </p:sp>
      <p:grpSp>
        <p:nvGrpSpPr>
          <p:cNvPr id="72" name="组合 71"/>
          <p:cNvGrpSpPr/>
          <p:nvPr/>
        </p:nvGrpSpPr>
        <p:grpSpPr>
          <a:xfrm>
            <a:off x="2493645" y="2348865"/>
            <a:ext cx="3688080" cy="2864485"/>
            <a:chOff x="8221" y="3132"/>
            <a:chExt cx="5808" cy="4511"/>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3" name="组合 2"/>
            <p:cNvGrpSpPr/>
            <p:nvPr/>
          </p:nvGrpSpPr>
          <p:grpSpPr>
            <a:xfrm>
              <a:off x="11440" y="6011"/>
              <a:ext cx="538" cy="539"/>
              <a:chOff x="10489" y="3359"/>
              <a:chExt cx="1018" cy="917"/>
            </a:xfrm>
          </p:grpSpPr>
          <p:sp>
            <p:nvSpPr>
              <p:cNvPr id="7" name="椭圆 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 name="文本框 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9" name="组合 8"/>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7"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41" name="文本框 40"/>
          <p:cNvSpPr txBox="1"/>
          <p:nvPr/>
        </p:nvSpPr>
        <p:spPr>
          <a:xfrm>
            <a:off x="539750" y="1701165"/>
            <a:ext cx="5606415" cy="405765"/>
          </a:xfrm>
          <a:prstGeom prst="rect">
            <a:avLst/>
          </a:prstGeom>
          <a:noFill/>
        </p:spPr>
        <p:txBody>
          <a:bodyPr>
            <a:noAutofit/>
          </a:bodyPr>
          <a:p>
            <a:pPr>
              <a:defRPr/>
            </a:pPr>
            <a:r>
              <a:rPr lang="zh-CN" altLang="en-US">
                <a:solidFill>
                  <a:srgbClr val="000066"/>
                </a:solidFill>
                <a:latin typeface="+mj-ea"/>
                <a:ea typeface="+mj-ea"/>
              </a:rPr>
              <a:t>示例：找出数组</a:t>
            </a:r>
            <a:r>
              <a:rPr lang="en-US" altLang="zh-CN">
                <a:solidFill>
                  <a:srgbClr val="000066"/>
                </a:solidFill>
                <a:latin typeface="+mj-ea"/>
                <a:ea typeface="+mj-ea"/>
              </a:rPr>
              <a:t>nums=[1,1,2]</a:t>
            </a:r>
            <a:r>
              <a:rPr lang="zh-CN" altLang="en-US">
                <a:solidFill>
                  <a:srgbClr val="000066"/>
                </a:solidFill>
                <a:latin typeface="+mj-ea"/>
                <a:ea typeface="+mj-ea"/>
              </a:rPr>
              <a:t>全排列和子集？</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73" name="文本框 72"/>
          <p:cNvSpPr txBox="1"/>
          <p:nvPr/>
        </p:nvSpPr>
        <p:spPr>
          <a:xfrm>
            <a:off x="3789680" y="3213100"/>
            <a:ext cx="1141095" cy="2081530"/>
          </a:xfrm>
          <a:prstGeom prst="rect">
            <a:avLst/>
          </a:prstGeom>
          <a:noFill/>
          <a:ln w="28575" cmpd="sng">
            <a:solidFill>
              <a:schemeClr val="accent1">
                <a:shade val="50000"/>
              </a:schemeClr>
            </a:solidFill>
            <a:prstDash val="solid"/>
          </a:ln>
          <a:extLst>
            <a:ext uri="{909E8E84-426E-40DD-AFC4-6F175D3DCCD1}">
              <a14:hiddenFill xmlns:a14="http://schemas.microsoft.com/office/drawing/2010/main">
                <a:solidFill>
                  <a:srgbClr val="92D050"/>
                </a:solidFill>
              </a14:hiddenFill>
            </a:ext>
          </a:extLst>
        </p:spPr>
        <p:txBody>
          <a:bodyPr wrap="square" rtlCol="0">
            <a:noAutofit/>
          </a:bodyPr>
          <a:p>
            <a:endParaRPr lang="zh-CN" altLang="en-US"/>
          </a:p>
        </p:txBody>
      </p:sp>
      <p:sp>
        <p:nvSpPr>
          <p:cNvPr id="74" name="文本框 73"/>
          <p:cNvSpPr txBox="1"/>
          <p:nvPr/>
        </p:nvSpPr>
        <p:spPr>
          <a:xfrm>
            <a:off x="2493645" y="3213100"/>
            <a:ext cx="1141095" cy="2081530"/>
          </a:xfrm>
          <a:prstGeom prst="rect">
            <a:avLst/>
          </a:prstGeom>
          <a:noFill/>
          <a:ln w="28575" cmpd="sng">
            <a:solidFill>
              <a:schemeClr val="accent1">
                <a:shade val="50000"/>
              </a:schemeClr>
            </a:solidFill>
            <a:prstDash val="solid"/>
          </a:ln>
          <a:extLst>
            <a:ext uri="{909E8E84-426E-40DD-AFC4-6F175D3DCCD1}">
              <a14:hiddenFill xmlns:a14="http://schemas.microsoft.com/office/drawing/2010/main">
                <a:solidFill>
                  <a:srgbClr val="92D050"/>
                </a:solidFill>
              </a14:hiddenFill>
            </a:ext>
          </a:extLst>
        </p:spPr>
        <p:txBody>
          <a:bodyPr wrap="square" rtlCol="0">
            <a:noAutofit/>
          </a:bodyPr>
          <a:p>
            <a:endParaRPr lang="zh-CN" altLang="en-US"/>
          </a:p>
        </p:txBody>
      </p:sp>
      <p:sp>
        <p:nvSpPr>
          <p:cNvPr id="75" name="文本框 74"/>
          <p:cNvSpPr txBox="1"/>
          <p:nvPr/>
        </p:nvSpPr>
        <p:spPr>
          <a:xfrm>
            <a:off x="5734050" y="4076700"/>
            <a:ext cx="560705" cy="1220470"/>
          </a:xfrm>
          <a:prstGeom prst="rect">
            <a:avLst/>
          </a:prstGeom>
          <a:noFill/>
          <a:ln w="28575" cmpd="sng">
            <a:solidFill>
              <a:schemeClr val="accent1">
                <a:shade val="50000"/>
              </a:schemeClr>
            </a:solidFill>
            <a:prstDash val="solid"/>
          </a:ln>
          <a:extLst>
            <a:ext uri="{909E8E84-426E-40DD-AFC4-6F175D3DCCD1}">
              <a14:hiddenFill xmlns:a14="http://schemas.microsoft.com/office/drawing/2010/main">
                <a:solidFill>
                  <a:srgbClr val="92D050"/>
                </a:solidFill>
              </a14:hiddenFill>
            </a:ext>
          </a:extLst>
        </p:spPr>
        <p:txBody>
          <a:bodyPr wrap="square" rtlCol="0">
            <a:noAutofit/>
          </a:bodyPr>
          <a:p>
            <a:endParaRPr lang="zh-CN" altLang="en-US"/>
          </a:p>
        </p:txBody>
      </p:sp>
      <p:sp>
        <p:nvSpPr>
          <p:cNvPr id="76" name="文本框 75"/>
          <p:cNvSpPr txBox="1"/>
          <p:nvPr/>
        </p:nvSpPr>
        <p:spPr>
          <a:xfrm>
            <a:off x="5085715" y="4076700"/>
            <a:ext cx="466090" cy="1217930"/>
          </a:xfrm>
          <a:prstGeom prst="rect">
            <a:avLst/>
          </a:prstGeom>
          <a:noFill/>
          <a:ln w="28575" cmpd="sng">
            <a:solidFill>
              <a:schemeClr val="accent1">
                <a:shade val="50000"/>
              </a:schemeClr>
            </a:solidFill>
            <a:prstDash val="solid"/>
          </a:ln>
          <a:extLst>
            <a:ext uri="{909E8E84-426E-40DD-AFC4-6F175D3DCCD1}">
              <a14:hiddenFill xmlns:a14="http://schemas.microsoft.com/office/drawing/2010/main">
                <a:solidFill>
                  <a:srgbClr val="92D050"/>
                </a:solidFill>
              </a14:hiddenFill>
            </a:ext>
          </a:extLst>
        </p:spPr>
        <p:txBody>
          <a:bodyPr wrap="square" rtlCol="0">
            <a:noAutofit/>
          </a:bodyPr>
          <a:p>
            <a:endParaRPr lang="zh-CN" altLang="en-US"/>
          </a:p>
        </p:txBody>
      </p:sp>
      <p:sp>
        <p:nvSpPr>
          <p:cNvPr id="77" name="文本框 76"/>
          <p:cNvSpPr txBox="1"/>
          <p:nvPr/>
        </p:nvSpPr>
        <p:spPr>
          <a:xfrm>
            <a:off x="2421255" y="3213100"/>
            <a:ext cx="297180" cy="368300"/>
          </a:xfrm>
          <a:prstGeom prst="rect">
            <a:avLst/>
          </a:prstGeom>
          <a:noFill/>
          <a:ln>
            <a:noFill/>
          </a:ln>
        </p:spPr>
        <p:txBody>
          <a:bodyPr wrap="square" rtlCol="0">
            <a:spAutoFit/>
          </a:bodyPr>
          <a:p>
            <a:r>
              <a:rPr lang="zh-CN" altLang="en-US">
                <a:solidFill>
                  <a:srgbClr val="FF0000"/>
                </a:solidFill>
              </a:rPr>
              <a:t>①</a:t>
            </a:r>
            <a:endParaRPr lang="zh-CN" altLang="en-US">
              <a:solidFill>
                <a:srgbClr val="FF0000"/>
              </a:solidFill>
            </a:endParaRPr>
          </a:p>
        </p:txBody>
      </p:sp>
      <p:sp>
        <p:nvSpPr>
          <p:cNvPr id="78" name="文本框 77"/>
          <p:cNvSpPr txBox="1"/>
          <p:nvPr/>
        </p:nvSpPr>
        <p:spPr>
          <a:xfrm>
            <a:off x="3817620" y="3213100"/>
            <a:ext cx="297180" cy="368300"/>
          </a:xfrm>
          <a:prstGeom prst="rect">
            <a:avLst/>
          </a:prstGeom>
          <a:noFill/>
          <a:ln>
            <a:noFill/>
          </a:ln>
        </p:spPr>
        <p:txBody>
          <a:bodyPr wrap="square" rtlCol="0">
            <a:spAutoFit/>
          </a:bodyPr>
          <a:p>
            <a:r>
              <a:rPr lang="zh-CN" altLang="en-US">
                <a:solidFill>
                  <a:srgbClr val="FF0000"/>
                </a:solidFill>
              </a:rPr>
              <a:t>②</a:t>
            </a:r>
            <a:endParaRPr lang="zh-CN" altLang="en-US">
              <a:solidFill>
                <a:srgbClr val="FF0000"/>
              </a:solidFill>
            </a:endParaRPr>
          </a:p>
        </p:txBody>
      </p:sp>
      <p:sp>
        <p:nvSpPr>
          <p:cNvPr id="79" name="文本框 78"/>
          <p:cNvSpPr txBox="1"/>
          <p:nvPr/>
        </p:nvSpPr>
        <p:spPr>
          <a:xfrm>
            <a:off x="5254625" y="4076700"/>
            <a:ext cx="297180" cy="368300"/>
          </a:xfrm>
          <a:prstGeom prst="rect">
            <a:avLst/>
          </a:prstGeom>
          <a:noFill/>
          <a:ln>
            <a:noFill/>
          </a:ln>
        </p:spPr>
        <p:txBody>
          <a:bodyPr wrap="square" rtlCol="0">
            <a:spAutoFit/>
          </a:bodyPr>
          <a:p>
            <a:r>
              <a:rPr lang="zh-CN" altLang="en-US">
                <a:solidFill>
                  <a:srgbClr val="FF0000"/>
                </a:solidFill>
              </a:rPr>
              <a:t>③</a:t>
            </a:r>
            <a:endParaRPr lang="zh-CN" altLang="en-US">
              <a:solidFill>
                <a:srgbClr val="FF0000"/>
              </a:solidFill>
            </a:endParaRPr>
          </a:p>
        </p:txBody>
      </p:sp>
      <p:sp>
        <p:nvSpPr>
          <p:cNvPr id="80" name="文本框 79"/>
          <p:cNvSpPr txBox="1"/>
          <p:nvPr/>
        </p:nvSpPr>
        <p:spPr>
          <a:xfrm>
            <a:off x="6021705" y="4059555"/>
            <a:ext cx="297180" cy="368300"/>
          </a:xfrm>
          <a:prstGeom prst="rect">
            <a:avLst/>
          </a:prstGeom>
          <a:noFill/>
          <a:ln>
            <a:noFill/>
          </a:ln>
        </p:spPr>
        <p:txBody>
          <a:bodyPr wrap="square" rtlCol="0">
            <a:spAutoFit/>
          </a:bodyPr>
          <a:p>
            <a:r>
              <a:rPr lang="zh-CN" altLang="en-US">
                <a:solidFill>
                  <a:srgbClr val="FF0000"/>
                </a:solidFill>
              </a:rPr>
              <a:t>④</a:t>
            </a:r>
            <a:endParaRPr lang="zh-CN" altLang="en-US">
              <a:solidFill>
                <a:srgbClr val="FF0000"/>
              </a:solidFill>
            </a:endParaRPr>
          </a:p>
        </p:txBody>
      </p:sp>
      <p:sp>
        <p:nvSpPr>
          <p:cNvPr id="81" name="文本框 80"/>
          <p:cNvSpPr txBox="1"/>
          <p:nvPr/>
        </p:nvSpPr>
        <p:spPr>
          <a:xfrm>
            <a:off x="467995" y="1988820"/>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1</a:t>
            </a:r>
            <a:r>
              <a:rPr lang="zh-CN">
                <a:solidFill>
                  <a:srgbClr val="000066"/>
                </a:solidFill>
                <a:latin typeface="+mj-ea"/>
                <a:ea typeface="+mj-ea"/>
              </a:rPr>
              <a:t>）观察全排列有重复的剪枝条件</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82" name="文本框 81"/>
          <p:cNvSpPr txBox="1"/>
          <p:nvPr/>
        </p:nvSpPr>
        <p:spPr>
          <a:xfrm>
            <a:off x="2555875" y="5254625"/>
            <a:ext cx="4572000" cy="1198880"/>
          </a:xfrm>
          <a:prstGeom prst="rect">
            <a:avLst/>
          </a:prstGeom>
          <a:noFill/>
        </p:spPr>
        <p:txBody>
          <a:bodyPr wrap="square" rtlCol="0" anchor="t">
            <a:spAutoFit/>
          </a:bodyPr>
          <a:p>
            <a:r>
              <a:rPr lang="en-US" altLang="zh-CN">
                <a:solidFill>
                  <a:srgbClr val="000066"/>
                </a:solidFill>
                <a:latin typeface="+mj-ea"/>
                <a:ea typeface="+mj-ea"/>
                <a:sym typeface="+mn-ea"/>
              </a:rPr>
              <a:t>[1,1,2]            </a:t>
            </a:r>
            <a:r>
              <a:rPr lang="en-US" altLang="zh-CN">
                <a:solidFill>
                  <a:srgbClr val="FF0000"/>
                </a:solidFill>
                <a:latin typeface="+mj-ea"/>
                <a:ea typeface="+mj-ea"/>
                <a:sym typeface="+mn-ea"/>
              </a:rPr>
              <a:t>[1,1,2] </a:t>
            </a:r>
            <a:endParaRPr lang="en-US" altLang="zh-CN">
              <a:solidFill>
                <a:srgbClr val="000066"/>
              </a:solidFill>
              <a:latin typeface="+mj-ea"/>
              <a:ea typeface="+mj-ea"/>
              <a:sym typeface="+mn-ea"/>
            </a:endParaRPr>
          </a:p>
          <a:p>
            <a:r>
              <a:rPr lang="en-US" altLang="zh-CN">
                <a:solidFill>
                  <a:srgbClr val="000066"/>
                </a:solidFill>
                <a:latin typeface="+mj-ea"/>
                <a:ea typeface="+mj-ea"/>
                <a:sym typeface="+mn-ea"/>
              </a:rPr>
              <a:t>[1,2,1]            </a:t>
            </a:r>
            <a:r>
              <a:rPr lang="en-US" altLang="zh-CN">
                <a:solidFill>
                  <a:srgbClr val="FF0000"/>
                </a:solidFill>
                <a:latin typeface="+mj-ea"/>
                <a:ea typeface="+mj-ea"/>
                <a:sym typeface="+mn-ea"/>
              </a:rPr>
              <a:t>[1,2,1]</a:t>
            </a:r>
            <a:endParaRPr lang="en-US" altLang="zh-CN">
              <a:solidFill>
                <a:srgbClr val="FF0000"/>
              </a:solidFill>
              <a:latin typeface="+mj-ea"/>
              <a:ea typeface="+mj-ea"/>
              <a:sym typeface="+mn-ea"/>
            </a:endParaRPr>
          </a:p>
          <a:p>
            <a:endParaRPr lang="en-US" altLang="zh-CN">
              <a:solidFill>
                <a:srgbClr val="000066"/>
              </a:solidFill>
              <a:latin typeface="+mj-ea"/>
              <a:ea typeface="+mj-ea"/>
              <a:sym typeface="+mn-ea"/>
            </a:endParaRPr>
          </a:p>
          <a:p>
            <a:endParaRPr lang="en-US" altLang="zh-CN">
              <a:solidFill>
                <a:srgbClr val="000066"/>
              </a:solidFill>
              <a:latin typeface="+mj-ea"/>
              <a:ea typeface="+mj-ea"/>
              <a:sym typeface="+mn-ea"/>
            </a:endParaRPr>
          </a:p>
        </p:txBody>
      </p:sp>
      <p:sp>
        <p:nvSpPr>
          <p:cNvPr id="83" name="文本框 82"/>
          <p:cNvSpPr txBox="1"/>
          <p:nvPr/>
        </p:nvSpPr>
        <p:spPr>
          <a:xfrm>
            <a:off x="5076190" y="5297170"/>
            <a:ext cx="1671955" cy="612140"/>
          </a:xfrm>
          <a:prstGeom prst="rect">
            <a:avLst/>
          </a:prstGeom>
          <a:noFill/>
        </p:spPr>
        <p:txBody>
          <a:bodyPr wrap="square" rtlCol="0" anchor="t">
            <a:noAutofit/>
          </a:bodyPr>
          <a:p>
            <a:r>
              <a:rPr lang="en-US" altLang="zh-CN">
                <a:solidFill>
                  <a:srgbClr val="000066"/>
                </a:solidFill>
                <a:latin typeface="+mj-ea"/>
                <a:ea typeface="+mj-ea"/>
                <a:sym typeface="+mn-ea"/>
              </a:rPr>
              <a:t>[2,1,1]            </a:t>
            </a:r>
            <a:endParaRPr lang="en-US" altLang="zh-CN">
              <a:solidFill>
                <a:srgbClr val="000066"/>
              </a:solidFill>
              <a:latin typeface="+mj-ea"/>
              <a:ea typeface="+mj-ea"/>
              <a:sym typeface="+mn-ea"/>
            </a:endParaRPr>
          </a:p>
          <a:p>
            <a:r>
              <a:rPr lang="en-US" altLang="zh-CN">
                <a:solidFill>
                  <a:srgbClr val="FF0000"/>
                </a:solidFill>
                <a:latin typeface="+mj-ea"/>
                <a:ea typeface="+mj-ea"/>
                <a:sym typeface="+mn-ea"/>
              </a:rPr>
              <a:t>[2,1,1]</a:t>
            </a:r>
            <a:r>
              <a:rPr lang="en-US" altLang="zh-CN">
                <a:solidFill>
                  <a:srgbClr val="000066"/>
                </a:solidFill>
                <a:latin typeface="+mj-ea"/>
                <a:ea typeface="+mj-ea"/>
                <a:sym typeface="+mn-ea"/>
              </a:rPr>
              <a:t>            </a:t>
            </a:r>
            <a:endParaRPr lang="en-US" altLang="zh-CN">
              <a:solidFill>
                <a:srgbClr val="FF0000"/>
              </a:solidFill>
              <a:latin typeface="+mj-ea"/>
              <a:ea typeface="+mj-ea"/>
              <a:sym typeface="+mn-e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207645" y="367030"/>
            <a:ext cx="846836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sym typeface="+mn-ea"/>
              </a:rPr>
              <a:t>（</a:t>
            </a:r>
            <a:r>
              <a:rPr lang="en-US" altLang="zh-CN" sz="3600" kern="0" smtClean="0">
                <a:sym typeface="+mn-ea"/>
              </a:rPr>
              <a:t>3</a:t>
            </a:r>
            <a:r>
              <a:rPr lang="zh-CN" sz="3600" kern="0" smtClean="0">
                <a:sym typeface="+mn-ea"/>
              </a:rPr>
              <a:t>）</a:t>
            </a:r>
            <a:r>
              <a:rPr lang="zh-CN" altLang="en-US" sz="3600" kern="0" smtClean="0"/>
              <a:t>全排列</a:t>
            </a:r>
            <a:r>
              <a:rPr lang="en-US" altLang="zh-CN" sz="3600" kern="0" smtClean="0"/>
              <a:t>II</a:t>
            </a:r>
            <a:r>
              <a:rPr lang="zh-CN" altLang="en-US" sz="3600" kern="0" smtClean="0"/>
              <a:t>和子集</a:t>
            </a:r>
            <a:r>
              <a:rPr lang="en-US" altLang="zh-CN" sz="3600" kern="0" smtClean="0"/>
              <a:t>II(</a:t>
            </a:r>
            <a:r>
              <a:rPr lang="zh-CN" altLang="en-US" sz="3600" kern="0" smtClean="0"/>
              <a:t>需要对搜索树剪枝</a:t>
            </a:r>
            <a:r>
              <a:rPr lang="en-US" altLang="zh-CN" sz="3600" kern="0" smtClean="0"/>
              <a:t>)</a:t>
            </a:r>
            <a:endParaRPr lang="en-US" altLang="zh-CN" sz="3600" kern="0" smtClean="0"/>
          </a:p>
        </p:txBody>
      </p:sp>
      <p:sp>
        <p:nvSpPr>
          <p:cNvPr id="41" name="文本框 40"/>
          <p:cNvSpPr txBox="1"/>
          <p:nvPr/>
        </p:nvSpPr>
        <p:spPr>
          <a:xfrm>
            <a:off x="539750" y="1701165"/>
            <a:ext cx="5606415" cy="405765"/>
          </a:xfrm>
          <a:prstGeom prst="rect">
            <a:avLst/>
          </a:prstGeom>
          <a:noFill/>
        </p:spPr>
        <p:txBody>
          <a:bodyPr>
            <a:noAutofit/>
          </a:bodyPr>
          <a:p>
            <a:pPr>
              <a:defRPr/>
            </a:pPr>
            <a:r>
              <a:rPr lang="zh-CN" altLang="en-US">
                <a:solidFill>
                  <a:srgbClr val="000066"/>
                </a:solidFill>
                <a:latin typeface="+mj-ea"/>
                <a:ea typeface="+mj-ea"/>
              </a:rPr>
              <a:t>示例：找出数组</a:t>
            </a:r>
            <a:r>
              <a:rPr lang="en-US" altLang="zh-CN">
                <a:solidFill>
                  <a:srgbClr val="000066"/>
                </a:solidFill>
                <a:latin typeface="+mj-ea"/>
                <a:ea typeface="+mj-ea"/>
              </a:rPr>
              <a:t>nums=[1,1,2]</a:t>
            </a:r>
            <a:r>
              <a:rPr lang="zh-CN" altLang="en-US">
                <a:solidFill>
                  <a:srgbClr val="000066"/>
                </a:solidFill>
                <a:latin typeface="+mj-ea"/>
                <a:ea typeface="+mj-ea"/>
              </a:rPr>
              <a:t>全排列和子集？</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81" name="文本框 80"/>
          <p:cNvSpPr txBox="1"/>
          <p:nvPr/>
        </p:nvSpPr>
        <p:spPr>
          <a:xfrm>
            <a:off x="467995" y="1988820"/>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1</a:t>
            </a:r>
            <a:r>
              <a:rPr lang="zh-CN">
                <a:solidFill>
                  <a:srgbClr val="000066"/>
                </a:solidFill>
                <a:latin typeface="+mj-ea"/>
                <a:ea typeface="+mj-ea"/>
              </a:rPr>
              <a:t>）观察全排列有重复的剪枝条件，加入</a:t>
            </a:r>
            <a:r>
              <a:rPr lang="en-US" altLang="zh-CN">
                <a:solidFill>
                  <a:srgbClr val="000066"/>
                </a:solidFill>
                <a:latin typeface="+mj-ea"/>
                <a:ea typeface="+mj-ea"/>
              </a:rPr>
              <a:t>if</a:t>
            </a:r>
            <a:r>
              <a:rPr lang="zh-CN" altLang="en-US">
                <a:solidFill>
                  <a:srgbClr val="000066"/>
                </a:solidFill>
                <a:latin typeface="+mj-ea"/>
                <a:ea typeface="+mj-ea"/>
              </a:rPr>
              <a:t>条件剪枝</a:t>
            </a:r>
            <a:r>
              <a:rPr lang="en-US" altLang="zh-CN">
                <a:solidFill>
                  <a:srgbClr val="000066"/>
                </a:solidFill>
                <a:latin typeface="+mj-ea"/>
                <a:ea typeface="+mj-ea"/>
              </a:rPr>
              <a:t> </a:t>
            </a:r>
            <a:endParaRPr lang="zh-CN" altLang="en-US">
              <a:solidFill>
                <a:srgbClr val="000066"/>
              </a:solidFill>
              <a:latin typeface="+mj-ea"/>
              <a:ea typeface="+mj-ea"/>
            </a:endParaRPr>
          </a:p>
        </p:txBody>
      </p:sp>
      <p:pic>
        <p:nvPicPr>
          <p:cNvPr id="2" name="图片 1"/>
          <p:cNvPicPr>
            <a:picLocks noChangeAspect="1"/>
          </p:cNvPicPr>
          <p:nvPr/>
        </p:nvPicPr>
        <p:blipFill>
          <a:blip r:embed="rId1"/>
          <a:stretch>
            <a:fillRect/>
          </a:stretch>
        </p:blipFill>
        <p:spPr>
          <a:xfrm>
            <a:off x="1835785" y="2319020"/>
            <a:ext cx="5572125" cy="4124325"/>
          </a:xfrm>
          <a:prstGeom prst="rect">
            <a:avLst/>
          </a:prstGeom>
        </p:spPr>
      </p:pic>
      <p:sp>
        <p:nvSpPr>
          <p:cNvPr id="5" name="矩形 4"/>
          <p:cNvSpPr/>
          <p:nvPr/>
        </p:nvSpPr>
        <p:spPr>
          <a:xfrm>
            <a:off x="2628265" y="4437380"/>
            <a:ext cx="3672205" cy="36004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225425" y="367030"/>
            <a:ext cx="845058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sym typeface="+mn-ea"/>
              </a:rPr>
              <a:t>（</a:t>
            </a:r>
            <a:r>
              <a:rPr lang="en-US" altLang="zh-CN" sz="3600" kern="0" smtClean="0">
                <a:sym typeface="+mn-ea"/>
              </a:rPr>
              <a:t>3</a:t>
            </a:r>
            <a:r>
              <a:rPr lang="zh-CN" sz="3600" kern="0" smtClean="0">
                <a:sym typeface="+mn-ea"/>
              </a:rPr>
              <a:t>）</a:t>
            </a:r>
            <a:r>
              <a:rPr lang="zh-CN" altLang="en-US" sz="3600" kern="0" smtClean="0"/>
              <a:t>全排列</a:t>
            </a:r>
            <a:r>
              <a:rPr lang="en-US" altLang="zh-CN" sz="3600" kern="0" smtClean="0"/>
              <a:t>II</a:t>
            </a:r>
            <a:r>
              <a:rPr lang="zh-CN" altLang="en-US" sz="3600" kern="0" smtClean="0"/>
              <a:t>和子集</a:t>
            </a:r>
            <a:r>
              <a:rPr lang="en-US" altLang="zh-CN" sz="3600" kern="0" smtClean="0"/>
              <a:t>II(</a:t>
            </a:r>
            <a:r>
              <a:rPr lang="zh-CN" altLang="en-US" sz="3600" kern="0" smtClean="0"/>
              <a:t>需要对搜索树剪枝</a:t>
            </a:r>
            <a:r>
              <a:rPr lang="en-US" altLang="zh-CN" sz="3600" kern="0" smtClean="0"/>
              <a:t>)</a:t>
            </a:r>
            <a:endParaRPr lang="en-US" altLang="zh-CN" sz="3600" kern="0" smtClean="0"/>
          </a:p>
        </p:txBody>
      </p:sp>
      <p:sp>
        <p:nvSpPr>
          <p:cNvPr id="81" name="文本框 80"/>
          <p:cNvSpPr txBox="1"/>
          <p:nvPr/>
        </p:nvSpPr>
        <p:spPr>
          <a:xfrm>
            <a:off x="427990" y="1489075"/>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2</a:t>
            </a:r>
            <a:r>
              <a:rPr lang="zh-CN">
                <a:solidFill>
                  <a:srgbClr val="000066"/>
                </a:solidFill>
                <a:latin typeface="+mj-ea"/>
                <a:ea typeface="+mj-ea"/>
              </a:rPr>
              <a:t>）观察</a:t>
            </a:r>
            <a:r>
              <a:rPr lang="zh-CN">
                <a:solidFill>
                  <a:srgbClr val="000066"/>
                </a:solidFill>
                <a:latin typeface="+mj-ea"/>
                <a:ea typeface="+mj-ea"/>
              </a:rPr>
              <a:t>子集有重复的剪枝条件</a:t>
            </a:r>
            <a:r>
              <a:rPr lang="en-US" altLang="zh-CN">
                <a:solidFill>
                  <a:srgbClr val="000066"/>
                </a:solidFill>
                <a:latin typeface="+mj-ea"/>
                <a:ea typeface="+mj-ea"/>
              </a:rPr>
              <a:t> </a:t>
            </a:r>
            <a:endParaRPr lang="zh-CN" altLang="en-US">
              <a:solidFill>
                <a:srgbClr val="000066"/>
              </a:solidFill>
              <a:latin typeface="+mj-ea"/>
              <a:ea typeface="+mj-ea"/>
            </a:endParaRPr>
          </a:p>
        </p:txBody>
      </p:sp>
      <p:grpSp>
        <p:nvGrpSpPr>
          <p:cNvPr id="120" name="组合 119"/>
          <p:cNvGrpSpPr/>
          <p:nvPr/>
        </p:nvGrpSpPr>
        <p:grpSpPr>
          <a:xfrm rot="0">
            <a:off x="4139565" y="1972310"/>
            <a:ext cx="646430" cy="581660"/>
            <a:chOff x="10489" y="3359"/>
            <a:chExt cx="1018" cy="916"/>
          </a:xfrm>
        </p:grpSpPr>
        <p:sp>
          <p:nvSpPr>
            <p:cNvPr id="121" name="椭圆 12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2" name="文本框 12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23" name="组合 122"/>
          <p:cNvGrpSpPr/>
          <p:nvPr/>
        </p:nvGrpSpPr>
        <p:grpSpPr>
          <a:xfrm rot="0">
            <a:off x="3401060" y="2981325"/>
            <a:ext cx="646430" cy="582295"/>
            <a:chOff x="10489" y="3359"/>
            <a:chExt cx="1018" cy="917"/>
          </a:xfrm>
        </p:grpSpPr>
        <p:sp>
          <p:nvSpPr>
            <p:cNvPr id="124" name="椭圆 12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5" name="文本框 124"/>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26" name="组合 125"/>
          <p:cNvGrpSpPr/>
          <p:nvPr/>
        </p:nvGrpSpPr>
        <p:grpSpPr>
          <a:xfrm rot="0">
            <a:off x="4813300" y="2980055"/>
            <a:ext cx="646430" cy="581660"/>
            <a:chOff x="10489" y="3359"/>
            <a:chExt cx="1018" cy="916"/>
          </a:xfrm>
        </p:grpSpPr>
        <p:sp>
          <p:nvSpPr>
            <p:cNvPr id="127" name="椭圆 1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8" name="文本框 127"/>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cxnSp>
        <p:nvCxnSpPr>
          <p:cNvPr id="129" name="曲线连接符 128"/>
          <p:cNvCxnSpPr/>
          <p:nvPr/>
        </p:nvCxnSpPr>
        <p:spPr>
          <a:xfrm rot="10800000" flipV="1">
            <a:off x="3742055" y="2263140"/>
            <a:ext cx="396875" cy="716915"/>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130" name="曲线连接符 129"/>
          <p:cNvCxnSpPr/>
          <p:nvPr/>
        </p:nvCxnSpPr>
        <p:spPr>
          <a:xfrm>
            <a:off x="4766310" y="2291715"/>
            <a:ext cx="370205" cy="688340"/>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143" name="曲线连接符 142"/>
          <p:cNvCxnSpPr>
            <a:endCxn id="136" idx="0"/>
          </p:cNvCxnSpPr>
          <p:nvPr/>
        </p:nvCxnSpPr>
        <p:spPr>
          <a:xfrm rot="10800000" flipV="1">
            <a:off x="2793365" y="3563620"/>
            <a:ext cx="930275" cy="382270"/>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144" name="曲线连接符 143"/>
          <p:cNvCxnSpPr/>
          <p:nvPr/>
        </p:nvCxnSpPr>
        <p:spPr>
          <a:xfrm rot="5400000" flipV="1">
            <a:off x="3693795" y="3594100"/>
            <a:ext cx="354330" cy="29337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45" name="曲线连接符 144"/>
          <p:cNvCxnSpPr>
            <a:endCxn id="142" idx="0"/>
          </p:cNvCxnSpPr>
          <p:nvPr/>
        </p:nvCxnSpPr>
        <p:spPr>
          <a:xfrm rot="5400000" flipV="1">
            <a:off x="5057140" y="3641090"/>
            <a:ext cx="389255" cy="230505"/>
          </a:xfrm>
          <a:prstGeom prst="curvedConnector3">
            <a:avLst>
              <a:gd name="adj1" fmla="val 50082"/>
            </a:avLst>
          </a:prstGeom>
          <a:solidFill>
            <a:schemeClr val="accent1"/>
          </a:solidFill>
          <a:ln w="9525" cap="flat" cmpd="sng" algn="ctr">
            <a:solidFill>
              <a:schemeClr val="tx1"/>
            </a:solidFill>
            <a:prstDash val="solid"/>
            <a:round/>
            <a:headEnd type="none" w="med" len="med"/>
            <a:tailEnd type="arrow" w="med" len="med"/>
          </a:ln>
        </p:spPr>
      </p:cxnSp>
      <p:cxnSp>
        <p:nvCxnSpPr>
          <p:cNvPr id="146" name="曲线连接符 145"/>
          <p:cNvCxnSpPr>
            <a:endCxn id="138" idx="0"/>
          </p:cNvCxnSpPr>
          <p:nvPr/>
        </p:nvCxnSpPr>
        <p:spPr>
          <a:xfrm>
            <a:off x="5136515" y="3561715"/>
            <a:ext cx="1382395" cy="29400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162" name="组合 161"/>
          <p:cNvGrpSpPr/>
          <p:nvPr/>
        </p:nvGrpSpPr>
        <p:grpSpPr>
          <a:xfrm>
            <a:off x="2268220" y="3900805"/>
            <a:ext cx="1061720" cy="992505"/>
            <a:chOff x="4365" y="6099"/>
            <a:chExt cx="1672" cy="1563"/>
          </a:xfrm>
        </p:grpSpPr>
        <p:grpSp>
          <p:nvGrpSpPr>
            <p:cNvPr id="134" name="组合 133"/>
            <p:cNvGrpSpPr/>
            <p:nvPr/>
          </p:nvGrpSpPr>
          <p:grpSpPr>
            <a:xfrm rot="0">
              <a:off x="4902" y="6099"/>
              <a:ext cx="538" cy="539"/>
              <a:chOff x="10489" y="3359"/>
              <a:chExt cx="1018" cy="917"/>
            </a:xfrm>
          </p:grpSpPr>
          <p:sp>
            <p:nvSpPr>
              <p:cNvPr id="135" name="椭圆 13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6" name="文本框 13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47" name="组合 146"/>
            <p:cNvGrpSpPr/>
            <p:nvPr/>
          </p:nvGrpSpPr>
          <p:grpSpPr>
            <a:xfrm>
              <a:off x="4365" y="6638"/>
              <a:ext cx="1672" cy="1025"/>
              <a:chOff x="4579" y="8358"/>
              <a:chExt cx="1672" cy="1025"/>
            </a:xfrm>
          </p:grpSpPr>
          <p:grpSp>
            <p:nvGrpSpPr>
              <p:cNvPr id="148" name="组合 147"/>
              <p:cNvGrpSpPr/>
              <p:nvPr/>
            </p:nvGrpSpPr>
            <p:grpSpPr>
              <a:xfrm rot="0">
                <a:off x="5713" y="8845"/>
                <a:ext cx="538" cy="539"/>
                <a:chOff x="10489" y="3359"/>
                <a:chExt cx="1018" cy="917"/>
              </a:xfrm>
            </p:grpSpPr>
            <p:sp>
              <p:nvSpPr>
                <p:cNvPr id="149" name="椭圆 1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0" name="文本框 1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51" name="组合 150"/>
              <p:cNvGrpSpPr/>
              <p:nvPr/>
            </p:nvGrpSpPr>
            <p:grpSpPr>
              <a:xfrm rot="0">
                <a:off x="4579" y="8845"/>
                <a:ext cx="538" cy="539"/>
                <a:chOff x="10489" y="3359"/>
                <a:chExt cx="1018" cy="917"/>
              </a:xfrm>
            </p:grpSpPr>
            <p:sp>
              <p:nvSpPr>
                <p:cNvPr id="152" name="椭圆 1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3" name="文本框 1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54" name="曲线连接符 153"/>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55" name="曲线连接符 154"/>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sp>
        <p:nvSpPr>
          <p:cNvPr id="157" name="文本框 156"/>
          <p:cNvSpPr txBox="1"/>
          <p:nvPr/>
        </p:nvSpPr>
        <p:spPr>
          <a:xfrm>
            <a:off x="2356485" y="3107055"/>
            <a:ext cx="669925" cy="368300"/>
          </a:xfrm>
          <a:prstGeom prst="rect">
            <a:avLst/>
          </a:prstGeom>
          <a:noFill/>
        </p:spPr>
        <p:txBody>
          <a:bodyPr wrap="square" rtlCol="0">
            <a:spAutoFit/>
          </a:bodyPr>
          <a:p>
            <a:r>
              <a:rPr lang="zh-CN" altLang="en-US"/>
              <a:t>①</a:t>
            </a:r>
            <a:r>
              <a:rPr lang="en-US" altLang="zh-CN"/>
              <a:t> 1</a:t>
            </a:r>
            <a:endParaRPr lang="en-US" altLang="zh-CN"/>
          </a:p>
        </p:txBody>
      </p:sp>
      <p:sp>
        <p:nvSpPr>
          <p:cNvPr id="160" name="文本框 159"/>
          <p:cNvSpPr txBox="1"/>
          <p:nvPr/>
        </p:nvSpPr>
        <p:spPr>
          <a:xfrm>
            <a:off x="1835785" y="3789045"/>
            <a:ext cx="669925" cy="368300"/>
          </a:xfrm>
          <a:prstGeom prst="rect">
            <a:avLst/>
          </a:prstGeom>
          <a:noFill/>
        </p:spPr>
        <p:txBody>
          <a:bodyPr wrap="square" rtlCol="0">
            <a:spAutoFit/>
          </a:bodyPr>
          <a:p>
            <a:r>
              <a:rPr lang="zh-CN" altLang="en-US"/>
              <a:t>②</a:t>
            </a:r>
            <a:r>
              <a:rPr lang="en-US" altLang="zh-CN"/>
              <a:t> 1</a:t>
            </a:r>
            <a:endParaRPr lang="en-US" altLang="zh-CN"/>
          </a:p>
        </p:txBody>
      </p:sp>
      <p:sp>
        <p:nvSpPr>
          <p:cNvPr id="161" name="文本框 160"/>
          <p:cNvSpPr txBox="1"/>
          <p:nvPr/>
        </p:nvSpPr>
        <p:spPr>
          <a:xfrm>
            <a:off x="1331595" y="4525010"/>
            <a:ext cx="669925" cy="368300"/>
          </a:xfrm>
          <a:prstGeom prst="rect">
            <a:avLst/>
          </a:prstGeom>
          <a:noFill/>
        </p:spPr>
        <p:txBody>
          <a:bodyPr wrap="square" rtlCol="0">
            <a:spAutoFit/>
          </a:bodyPr>
          <a:p>
            <a:r>
              <a:rPr lang="zh-CN" altLang="en-US"/>
              <a:t>③</a:t>
            </a:r>
            <a:r>
              <a:rPr lang="en-US" altLang="zh-CN"/>
              <a:t> 2</a:t>
            </a:r>
            <a:endParaRPr lang="en-US" altLang="zh-CN"/>
          </a:p>
        </p:txBody>
      </p:sp>
      <p:grpSp>
        <p:nvGrpSpPr>
          <p:cNvPr id="163" name="组合 162"/>
          <p:cNvGrpSpPr/>
          <p:nvPr/>
        </p:nvGrpSpPr>
        <p:grpSpPr>
          <a:xfrm>
            <a:off x="4834255" y="3917950"/>
            <a:ext cx="1061720" cy="992505"/>
            <a:chOff x="4365" y="6099"/>
            <a:chExt cx="1672" cy="1563"/>
          </a:xfrm>
        </p:grpSpPr>
        <p:grpSp>
          <p:nvGrpSpPr>
            <p:cNvPr id="164" name="组合 163"/>
            <p:cNvGrpSpPr/>
            <p:nvPr/>
          </p:nvGrpSpPr>
          <p:grpSpPr>
            <a:xfrm rot="0">
              <a:off x="4902" y="6099"/>
              <a:ext cx="538" cy="539"/>
              <a:chOff x="10489" y="3359"/>
              <a:chExt cx="1018" cy="917"/>
            </a:xfrm>
          </p:grpSpPr>
          <p:sp>
            <p:nvSpPr>
              <p:cNvPr id="165" name="椭圆 16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66" name="文本框 16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67" name="组合 166"/>
            <p:cNvGrpSpPr/>
            <p:nvPr/>
          </p:nvGrpSpPr>
          <p:grpSpPr>
            <a:xfrm>
              <a:off x="4365" y="6638"/>
              <a:ext cx="1672" cy="1025"/>
              <a:chOff x="4579" y="8358"/>
              <a:chExt cx="1672" cy="1025"/>
            </a:xfrm>
          </p:grpSpPr>
          <p:grpSp>
            <p:nvGrpSpPr>
              <p:cNvPr id="168" name="组合 167"/>
              <p:cNvGrpSpPr/>
              <p:nvPr/>
            </p:nvGrpSpPr>
            <p:grpSpPr>
              <a:xfrm rot="0">
                <a:off x="5713" y="8845"/>
                <a:ext cx="538" cy="539"/>
                <a:chOff x="10489" y="3359"/>
                <a:chExt cx="1018" cy="917"/>
              </a:xfrm>
            </p:grpSpPr>
            <p:sp>
              <p:nvSpPr>
                <p:cNvPr id="169" name="椭圆 16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0" name="文本框 16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71" name="组合 170"/>
              <p:cNvGrpSpPr/>
              <p:nvPr/>
            </p:nvGrpSpPr>
            <p:grpSpPr>
              <a:xfrm rot="0">
                <a:off x="4579" y="8845"/>
                <a:ext cx="538" cy="539"/>
                <a:chOff x="10489" y="3359"/>
                <a:chExt cx="1018" cy="917"/>
              </a:xfrm>
            </p:grpSpPr>
            <p:sp>
              <p:nvSpPr>
                <p:cNvPr id="172" name="椭圆 17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3" name="文本框 17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74" name="曲线连接符 173"/>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75" name="曲线连接符 174"/>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grpSp>
        <p:nvGrpSpPr>
          <p:cNvPr id="176" name="组合 175"/>
          <p:cNvGrpSpPr/>
          <p:nvPr/>
        </p:nvGrpSpPr>
        <p:grpSpPr>
          <a:xfrm>
            <a:off x="3529965" y="3917950"/>
            <a:ext cx="1061720" cy="992505"/>
            <a:chOff x="4365" y="6099"/>
            <a:chExt cx="1672" cy="1563"/>
          </a:xfrm>
        </p:grpSpPr>
        <p:grpSp>
          <p:nvGrpSpPr>
            <p:cNvPr id="177" name="组合 176"/>
            <p:cNvGrpSpPr/>
            <p:nvPr/>
          </p:nvGrpSpPr>
          <p:grpSpPr>
            <a:xfrm rot="0">
              <a:off x="4902" y="6099"/>
              <a:ext cx="538" cy="539"/>
              <a:chOff x="10489" y="3359"/>
              <a:chExt cx="1018" cy="917"/>
            </a:xfrm>
          </p:grpSpPr>
          <p:sp>
            <p:nvSpPr>
              <p:cNvPr id="178" name="椭圆 17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9" name="文本框 17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80" name="组合 179"/>
            <p:cNvGrpSpPr/>
            <p:nvPr/>
          </p:nvGrpSpPr>
          <p:grpSpPr>
            <a:xfrm>
              <a:off x="4365" y="6638"/>
              <a:ext cx="1672" cy="1025"/>
              <a:chOff x="4579" y="8358"/>
              <a:chExt cx="1672" cy="1025"/>
            </a:xfrm>
          </p:grpSpPr>
          <p:grpSp>
            <p:nvGrpSpPr>
              <p:cNvPr id="181" name="组合 180"/>
              <p:cNvGrpSpPr/>
              <p:nvPr/>
            </p:nvGrpSpPr>
            <p:grpSpPr>
              <a:xfrm rot="0">
                <a:off x="5713" y="8845"/>
                <a:ext cx="538" cy="539"/>
                <a:chOff x="10489" y="3359"/>
                <a:chExt cx="1018" cy="917"/>
              </a:xfrm>
            </p:grpSpPr>
            <p:sp>
              <p:nvSpPr>
                <p:cNvPr id="182" name="椭圆 18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83" name="文本框 18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84" name="组合 183"/>
              <p:cNvGrpSpPr/>
              <p:nvPr/>
            </p:nvGrpSpPr>
            <p:grpSpPr>
              <a:xfrm rot="0">
                <a:off x="4579" y="8845"/>
                <a:ext cx="538" cy="539"/>
                <a:chOff x="10489" y="3359"/>
                <a:chExt cx="1018" cy="917"/>
              </a:xfrm>
            </p:grpSpPr>
            <p:sp>
              <p:nvSpPr>
                <p:cNvPr id="185" name="椭圆 18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86" name="文本框 18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87" name="曲线连接符 186"/>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88" name="曲线连接符 187"/>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grpSp>
        <p:nvGrpSpPr>
          <p:cNvPr id="189" name="组合 188"/>
          <p:cNvGrpSpPr/>
          <p:nvPr/>
        </p:nvGrpSpPr>
        <p:grpSpPr>
          <a:xfrm>
            <a:off x="6012180" y="3900805"/>
            <a:ext cx="1061720" cy="992505"/>
            <a:chOff x="4365" y="6099"/>
            <a:chExt cx="1672" cy="1563"/>
          </a:xfrm>
        </p:grpSpPr>
        <p:grpSp>
          <p:nvGrpSpPr>
            <p:cNvPr id="190" name="组合 189"/>
            <p:cNvGrpSpPr/>
            <p:nvPr/>
          </p:nvGrpSpPr>
          <p:grpSpPr>
            <a:xfrm rot="0">
              <a:off x="4902" y="6099"/>
              <a:ext cx="538" cy="539"/>
              <a:chOff x="10489" y="3359"/>
              <a:chExt cx="1018" cy="917"/>
            </a:xfrm>
          </p:grpSpPr>
          <p:sp>
            <p:nvSpPr>
              <p:cNvPr id="191" name="椭圆 19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2" name="文本框 191"/>
              <p:cNvSpPr txBox="1"/>
              <p:nvPr/>
            </p:nvSpPr>
            <p:spPr>
              <a:xfrm>
                <a:off x="10603" y="3480"/>
                <a:ext cx="874" cy="694"/>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93" name="组合 192"/>
            <p:cNvGrpSpPr/>
            <p:nvPr/>
          </p:nvGrpSpPr>
          <p:grpSpPr>
            <a:xfrm>
              <a:off x="4365" y="6638"/>
              <a:ext cx="1672" cy="1025"/>
              <a:chOff x="4579" y="8358"/>
              <a:chExt cx="1672" cy="1025"/>
            </a:xfrm>
          </p:grpSpPr>
          <p:grpSp>
            <p:nvGrpSpPr>
              <p:cNvPr id="194" name="组合 193"/>
              <p:cNvGrpSpPr/>
              <p:nvPr/>
            </p:nvGrpSpPr>
            <p:grpSpPr>
              <a:xfrm rot="0">
                <a:off x="5713" y="8845"/>
                <a:ext cx="538" cy="539"/>
                <a:chOff x="10489" y="3359"/>
                <a:chExt cx="1018" cy="917"/>
              </a:xfrm>
            </p:grpSpPr>
            <p:sp>
              <p:nvSpPr>
                <p:cNvPr id="195" name="椭圆 19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6" name="文本框 19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97" name="组合 196"/>
              <p:cNvGrpSpPr/>
              <p:nvPr/>
            </p:nvGrpSpPr>
            <p:grpSpPr>
              <a:xfrm rot="0">
                <a:off x="4579" y="8845"/>
                <a:ext cx="538" cy="539"/>
                <a:chOff x="10489" y="3359"/>
                <a:chExt cx="1018" cy="917"/>
              </a:xfrm>
            </p:grpSpPr>
            <p:sp>
              <p:nvSpPr>
                <p:cNvPr id="198" name="椭圆 19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9" name="文本框 19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200" name="曲线连接符 199"/>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201" name="曲线连接符 200"/>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sp>
        <p:nvSpPr>
          <p:cNvPr id="203" name="矩形 202"/>
          <p:cNvSpPr/>
          <p:nvPr/>
        </p:nvSpPr>
        <p:spPr>
          <a:xfrm>
            <a:off x="3275965" y="2934970"/>
            <a:ext cx="1368425" cy="207835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4" name="矩形 203"/>
          <p:cNvSpPr/>
          <p:nvPr/>
        </p:nvSpPr>
        <p:spPr>
          <a:xfrm>
            <a:off x="4665980" y="2934970"/>
            <a:ext cx="1346835" cy="207835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5" name="文本框 204"/>
          <p:cNvSpPr txBox="1"/>
          <p:nvPr/>
        </p:nvSpPr>
        <p:spPr>
          <a:xfrm>
            <a:off x="4157980" y="2934970"/>
            <a:ext cx="297180" cy="368300"/>
          </a:xfrm>
          <a:prstGeom prst="rect">
            <a:avLst/>
          </a:prstGeom>
          <a:noFill/>
          <a:ln>
            <a:noFill/>
          </a:ln>
        </p:spPr>
        <p:txBody>
          <a:bodyPr wrap="square" rtlCol="0">
            <a:spAutoFit/>
          </a:bodyPr>
          <a:p>
            <a:r>
              <a:rPr lang="zh-CN" altLang="en-US">
                <a:solidFill>
                  <a:srgbClr val="FF0000"/>
                </a:solidFill>
              </a:rPr>
              <a:t>①</a:t>
            </a:r>
            <a:endParaRPr lang="zh-CN" altLang="en-US">
              <a:solidFill>
                <a:srgbClr val="FF0000"/>
              </a:solidFill>
            </a:endParaRPr>
          </a:p>
        </p:txBody>
      </p:sp>
      <p:sp>
        <p:nvSpPr>
          <p:cNvPr id="206" name="文本框 205"/>
          <p:cNvSpPr txBox="1"/>
          <p:nvPr/>
        </p:nvSpPr>
        <p:spPr>
          <a:xfrm>
            <a:off x="5554345" y="2934970"/>
            <a:ext cx="297180" cy="368300"/>
          </a:xfrm>
          <a:prstGeom prst="rect">
            <a:avLst/>
          </a:prstGeom>
          <a:noFill/>
          <a:ln>
            <a:noFill/>
          </a:ln>
        </p:spPr>
        <p:txBody>
          <a:bodyPr wrap="square" rtlCol="0">
            <a:spAutoFit/>
          </a:bodyPr>
          <a:p>
            <a:r>
              <a:rPr lang="zh-CN" altLang="en-US">
                <a:solidFill>
                  <a:srgbClr val="FF0000"/>
                </a:solidFill>
              </a:rPr>
              <a:t>②</a:t>
            </a:r>
            <a:endParaRPr lang="zh-CN" altLang="en-US">
              <a:solidFill>
                <a:srgbClr val="FF0000"/>
              </a:solidFill>
            </a:endParaRPr>
          </a:p>
        </p:txBody>
      </p:sp>
      <p:sp>
        <p:nvSpPr>
          <p:cNvPr id="207" name="文本框 206"/>
          <p:cNvSpPr txBox="1"/>
          <p:nvPr/>
        </p:nvSpPr>
        <p:spPr>
          <a:xfrm>
            <a:off x="2124075" y="5013325"/>
            <a:ext cx="5523230" cy="645160"/>
          </a:xfrm>
          <a:prstGeom prst="rect">
            <a:avLst/>
          </a:prstGeom>
          <a:noFill/>
        </p:spPr>
        <p:txBody>
          <a:bodyPr wrap="square" rtlCol="0" anchor="t">
            <a:spAutoFit/>
          </a:bodyPr>
          <a:p>
            <a:r>
              <a:rPr lang="en-US" altLang="zh-CN">
                <a:solidFill>
                  <a:srgbClr val="000066"/>
                </a:solidFill>
                <a:latin typeface="+mj-ea"/>
                <a:ea typeface="+mj-ea"/>
                <a:sym typeface="+mn-ea"/>
              </a:rPr>
              <a:t>[1,1,2] </a:t>
            </a:r>
            <a:r>
              <a:rPr lang="en-US" altLang="zh-CN">
                <a:solidFill>
                  <a:srgbClr val="000066"/>
                </a:solidFill>
                <a:latin typeface="+mj-ea"/>
                <a:ea typeface="+mj-ea"/>
                <a:sym typeface="+mn-ea"/>
              </a:rPr>
              <a:t>[1,1]  </a:t>
            </a:r>
            <a:r>
              <a:rPr lang="en-US" altLang="zh-CN">
                <a:solidFill>
                  <a:srgbClr val="FF0000"/>
                </a:solidFill>
                <a:latin typeface="+mj-ea"/>
                <a:ea typeface="+mj-ea"/>
                <a:sym typeface="+mn-ea"/>
              </a:rPr>
              <a:t>[1,2]    [1]      [1,2]    [1]</a:t>
            </a:r>
            <a:r>
              <a:rPr lang="en-US" altLang="zh-CN">
                <a:solidFill>
                  <a:srgbClr val="000066"/>
                </a:solidFill>
                <a:latin typeface="+mj-ea"/>
                <a:ea typeface="+mj-ea"/>
                <a:sym typeface="+mn-ea"/>
              </a:rPr>
              <a:t> </a:t>
            </a:r>
            <a:r>
              <a:rPr lang="en-US" altLang="zh-CN">
                <a:solidFill>
                  <a:srgbClr val="000066"/>
                </a:solidFill>
                <a:latin typeface="+mj-ea"/>
                <a:ea typeface="+mj-ea"/>
                <a:sym typeface="+mn-ea"/>
              </a:rPr>
              <a:t>   [2]        [] </a:t>
            </a:r>
            <a:endParaRPr lang="en-US" altLang="zh-CN">
              <a:solidFill>
                <a:srgbClr val="000066"/>
              </a:solidFill>
              <a:latin typeface="+mj-ea"/>
              <a:ea typeface="+mj-ea"/>
              <a:sym typeface="+mn-ea"/>
            </a:endParaRPr>
          </a:p>
          <a:p>
            <a:endParaRPr lang="en-US" altLang="zh-CN">
              <a:solidFill>
                <a:srgbClr val="000066"/>
              </a:solidFill>
              <a:latin typeface="+mj-ea"/>
              <a:ea typeface="+mj-ea"/>
              <a:sym typeface="+mn-ea"/>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188595" y="367030"/>
            <a:ext cx="848741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sym typeface="+mn-ea"/>
              </a:rPr>
              <a:t>（</a:t>
            </a:r>
            <a:r>
              <a:rPr lang="en-US" altLang="zh-CN" sz="3600" kern="0" smtClean="0">
                <a:sym typeface="+mn-ea"/>
              </a:rPr>
              <a:t>3</a:t>
            </a:r>
            <a:r>
              <a:rPr lang="zh-CN" sz="3600" kern="0" smtClean="0">
                <a:sym typeface="+mn-ea"/>
              </a:rPr>
              <a:t>）</a:t>
            </a:r>
            <a:r>
              <a:rPr lang="zh-CN" altLang="en-US" sz="3600" kern="0" smtClean="0"/>
              <a:t>全排列</a:t>
            </a:r>
            <a:r>
              <a:rPr lang="en-US" altLang="zh-CN" sz="3600" kern="0" smtClean="0"/>
              <a:t>II</a:t>
            </a:r>
            <a:r>
              <a:rPr lang="zh-CN" altLang="en-US" sz="3600" kern="0" smtClean="0"/>
              <a:t>和子集</a:t>
            </a:r>
            <a:r>
              <a:rPr lang="en-US" altLang="zh-CN" sz="3600" kern="0" smtClean="0"/>
              <a:t>II(</a:t>
            </a:r>
            <a:r>
              <a:rPr lang="zh-CN" altLang="en-US" sz="3600" kern="0" smtClean="0"/>
              <a:t>需要对搜索树剪枝</a:t>
            </a:r>
            <a:r>
              <a:rPr lang="en-US" altLang="zh-CN" sz="3600" kern="0" smtClean="0"/>
              <a:t>)</a:t>
            </a:r>
            <a:endParaRPr lang="en-US" altLang="zh-CN" sz="3600" kern="0" smtClean="0"/>
          </a:p>
        </p:txBody>
      </p:sp>
      <p:sp>
        <p:nvSpPr>
          <p:cNvPr id="81" name="文本框 80"/>
          <p:cNvSpPr txBox="1"/>
          <p:nvPr/>
        </p:nvSpPr>
        <p:spPr>
          <a:xfrm>
            <a:off x="427990" y="1489075"/>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2</a:t>
            </a:r>
            <a:r>
              <a:rPr lang="zh-CN">
                <a:solidFill>
                  <a:srgbClr val="000066"/>
                </a:solidFill>
                <a:latin typeface="+mj-ea"/>
                <a:ea typeface="+mj-ea"/>
              </a:rPr>
              <a:t>）观察</a:t>
            </a:r>
            <a:r>
              <a:rPr lang="zh-CN">
                <a:solidFill>
                  <a:srgbClr val="000066"/>
                </a:solidFill>
                <a:latin typeface="+mj-ea"/>
                <a:ea typeface="+mj-ea"/>
              </a:rPr>
              <a:t>子集有重复的剪枝条件</a:t>
            </a:r>
            <a:r>
              <a:rPr lang="en-US" altLang="zh-CN">
                <a:solidFill>
                  <a:srgbClr val="000066"/>
                </a:solidFill>
                <a:latin typeface="+mj-ea"/>
                <a:ea typeface="+mj-ea"/>
              </a:rPr>
              <a:t> </a:t>
            </a:r>
            <a:endParaRPr lang="zh-CN" altLang="en-US">
              <a:solidFill>
                <a:srgbClr val="000066"/>
              </a:solidFill>
              <a:latin typeface="+mj-ea"/>
              <a:ea typeface="+mj-ea"/>
            </a:endParaRPr>
          </a:p>
        </p:txBody>
      </p:sp>
      <p:pic>
        <p:nvPicPr>
          <p:cNvPr id="2" name="图片 1"/>
          <p:cNvPicPr>
            <a:picLocks noChangeAspect="1"/>
          </p:cNvPicPr>
          <p:nvPr/>
        </p:nvPicPr>
        <p:blipFill>
          <a:blip r:embed="rId1"/>
          <a:stretch>
            <a:fillRect/>
          </a:stretch>
        </p:blipFill>
        <p:spPr>
          <a:xfrm>
            <a:off x="1979930" y="2132965"/>
            <a:ext cx="4943475" cy="3638550"/>
          </a:xfrm>
          <a:prstGeom prst="rect">
            <a:avLst/>
          </a:prstGeom>
        </p:spPr>
      </p:pic>
      <p:sp>
        <p:nvSpPr>
          <p:cNvPr id="5" name="矩形 4"/>
          <p:cNvSpPr/>
          <p:nvPr/>
        </p:nvSpPr>
        <p:spPr>
          <a:xfrm>
            <a:off x="2555875" y="4077335"/>
            <a:ext cx="4015740" cy="57594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828040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总结</a:t>
            </a:r>
            <a:endParaRPr lang="zh-CN" altLang="en-US" sz="3600" kern="0" smtClean="0"/>
          </a:p>
        </p:txBody>
      </p:sp>
      <p:sp>
        <p:nvSpPr>
          <p:cNvPr id="81" name="文本框 80"/>
          <p:cNvSpPr txBox="1"/>
          <p:nvPr/>
        </p:nvSpPr>
        <p:spPr>
          <a:xfrm>
            <a:off x="427990" y="1489075"/>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1</a:t>
            </a:r>
            <a:r>
              <a:rPr lang="zh-CN">
                <a:solidFill>
                  <a:srgbClr val="000066"/>
                </a:solidFill>
                <a:latin typeface="+mj-ea"/>
                <a:ea typeface="+mj-ea"/>
              </a:rPr>
              <a:t>）回溯模板</a:t>
            </a:r>
            <a:r>
              <a:rPr lang="en-US" altLang="zh-CN">
                <a:solidFill>
                  <a:srgbClr val="000066"/>
                </a:solidFill>
                <a:latin typeface="+mj-ea"/>
                <a:ea typeface="+mj-ea"/>
              </a:rPr>
              <a:t> </a:t>
            </a:r>
            <a:endParaRPr lang="zh-CN" altLang="en-US">
              <a:solidFill>
                <a:srgbClr val="000066"/>
              </a:solidFill>
              <a:latin typeface="+mj-ea"/>
              <a:ea typeface="+mj-ea"/>
            </a:endParaRPr>
          </a:p>
        </p:txBody>
      </p:sp>
      <p:pic>
        <p:nvPicPr>
          <p:cNvPr id="3" name="图片 2"/>
          <p:cNvPicPr>
            <a:picLocks noChangeAspect="1"/>
          </p:cNvPicPr>
          <p:nvPr/>
        </p:nvPicPr>
        <p:blipFill>
          <a:blip r:embed="rId1"/>
          <a:stretch>
            <a:fillRect/>
          </a:stretch>
        </p:blipFill>
        <p:spPr>
          <a:xfrm>
            <a:off x="899795" y="2132965"/>
            <a:ext cx="3381375" cy="3076575"/>
          </a:xfrm>
          <a:prstGeom prst="rect">
            <a:avLst/>
          </a:prstGeom>
        </p:spPr>
      </p:pic>
      <p:sp>
        <p:nvSpPr>
          <p:cNvPr id="6" name="文本框 5"/>
          <p:cNvSpPr txBox="1"/>
          <p:nvPr/>
        </p:nvSpPr>
        <p:spPr>
          <a:xfrm>
            <a:off x="4140200" y="1489075"/>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2</a:t>
            </a:r>
            <a:r>
              <a:rPr lang="zh-CN">
                <a:solidFill>
                  <a:srgbClr val="000066"/>
                </a:solidFill>
                <a:latin typeface="+mj-ea"/>
                <a:ea typeface="+mj-ea"/>
              </a:rPr>
              <a:t>）回溯模板（有剪枝</a:t>
            </a:r>
            <a:r>
              <a:rPr lang="zh-CN">
                <a:solidFill>
                  <a:srgbClr val="000066"/>
                </a:solidFill>
                <a:latin typeface="+mj-ea"/>
                <a:ea typeface="+mj-ea"/>
              </a:rPr>
              <a:t>）</a:t>
            </a:r>
            <a:r>
              <a:rPr lang="en-US" altLang="zh-CN">
                <a:solidFill>
                  <a:srgbClr val="000066"/>
                </a:solidFill>
                <a:latin typeface="+mj-ea"/>
                <a:ea typeface="+mj-ea"/>
              </a:rPr>
              <a:t> </a:t>
            </a:r>
            <a:endParaRPr lang="zh-CN" altLang="en-US">
              <a:solidFill>
                <a:srgbClr val="000066"/>
              </a:solidFill>
              <a:latin typeface="+mj-ea"/>
              <a:ea typeface="+mj-ea"/>
            </a:endParaRPr>
          </a:p>
        </p:txBody>
      </p:sp>
      <p:pic>
        <p:nvPicPr>
          <p:cNvPr id="7" name="图片 6"/>
          <p:cNvPicPr>
            <a:picLocks noChangeAspect="1"/>
          </p:cNvPicPr>
          <p:nvPr/>
        </p:nvPicPr>
        <p:blipFill>
          <a:blip r:embed="rId2"/>
          <a:stretch>
            <a:fillRect/>
          </a:stretch>
        </p:blipFill>
        <p:spPr>
          <a:xfrm>
            <a:off x="4499610" y="1772920"/>
            <a:ext cx="3962400" cy="3648075"/>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6" y="1988840"/>
            <a:ext cx="8874126" cy="4339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现实中存在很多问题，目前来说没有高效的算法，这个时候求解问题只能使用蛮力法，即通过穷举搜索的方式来解决，在搜索过程中，蛮力法会生成该问题所有的可能解，之后去判断其是否满足约束条件，但蛮力算法效率普遍较低，尤其是在处理规模较大的问题时耗费时间较长，回溯法是对蛮力法的改进，是有组织的搜索，它基于下面两个特征来组织搜索过程：</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一是在求解问题的过程中只有满足约束条件的解才是可行解，二是只有满足目标函数的解才是最优解，如此能够避免不必要的重复搜索，提高搜索效率。回溯法每次只构造可能解的一部分，接着用约束条件先进行判断，如果满足条件再对其进一步构造，这样就能够避免搜索所有的可能解，节省时间。</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083739" y="1186824"/>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6.1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回朔法概述</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45243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b="1" dirty="0">
                <a:solidFill>
                  <a:srgbClr val="080808"/>
                </a:solidFill>
                <a:latin typeface="楷体" panose="02010609060101010101" pitchFamily="49" charset="-122"/>
                <a:ea typeface="楷体" panose="02010609060101010101" pitchFamily="49" charset="-122"/>
              </a:rPr>
              <a:t>6.1.1 </a:t>
            </a:r>
            <a:r>
              <a:rPr lang="zh-CN" altLang="en-US" sz="2400" b="1" dirty="0">
                <a:solidFill>
                  <a:srgbClr val="080808"/>
                </a:solidFill>
                <a:latin typeface="楷体" panose="02010609060101010101" pitchFamily="49" charset="-122"/>
                <a:ea typeface="楷体" panose="02010609060101010101" pitchFamily="49" charset="-122"/>
              </a:rPr>
              <a:t>问题的解空间</a:t>
            </a:r>
            <a:endParaRPr lang="en-US" altLang="zh-CN" sz="2400" b="1" dirty="0">
              <a:solidFill>
                <a:srgbClr val="080808"/>
              </a:solidFill>
              <a:latin typeface="楷体" panose="02010609060101010101" pitchFamily="49" charset="-122"/>
              <a:ea typeface="楷体" panose="02010609060101010101" pitchFamily="49" charset="-122"/>
            </a:endParaRPr>
          </a:p>
          <a:p>
            <a:pPr>
              <a:spcBef>
                <a:spcPts val="0"/>
              </a:spcBef>
              <a:buSzTx/>
              <a:buFontTx/>
              <a:buNone/>
            </a:pPr>
            <a:endParaRPr lang="zh-CN" altLang="en-US" sz="2400" b="1"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、解空间的概念</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问题的解空间是指解决一个问题的所有可能解构成的集合。复杂问题的解通常是由若干个决策步骤组成的决策序列，设问题的解由一个解向量</a:t>
            </a:r>
            <a:r>
              <a:rPr lang="en-US" altLang="zh-CN" sz="2400" dirty="0">
                <a:solidFill>
                  <a:srgbClr val="080808"/>
                </a:solidFill>
                <a:latin typeface="楷体" panose="02010609060101010101" pitchFamily="49" charset="-122"/>
                <a:ea typeface="楷体" panose="02010609060101010101" pitchFamily="49" charset="-122"/>
              </a:rPr>
              <a:t>X={x1,x2,…,</a:t>
            </a:r>
            <a:r>
              <a:rPr lang="en-US" altLang="zh-CN" sz="2400" dirty="0" err="1">
                <a:solidFill>
                  <a:srgbClr val="080808"/>
                </a:solidFill>
                <a:latin typeface="楷体" panose="02010609060101010101" pitchFamily="49" charset="-122"/>
                <a:ea typeface="楷体" panose="02010609060101010101" pitchFamily="49" charset="-122"/>
              </a:rPr>
              <a:t>xn</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组成，其中分量</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表示第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个决策步骤的操作，</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的所有可能取值的组合叫做问题的解空间。</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例：在</a:t>
            </a:r>
            <a:r>
              <a:rPr lang="en-US" altLang="zh-CN" sz="2400" dirty="0">
                <a:solidFill>
                  <a:srgbClr val="080808"/>
                </a:solidFill>
                <a:latin typeface="楷体" panose="02010609060101010101" pitchFamily="49" charset="-122"/>
                <a:ea typeface="楷体" panose="02010609060101010101" pitchFamily="49" charset="-122"/>
              </a:rPr>
              <a:t>0-1</a:t>
            </a:r>
            <a:r>
              <a:rPr lang="zh-CN" altLang="en-US" sz="2400" dirty="0">
                <a:solidFill>
                  <a:srgbClr val="080808"/>
                </a:solidFill>
                <a:latin typeface="楷体" panose="02010609060101010101" pitchFamily="49" charset="-122"/>
                <a:ea typeface="楷体" panose="02010609060101010101" pitchFamily="49" charset="-122"/>
              </a:rPr>
              <a:t>背包问题中，</a:t>
            </a:r>
            <a:r>
              <a:rPr lang="en-US" altLang="zh-CN" sz="2400" dirty="0">
                <a:solidFill>
                  <a:srgbClr val="080808"/>
                </a:solidFill>
                <a:latin typeface="楷体" panose="02010609060101010101" pitchFamily="49" charset="-122"/>
                <a:ea typeface="楷体" panose="02010609060101010101" pitchFamily="49" charset="-122"/>
              </a:rPr>
              <a:t>xi </a:t>
            </a:r>
            <a:r>
              <a:rPr lang="zh-CN" altLang="en-US" sz="2400" dirty="0">
                <a:solidFill>
                  <a:srgbClr val="080808"/>
                </a:solidFill>
                <a:latin typeface="楷体" panose="02010609060101010101" pitchFamily="49" charset="-122"/>
                <a:ea typeface="楷体" panose="02010609060101010101" pitchFamily="49" charset="-122"/>
              </a:rPr>
              <a:t>有</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1 </a:t>
            </a:r>
            <a:r>
              <a:rPr lang="zh-CN" altLang="en-US" sz="2400" dirty="0">
                <a:solidFill>
                  <a:srgbClr val="080808"/>
                </a:solidFill>
                <a:latin typeface="楷体" panose="02010609060101010101" pitchFamily="49" charset="-122"/>
                <a:ea typeface="楷体" panose="02010609060101010101" pitchFamily="49" charset="-122"/>
              </a:rPr>
              <a:t>两种可能的取值，当</a:t>
            </a:r>
            <a:r>
              <a:rPr lang="en-US" altLang="zh-CN" sz="2400" dirty="0">
                <a:solidFill>
                  <a:srgbClr val="080808"/>
                </a:solidFill>
                <a:latin typeface="楷体" panose="02010609060101010101" pitchFamily="49" charset="-122"/>
                <a:ea typeface="楷体" panose="02010609060101010101" pitchFamily="49" charset="-122"/>
              </a:rPr>
              <a:t>n=3</a:t>
            </a:r>
            <a:r>
              <a:rPr lang="zh-CN" altLang="en-US" sz="2400" dirty="0">
                <a:solidFill>
                  <a:srgbClr val="080808"/>
                </a:solidFill>
                <a:latin typeface="楷体" panose="02010609060101010101" pitchFamily="49" charset="-122"/>
                <a:ea typeface="楷体" panose="02010609060101010101" pitchFamily="49" charset="-122"/>
              </a:rPr>
              <a:t>时，</a:t>
            </a:r>
            <a:r>
              <a:rPr lang="en-US" altLang="zh-CN" sz="2400" dirty="0">
                <a:solidFill>
                  <a:srgbClr val="080808"/>
                </a:solidFill>
                <a:latin typeface="楷体" panose="02010609060101010101" pitchFamily="49" charset="-122"/>
                <a:ea typeface="楷体" panose="02010609060101010101" pitchFamily="49" charset="-122"/>
              </a:rPr>
              <a:t>0-1</a:t>
            </a:r>
            <a:r>
              <a:rPr lang="zh-CN" altLang="en-US" sz="2400" dirty="0">
                <a:solidFill>
                  <a:srgbClr val="080808"/>
                </a:solidFill>
                <a:latin typeface="楷体" panose="02010609060101010101" pitchFamily="49" charset="-122"/>
                <a:ea typeface="楷体" panose="02010609060101010101" pitchFamily="49" charset="-122"/>
              </a:rPr>
              <a:t>背包问题的解空间如下：</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{(0,0,0), (0,0,1), (0,1,0), (0,1,1), </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(1,0,0), (1,0,1), (1,1,0), (1,1,1)}</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4154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当</a:t>
            </a:r>
            <a:r>
              <a:rPr lang="en-US" altLang="zh-CN" sz="2400" dirty="0">
                <a:solidFill>
                  <a:srgbClr val="080808"/>
                </a:solidFill>
                <a:latin typeface="楷体" panose="02010609060101010101" pitchFamily="49" charset="-122"/>
                <a:ea typeface="楷体" panose="02010609060101010101" pitchFamily="49" charset="-122"/>
              </a:rPr>
              <a:t>n=4</a:t>
            </a:r>
            <a:r>
              <a:rPr lang="zh-CN" altLang="en-US" sz="2400" dirty="0">
                <a:solidFill>
                  <a:srgbClr val="080808"/>
                </a:solidFill>
                <a:latin typeface="楷体" panose="02010609060101010101" pitchFamily="49" charset="-122"/>
                <a:ea typeface="楷体" panose="02010609060101010101" pitchFamily="49" charset="-122"/>
              </a:rPr>
              <a:t>时，</a:t>
            </a:r>
            <a:r>
              <a:rPr lang="en-US" altLang="zh-CN" sz="2400" dirty="0">
                <a:solidFill>
                  <a:srgbClr val="080808"/>
                </a:solidFill>
                <a:latin typeface="楷体" panose="02010609060101010101" pitchFamily="49" charset="-122"/>
                <a:ea typeface="楷体" panose="02010609060101010101" pitchFamily="49" charset="-122"/>
              </a:rPr>
              <a:t>0-1</a:t>
            </a:r>
            <a:r>
              <a:rPr lang="zh-CN" altLang="en-US" sz="2400" dirty="0">
                <a:solidFill>
                  <a:srgbClr val="080808"/>
                </a:solidFill>
                <a:latin typeface="楷体" panose="02010609060101010101" pitchFamily="49" charset="-122"/>
                <a:ea typeface="楷体" panose="02010609060101010101" pitchFamily="49" charset="-122"/>
              </a:rPr>
              <a:t>背包问题的解空间如下：</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{(0,0,0,0), (0,0,0,1), (0,0,1,0), (0,0,1,1), </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(0,1,0,0), (0,1,0,1), (0,1,1,0), (0,1,1,1)</a:t>
            </a:r>
            <a:r>
              <a:rPr lang="zh-CN" altLang="en-US" sz="2400" dirty="0">
                <a:solidFill>
                  <a:srgbClr val="080808"/>
                </a:solidFill>
                <a:latin typeface="楷体" panose="02010609060101010101" pitchFamily="49" charset="-122"/>
                <a:ea typeface="楷体" panose="02010609060101010101" pitchFamily="49" charset="-122"/>
              </a:rPr>
              <a:t>，</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(1,0,0,0), (1,0,0,1), (1,0,1,0), (1,0,1,1), </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(1,1,0,0), (1,1,0,1), (1,1,1,0), (1,1,1,1)}</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即：当问题规模为</a:t>
            </a:r>
            <a:r>
              <a:rPr lang="en-US" altLang="zh-CN" sz="2400" dirty="0">
                <a:solidFill>
                  <a:srgbClr val="080808"/>
                </a:solidFill>
                <a:latin typeface="楷体" panose="02010609060101010101" pitchFamily="49" charset="-122"/>
                <a:ea typeface="楷体" panose="02010609060101010101" pitchFamily="49" charset="-122"/>
              </a:rPr>
              <a:t>n </a:t>
            </a:r>
            <a:r>
              <a:rPr lang="zh-CN" altLang="en-US" sz="2400" dirty="0">
                <a:solidFill>
                  <a:srgbClr val="080808"/>
                </a:solidFill>
                <a:latin typeface="楷体" panose="02010609060101010101" pitchFamily="49" charset="-122"/>
                <a:ea typeface="楷体" panose="02010609060101010101" pitchFamily="49" charset="-122"/>
              </a:rPr>
              <a:t>时，有</a:t>
            </a:r>
            <a:r>
              <a:rPr lang="en-US" altLang="zh-CN" sz="2400" dirty="0">
                <a:solidFill>
                  <a:srgbClr val="080808"/>
                </a:solidFill>
                <a:latin typeface="楷体" panose="02010609060101010101" pitchFamily="49" charset="-122"/>
                <a:ea typeface="楷体" panose="02010609060101010101" pitchFamily="49" charset="-122"/>
              </a:rPr>
              <a:t>2n </a:t>
            </a:r>
            <a:r>
              <a:rPr lang="zh-CN" altLang="en-US" sz="2400" dirty="0">
                <a:solidFill>
                  <a:srgbClr val="080808"/>
                </a:solidFill>
                <a:latin typeface="楷体" panose="02010609060101010101" pitchFamily="49" charset="-122"/>
                <a:ea typeface="楷体" panose="02010609060101010101" pitchFamily="49" charset="-122"/>
              </a:rPr>
              <a:t>种可能的解。</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可能解的表示：用等长向量 </a:t>
            </a:r>
            <a:r>
              <a:rPr lang="en-US" altLang="zh-CN" sz="2400" dirty="0">
                <a:solidFill>
                  <a:srgbClr val="080808"/>
                </a:solidFill>
                <a:latin typeface="楷体" panose="02010609060101010101" pitchFamily="49" charset="-122"/>
                <a:ea typeface="楷体" panose="02010609060101010101" pitchFamily="49" charset="-122"/>
              </a:rPr>
              <a:t>X=(x1, x2, …, </a:t>
            </a:r>
            <a:r>
              <a:rPr lang="en-US" altLang="zh-CN" sz="2400" dirty="0" err="1">
                <a:solidFill>
                  <a:srgbClr val="080808"/>
                </a:solidFill>
                <a:latin typeface="楷体" panose="02010609060101010101" pitchFamily="49" charset="-122"/>
                <a:ea typeface="楷体" panose="02010609060101010101" pitchFamily="49" charset="-122"/>
              </a:rPr>
              <a:t>xn</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，其中分量 </a:t>
            </a:r>
            <a:r>
              <a:rPr lang="en-US" altLang="zh-CN" sz="2400" dirty="0">
                <a:solidFill>
                  <a:srgbClr val="080808"/>
                </a:solidFill>
                <a:latin typeface="楷体" panose="02010609060101010101" pitchFamily="49" charset="-122"/>
                <a:ea typeface="楷体" panose="02010609060101010101" pitchFamily="49" charset="-122"/>
              </a:rPr>
              <a:t>xi (1≤i≤n) </a:t>
            </a:r>
            <a:r>
              <a:rPr lang="zh-CN" altLang="en-US" sz="2400" dirty="0">
                <a:solidFill>
                  <a:srgbClr val="080808"/>
                </a:solidFill>
                <a:latin typeface="楷体" panose="02010609060101010101" pitchFamily="49" charset="-122"/>
                <a:ea typeface="楷体" panose="02010609060101010101" pitchFamily="49" charset="-122"/>
              </a:rPr>
              <a:t>的取值范围是某个有限集合 </a:t>
            </a:r>
            <a:r>
              <a:rPr lang="en-US" altLang="zh-CN" sz="2400" dirty="0">
                <a:solidFill>
                  <a:srgbClr val="080808"/>
                </a:solidFill>
                <a:latin typeface="楷体" panose="02010609060101010101" pitchFamily="49" charset="-122"/>
                <a:ea typeface="楷体" panose="02010609060101010101" pitchFamily="49" charset="-122"/>
              </a:rPr>
              <a:t>S={a1, a2, …, </a:t>
            </a:r>
            <a:r>
              <a:rPr lang="en-US" altLang="zh-CN" sz="2400" dirty="0" err="1">
                <a:solidFill>
                  <a:srgbClr val="080808"/>
                </a:solidFill>
                <a:latin typeface="楷体" panose="02010609060101010101" pitchFamily="49" charset="-122"/>
                <a:ea typeface="楷体" panose="02010609060101010101" pitchFamily="49" charset="-122"/>
              </a:rPr>
              <a:t>aj</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，所有可能的解向量就构成了问题的解空间。</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52629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、解空间树</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问题的解空间一般采用树的方式来组织，称之为解空间树，解空间树中的各个结点都能够确定所解问题的一个状态。</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层：即树的根结点，代表搜索的初始状态；</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层结点：表示对解向量的第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个分量做出选择后到达的状态；</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层间的边：标出对第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个分量选择的结果。</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依此类推，通常情况下，从根结点到叶子结点的路径就构成了解空间的一个可能解。</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在解空间中，满足约束条件的解称为可行解，在约束条件下使目标达到最优的可行解称为该问题的最优解。例如在背包问题中，有</a:t>
            </a:r>
            <a:r>
              <a:rPr lang="en-US" altLang="zh-CN" sz="2400" dirty="0">
                <a:solidFill>
                  <a:srgbClr val="080808"/>
                </a:solidFill>
                <a:latin typeface="楷体" panose="02010609060101010101" pitchFamily="49" charset="-122"/>
                <a:ea typeface="楷体" panose="02010609060101010101" pitchFamily="49" charset="-122"/>
              </a:rPr>
              <a:t>2n</a:t>
            </a:r>
            <a:r>
              <a:rPr lang="zh-CN" altLang="en-US" sz="2400" dirty="0">
                <a:solidFill>
                  <a:srgbClr val="080808"/>
                </a:solidFill>
                <a:latin typeface="楷体" panose="02010609060101010101" pitchFamily="49" charset="-122"/>
                <a:ea typeface="楷体" panose="02010609060101010101" pitchFamily="49" charset="-122"/>
              </a:rPr>
              <a:t>种可能解，一部分是可行解，而可行解中只有一个或几个是最优解。</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07504" y="1124744"/>
            <a:ext cx="8863627"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000" dirty="0">
                <a:solidFill>
                  <a:srgbClr val="080808"/>
                </a:solidFill>
                <a:latin typeface="楷体" panose="02010609060101010101" pitchFamily="49" charset="-122"/>
                <a:ea typeface="楷体" panose="02010609060101010101" pitchFamily="49" charset="-122"/>
              </a:rPr>
              <a:t>例：在</a:t>
            </a:r>
            <a:r>
              <a:rPr lang="en-US" altLang="zh-CN" sz="2000" dirty="0">
                <a:solidFill>
                  <a:srgbClr val="080808"/>
                </a:solidFill>
                <a:latin typeface="楷体" panose="02010609060101010101" pitchFamily="49" charset="-122"/>
                <a:ea typeface="楷体" panose="02010609060101010101" pitchFamily="49" charset="-122"/>
              </a:rPr>
              <a:t>0-1</a:t>
            </a:r>
            <a:r>
              <a:rPr lang="zh-CN" altLang="en-US" sz="2000" dirty="0">
                <a:solidFill>
                  <a:srgbClr val="080808"/>
                </a:solidFill>
                <a:latin typeface="楷体" panose="02010609060101010101" pitchFamily="49" charset="-122"/>
                <a:ea typeface="楷体" panose="02010609060101010101" pitchFamily="49" charset="-122"/>
              </a:rPr>
              <a:t>背包问题中，当</a:t>
            </a:r>
            <a:r>
              <a:rPr lang="en-US" altLang="zh-CN" sz="2000" dirty="0">
                <a:solidFill>
                  <a:srgbClr val="080808"/>
                </a:solidFill>
                <a:latin typeface="楷体" panose="02010609060101010101" pitchFamily="49" charset="-122"/>
                <a:ea typeface="楷体" panose="02010609060101010101" pitchFamily="49" charset="-122"/>
              </a:rPr>
              <a:t>n=3</a:t>
            </a:r>
            <a:r>
              <a:rPr lang="zh-CN" altLang="en-US" sz="2000" dirty="0">
                <a:solidFill>
                  <a:srgbClr val="080808"/>
                </a:solidFill>
                <a:latin typeface="楷体" panose="02010609060101010101" pitchFamily="49" charset="-122"/>
                <a:ea typeface="楷体" panose="02010609060101010101" pitchFamily="49" charset="-122"/>
              </a:rPr>
              <a:t>时，其解空间树如下图</a:t>
            </a:r>
            <a:r>
              <a:rPr lang="en-US" altLang="zh-CN" sz="2000" dirty="0">
                <a:solidFill>
                  <a:srgbClr val="080808"/>
                </a:solidFill>
                <a:latin typeface="楷体" panose="02010609060101010101" pitchFamily="49" charset="-122"/>
                <a:ea typeface="楷体" panose="02010609060101010101" pitchFamily="49" charset="-122"/>
              </a:rPr>
              <a:t>6.1 </a:t>
            </a:r>
            <a:r>
              <a:rPr lang="zh-CN" altLang="en-US" sz="2000" dirty="0">
                <a:solidFill>
                  <a:srgbClr val="080808"/>
                </a:solidFill>
                <a:latin typeface="楷体" panose="02010609060101010101" pitchFamily="49" charset="-122"/>
                <a:ea typeface="楷体" panose="02010609060101010101" pitchFamily="49" charset="-122"/>
              </a:rPr>
              <a:t>所示，第</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层到第</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层间的边表示对物品</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的选择，左分支的</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表示装入物品</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，右分支的</a:t>
            </a:r>
            <a:r>
              <a:rPr lang="en-US" altLang="zh-CN" sz="2000" dirty="0">
                <a:solidFill>
                  <a:srgbClr val="080808"/>
                </a:solidFill>
                <a:latin typeface="楷体" panose="02010609060101010101" pitchFamily="49" charset="-122"/>
                <a:ea typeface="楷体" panose="02010609060101010101" pitchFamily="49" charset="-122"/>
              </a:rPr>
              <a:t>0</a:t>
            </a:r>
            <a:r>
              <a:rPr lang="zh-CN" altLang="en-US" sz="2000" dirty="0">
                <a:solidFill>
                  <a:srgbClr val="080808"/>
                </a:solidFill>
                <a:latin typeface="楷体" panose="02010609060101010101" pitchFamily="49" charset="-122"/>
                <a:ea typeface="楷体" panose="02010609060101010101" pitchFamily="49" charset="-122"/>
              </a:rPr>
              <a:t>表示不装入物品</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，第</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层到第</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层间的边表示对物品</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的选择，左分支的</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表示装入物品</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，右分支的</a:t>
            </a:r>
            <a:r>
              <a:rPr lang="en-US" altLang="zh-CN" sz="2000" dirty="0">
                <a:solidFill>
                  <a:srgbClr val="080808"/>
                </a:solidFill>
                <a:latin typeface="楷体" panose="02010609060101010101" pitchFamily="49" charset="-122"/>
                <a:ea typeface="楷体" panose="02010609060101010101" pitchFamily="49" charset="-122"/>
              </a:rPr>
              <a:t>0</a:t>
            </a:r>
            <a:r>
              <a:rPr lang="zh-CN" altLang="en-US" sz="2000" dirty="0">
                <a:solidFill>
                  <a:srgbClr val="080808"/>
                </a:solidFill>
                <a:latin typeface="楷体" panose="02010609060101010101" pitchFamily="49" charset="-122"/>
                <a:ea typeface="楷体" panose="02010609060101010101" pitchFamily="49" charset="-122"/>
              </a:rPr>
              <a:t>表示不装入物品</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，第</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层到第</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层间的边表示对物品</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的选择，左分支的</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表示装入物品</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，右分支的</a:t>
            </a:r>
            <a:r>
              <a:rPr lang="en-US" altLang="zh-CN" sz="2000" dirty="0">
                <a:solidFill>
                  <a:srgbClr val="080808"/>
                </a:solidFill>
                <a:latin typeface="楷体" panose="02010609060101010101" pitchFamily="49" charset="-122"/>
                <a:ea typeface="楷体" panose="02010609060101010101" pitchFamily="49" charset="-122"/>
              </a:rPr>
              <a:t>0</a:t>
            </a:r>
            <a:r>
              <a:rPr lang="zh-CN" altLang="en-US" sz="2000" dirty="0">
                <a:solidFill>
                  <a:srgbClr val="080808"/>
                </a:solidFill>
                <a:latin typeface="楷体" panose="02010609060101010101" pitchFamily="49" charset="-122"/>
                <a:ea typeface="楷体" panose="02010609060101010101" pitchFamily="49" charset="-122"/>
              </a:rPr>
              <a:t>表示不装入物品</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，树中的</a:t>
            </a:r>
            <a:r>
              <a:rPr lang="en-US" altLang="zh-CN" sz="2000" dirty="0">
                <a:solidFill>
                  <a:srgbClr val="080808"/>
                </a:solidFill>
                <a:latin typeface="楷体" panose="02010609060101010101" pitchFamily="49" charset="-122"/>
                <a:ea typeface="楷体" panose="02010609060101010101" pitchFamily="49" charset="-122"/>
              </a:rPr>
              <a:t>8</a:t>
            </a:r>
            <a:r>
              <a:rPr lang="zh-CN" altLang="en-US" sz="2000" dirty="0">
                <a:solidFill>
                  <a:srgbClr val="080808"/>
                </a:solidFill>
                <a:latin typeface="楷体" panose="02010609060101010101" pitchFamily="49" charset="-122"/>
                <a:ea typeface="楷体" panose="02010609060101010101" pitchFamily="49" charset="-122"/>
              </a:rPr>
              <a:t>个叶子结点分别代表此问题的 </a:t>
            </a:r>
            <a:r>
              <a:rPr lang="en-US" altLang="zh-CN" sz="2000" dirty="0">
                <a:solidFill>
                  <a:srgbClr val="080808"/>
                </a:solidFill>
                <a:latin typeface="楷体" panose="02010609060101010101" pitchFamily="49" charset="-122"/>
                <a:ea typeface="楷体" panose="02010609060101010101" pitchFamily="49" charset="-122"/>
              </a:rPr>
              <a:t>8 </a:t>
            </a:r>
            <a:r>
              <a:rPr lang="zh-CN" altLang="en-US" sz="2000" dirty="0">
                <a:solidFill>
                  <a:srgbClr val="080808"/>
                </a:solidFill>
                <a:latin typeface="楷体" panose="02010609060101010101" pitchFamily="49" charset="-122"/>
                <a:ea typeface="楷体" panose="02010609060101010101" pitchFamily="49" charset="-122"/>
              </a:rPr>
              <a:t>个可能解。</a:t>
            </a:r>
            <a:endParaRPr lang="zh-CN" altLang="en-US" sz="2000" dirty="0">
              <a:solidFill>
                <a:srgbClr val="080808"/>
              </a:solidFill>
              <a:latin typeface="楷体" panose="02010609060101010101" pitchFamily="49" charset="-122"/>
              <a:ea typeface="楷体" panose="02010609060101010101" pitchFamily="49" charset="-122"/>
            </a:endParaRPr>
          </a:p>
        </p:txBody>
      </p:sp>
      <p:pic>
        <p:nvPicPr>
          <p:cNvPr id="3" name="图片 2"/>
          <p:cNvPicPr/>
          <p:nvPr/>
        </p:nvPicPr>
        <p:blipFill>
          <a:blip r:embed="rId6">
            <a:extLst>
              <a:ext uri="{28A0092B-C50C-407E-A947-70E740481C1C}">
                <a14:useLocalDpi xmlns:a14="http://schemas.microsoft.com/office/drawing/2010/main" val="0"/>
              </a:ext>
            </a:extLst>
          </a:blip>
          <a:stretch>
            <a:fillRect/>
          </a:stretch>
        </p:blipFill>
        <p:spPr>
          <a:xfrm>
            <a:off x="434862" y="3063736"/>
            <a:ext cx="8208912" cy="3489329"/>
          </a:xfrm>
          <a:prstGeom prst="rect">
            <a:avLst/>
          </a:prstGeom>
        </p:spPr>
      </p:pic>
    </p:spTree>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48936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b="1" dirty="0">
                <a:solidFill>
                  <a:srgbClr val="080808"/>
                </a:solidFill>
                <a:latin typeface="楷体" panose="02010609060101010101" pitchFamily="49" charset="-122"/>
                <a:ea typeface="楷体" panose="02010609060101010101" pitchFamily="49" charset="-122"/>
              </a:rPr>
              <a:t>6.1.2 </a:t>
            </a:r>
            <a:r>
              <a:rPr lang="zh-CN" altLang="en-US" sz="2400" b="1" dirty="0">
                <a:solidFill>
                  <a:srgbClr val="080808"/>
                </a:solidFill>
                <a:latin typeface="楷体" panose="02010609060101010101" pitchFamily="49" charset="-122"/>
                <a:ea typeface="楷体" panose="02010609060101010101" pitchFamily="49" charset="-122"/>
              </a:rPr>
              <a:t>回朔法的基本思想</a:t>
            </a:r>
            <a:endParaRPr lang="en-US" altLang="zh-CN" sz="2400" b="1" dirty="0">
              <a:solidFill>
                <a:srgbClr val="080808"/>
              </a:solidFill>
              <a:latin typeface="楷体" panose="02010609060101010101" pitchFamily="49" charset="-122"/>
              <a:ea typeface="楷体" panose="02010609060101010101" pitchFamily="49" charset="-122"/>
            </a:endParaRPr>
          </a:p>
          <a:p>
            <a:pPr>
              <a:spcBef>
                <a:spcPts val="0"/>
              </a:spcBef>
              <a:buSzTx/>
              <a:buFontTx/>
              <a:buNone/>
            </a:pPr>
            <a:endParaRPr lang="zh-CN" altLang="en-US" sz="2400" b="1"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回溯法是有组织的，在不断探索的过程中寻找问题的解，当探索到某一步时，发现不满足约束条件的时候，就回退一步，而后重新选择，继续尝试其它的路径，这种方法就叫做回溯法，满足回溯条件的某个状态的点称为“回溯点”。</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在解空间树中，回溯法是从初始状态，即根结点出发，遵循深度优先遍历的策略，探索满足约束条件的解。在探索到树中的某一结点时，会先判断该结点所对应解是否满足约束条件，即判断该结点是否包含问题的解，如果不满足条件，就不再对以该结点为根的子树进行探索，称之为剪枝；如果满足条件的话再进入以该结点为根的子树，继续按照深度优先策略进行探索。</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例：在</a:t>
            </a:r>
            <a:r>
              <a:rPr lang="en-US" altLang="zh-CN" sz="2400" dirty="0">
                <a:solidFill>
                  <a:srgbClr val="080808"/>
                </a:solidFill>
                <a:latin typeface="楷体" panose="02010609060101010101" pitchFamily="49" charset="-122"/>
                <a:ea typeface="楷体" panose="02010609060101010101" pitchFamily="49" charset="-122"/>
              </a:rPr>
              <a:t>0-1</a:t>
            </a:r>
            <a:r>
              <a:rPr lang="zh-CN" altLang="en-US" sz="2400" dirty="0">
                <a:solidFill>
                  <a:srgbClr val="080808"/>
                </a:solidFill>
                <a:latin typeface="楷体" panose="02010609060101010101" pitchFamily="49" charset="-122"/>
                <a:ea typeface="楷体" panose="02010609060101010101" pitchFamily="49" charset="-122"/>
              </a:rPr>
              <a:t>背包问题中，已知</a:t>
            </a:r>
            <a:r>
              <a:rPr lang="en-US" altLang="zh-CN" sz="2400" dirty="0">
                <a:solidFill>
                  <a:srgbClr val="080808"/>
                </a:solidFill>
                <a:latin typeface="楷体" panose="02010609060101010101" pitchFamily="49" charset="-122"/>
                <a:ea typeface="楷体" panose="02010609060101010101" pitchFamily="49" charset="-122"/>
              </a:rPr>
              <a:t>n=3</a:t>
            </a:r>
            <a:r>
              <a:rPr lang="zh-CN" altLang="en-US" sz="2400" dirty="0">
                <a:solidFill>
                  <a:srgbClr val="080808"/>
                </a:solidFill>
                <a:latin typeface="楷体" panose="02010609060101010101" pitchFamily="49" charset="-122"/>
                <a:ea typeface="楷体" panose="02010609060101010101" pitchFamily="49" charset="-122"/>
              </a:rPr>
              <a:t>，背包容量为</a:t>
            </a:r>
            <a:r>
              <a:rPr lang="en-US" altLang="zh-CN" sz="2400" dirty="0">
                <a:solidFill>
                  <a:srgbClr val="080808"/>
                </a:solidFill>
                <a:latin typeface="楷体" panose="02010609060101010101" pitchFamily="49" charset="-122"/>
                <a:ea typeface="楷体" panose="02010609060101010101" pitchFamily="49" charset="-122"/>
              </a:rPr>
              <a:t>20</a:t>
            </a:r>
            <a:r>
              <a:rPr lang="zh-CN" altLang="en-US" sz="2400" dirty="0">
                <a:solidFill>
                  <a:srgbClr val="080808"/>
                </a:solidFill>
                <a:latin typeface="楷体" panose="02010609060101010101" pitchFamily="49" charset="-122"/>
                <a:ea typeface="楷体" panose="02010609060101010101" pitchFamily="49" charset="-122"/>
              </a:rPr>
              <a:t>。物品清单如下表所示：</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2195736" y="2420888"/>
            <a:ext cx="4136831" cy="2499041"/>
          </a:xfrm>
          <a:prstGeom prst="rect">
            <a:avLst/>
          </a:prstGeom>
        </p:spPr>
      </p:pic>
    </p:spTree>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a:blip r:embed="rId1"/>
          <a:stretch>
            <a:fillRect/>
          </a:stretch>
        </p:blipFill>
        <p:spPr>
          <a:xfrm>
            <a:off x="0" y="0"/>
            <a:ext cx="9252520" cy="7038092"/>
          </a:xfrm>
          <a:prstGeom prst="rect">
            <a:avLst/>
          </a:prstGeom>
        </p:spPr>
      </p:pic>
      <p:pic>
        <p:nvPicPr>
          <p:cNvPr id="4" name="图片 3"/>
          <p:cNvPicPr/>
          <p:nvPr/>
        </p:nvPicPr>
        <p:blipFill>
          <a:blip r:embed="rId2">
            <a:extLst>
              <a:ext uri="{28A0092B-C50C-407E-A947-70E740481C1C}">
                <a14:useLocalDpi xmlns:a14="http://schemas.microsoft.com/office/drawing/2010/main" val="0"/>
              </a:ext>
            </a:extLst>
          </a:blip>
          <a:stretch>
            <a:fillRect/>
          </a:stretch>
        </p:blipFill>
        <p:spPr>
          <a:xfrm>
            <a:off x="0" y="3573017"/>
            <a:ext cx="9144001" cy="3465076"/>
          </a:xfrm>
          <a:prstGeom prst="rect">
            <a:avLst/>
          </a:prstGeom>
        </p:spPr>
      </p:pic>
    </p:spTree>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a:blip r:embed="rId1"/>
          <a:stretch>
            <a:fillRect/>
          </a:stretch>
        </p:blipFill>
        <p:spPr>
          <a:xfrm>
            <a:off x="0" y="0"/>
            <a:ext cx="9252520" cy="7038092"/>
          </a:xfrm>
          <a:prstGeom prst="rect">
            <a:avLst/>
          </a:prstGeom>
        </p:spPr>
      </p:pic>
      <p:pic>
        <p:nvPicPr>
          <p:cNvPr id="4" name="图片 3"/>
          <p:cNvPicPr/>
          <p:nvPr/>
        </p:nvPicPr>
        <p:blipFill>
          <a:blip r:embed="rId2">
            <a:extLst>
              <a:ext uri="{28A0092B-C50C-407E-A947-70E740481C1C}">
                <a14:useLocalDpi xmlns:a14="http://schemas.microsoft.com/office/drawing/2010/main" val="0"/>
              </a:ext>
            </a:extLst>
          </a:blip>
          <a:stretch>
            <a:fillRect/>
          </a:stretch>
        </p:blipFill>
        <p:spPr>
          <a:xfrm>
            <a:off x="54259" y="539988"/>
            <a:ext cx="9144001" cy="2961020"/>
          </a:xfrm>
          <a:prstGeom prst="rect">
            <a:avLst/>
          </a:prstGeom>
        </p:spPr>
      </p:pic>
    </p:spTree>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07504" y="908720"/>
            <a:ext cx="8798261" cy="3416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b="1" dirty="0">
                <a:solidFill>
                  <a:srgbClr val="080808"/>
                </a:solidFill>
                <a:latin typeface="楷体" panose="02010609060101010101" pitchFamily="49" charset="-122"/>
                <a:ea typeface="楷体" panose="02010609060101010101" pitchFamily="49" charset="-122"/>
              </a:rPr>
              <a:t>6.1.3  0-1</a:t>
            </a:r>
            <a:r>
              <a:rPr lang="zh-CN" altLang="en-US" sz="2400" b="1" dirty="0">
                <a:solidFill>
                  <a:srgbClr val="080808"/>
                </a:solidFill>
                <a:latin typeface="楷体" panose="02010609060101010101" pitchFamily="49" charset="-122"/>
                <a:ea typeface="楷体" panose="02010609060101010101" pitchFamily="49" charset="-122"/>
              </a:rPr>
              <a:t>背包问题</a:t>
            </a:r>
            <a:endParaRPr lang="zh-CN" altLang="en-US" sz="2400" b="1"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问题描述：给定一个容量为</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的背包和</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种物品，已知物品</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的重量是 </a:t>
            </a:r>
            <a:r>
              <a:rPr lang="en-US" altLang="zh-CN" sz="2400" dirty="0" err="1">
                <a:solidFill>
                  <a:srgbClr val="080808"/>
                </a:solidFill>
                <a:latin typeface="楷体" panose="02010609060101010101" pitchFamily="49" charset="-122"/>
                <a:ea typeface="楷体" panose="02010609060101010101" pitchFamily="49" charset="-122"/>
              </a:rPr>
              <a:t>wi</a:t>
            </a:r>
            <a:r>
              <a:rPr lang="zh-CN" altLang="en-US" sz="2400" dirty="0">
                <a:solidFill>
                  <a:srgbClr val="080808"/>
                </a:solidFill>
                <a:latin typeface="楷体" panose="02010609060101010101" pitchFamily="49" charset="-122"/>
                <a:ea typeface="楷体" panose="02010609060101010101" pitchFamily="49" charset="-122"/>
              </a:rPr>
              <a:t>，其价值为 </a:t>
            </a:r>
            <a:r>
              <a:rPr lang="en-US" altLang="zh-CN" sz="2400" dirty="0">
                <a:solidFill>
                  <a:srgbClr val="080808"/>
                </a:solidFill>
                <a:latin typeface="楷体" panose="02010609060101010101" pitchFamily="49" charset="-122"/>
                <a:ea typeface="楷体" panose="02010609060101010101" pitchFamily="49" charset="-122"/>
              </a:rPr>
              <a:t>vi</a:t>
            </a:r>
            <a:r>
              <a:rPr lang="zh-CN" altLang="en-US" sz="2400" dirty="0">
                <a:solidFill>
                  <a:srgbClr val="080808"/>
                </a:solidFill>
                <a:latin typeface="楷体" panose="02010609060101010101" pitchFamily="49" charset="-122"/>
                <a:ea typeface="楷体" panose="02010609060101010101" pitchFamily="49" charset="-122"/>
              </a:rPr>
              <a:t>，求解的问题是</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如何选择装入背包的物品，使得装入背包中物品的总价值最大。</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）设</a:t>
            </a:r>
            <a:r>
              <a:rPr lang="en-US" altLang="zh-CN" sz="2400" dirty="0">
                <a:solidFill>
                  <a:srgbClr val="080808"/>
                </a:solidFill>
                <a:latin typeface="楷体" panose="02010609060101010101" pitchFamily="49" charset="-122"/>
                <a:ea typeface="楷体" panose="02010609060101010101" pitchFamily="49" charset="-122"/>
              </a:rPr>
              <a:t>xi </a:t>
            </a:r>
            <a:r>
              <a:rPr lang="zh-CN" altLang="en-US" sz="2400" dirty="0">
                <a:solidFill>
                  <a:srgbClr val="080808"/>
                </a:solidFill>
                <a:latin typeface="楷体" panose="02010609060101010101" pitchFamily="49" charset="-122"/>
                <a:ea typeface="楷体" panose="02010609060101010101" pitchFamily="49" charset="-122"/>
              </a:rPr>
              <a:t>表示物品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装入背包的情况，即解向量：</a:t>
            </a:r>
            <a:r>
              <a:rPr lang="en-US" altLang="zh-CN" sz="2400" dirty="0">
                <a:solidFill>
                  <a:srgbClr val="080808"/>
                </a:solidFill>
                <a:latin typeface="楷体" panose="02010609060101010101" pitchFamily="49" charset="-122"/>
                <a:ea typeface="楷体" panose="02010609060101010101" pitchFamily="49" charset="-122"/>
              </a:rPr>
              <a:t>X=(x1, x2, …, </a:t>
            </a:r>
            <a:r>
              <a:rPr lang="en-US" altLang="zh-CN" sz="2400" dirty="0" err="1">
                <a:solidFill>
                  <a:srgbClr val="080808"/>
                </a:solidFill>
                <a:latin typeface="楷体" panose="02010609060101010101" pitchFamily="49" charset="-122"/>
                <a:ea typeface="楷体" panose="02010609060101010101" pitchFamily="49" charset="-122"/>
              </a:rPr>
              <a:t>xn</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则</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取值只有</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，当</a:t>
            </a:r>
            <a:r>
              <a:rPr lang="en-US" altLang="zh-CN" sz="2400" dirty="0">
                <a:solidFill>
                  <a:srgbClr val="080808"/>
                </a:solidFill>
                <a:latin typeface="楷体" panose="02010609060101010101" pitchFamily="49" charset="-122"/>
                <a:ea typeface="楷体" panose="02010609060101010101" pitchFamily="49" charset="-122"/>
              </a:rPr>
              <a:t>xi=0</a:t>
            </a:r>
            <a:r>
              <a:rPr lang="zh-CN" altLang="en-US" sz="2400" dirty="0">
                <a:solidFill>
                  <a:srgbClr val="080808"/>
                </a:solidFill>
                <a:latin typeface="楷体" panose="02010609060101010101" pitchFamily="49" charset="-122"/>
                <a:ea typeface="楷体" panose="02010609060101010101" pitchFamily="49" charset="-122"/>
              </a:rPr>
              <a:t>时表示物体</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没被装入背包，当</a:t>
            </a:r>
            <a:r>
              <a:rPr lang="en-US" altLang="zh-CN" sz="2400" dirty="0">
                <a:solidFill>
                  <a:srgbClr val="080808"/>
                </a:solidFill>
                <a:latin typeface="楷体" panose="02010609060101010101" pitchFamily="49" charset="-122"/>
                <a:ea typeface="楷体" panose="02010609060101010101" pitchFamily="49" charset="-122"/>
              </a:rPr>
              <a:t>xi=1</a:t>
            </a:r>
            <a:r>
              <a:rPr lang="zh-CN" altLang="en-US" sz="2400" dirty="0">
                <a:solidFill>
                  <a:srgbClr val="080808"/>
                </a:solidFill>
                <a:latin typeface="楷体" panose="02010609060101010101" pitchFamily="49" charset="-122"/>
                <a:ea typeface="楷体" panose="02010609060101010101" pitchFamily="49" charset="-122"/>
              </a:rPr>
              <a:t>时表示物体</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整个被装入背包。  </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）约束条件</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背包载重量是</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，因此选入背包中物品的总重量不得超过</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，即：</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3282499" y="4149080"/>
            <a:ext cx="1794936" cy="897467"/>
          </a:xfrm>
          <a:prstGeom prst="rect">
            <a:avLst/>
          </a:prstGeom>
        </p:spPr>
      </p:pic>
      <p:sp>
        <p:nvSpPr>
          <p:cNvPr id="5" name="Text Box 4"/>
          <p:cNvSpPr txBox="1">
            <a:spLocks noChangeArrowheads="1"/>
          </p:cNvSpPr>
          <p:nvPr/>
        </p:nvSpPr>
        <p:spPr bwMode="auto">
          <a:xfrm>
            <a:off x="546195" y="5046547"/>
            <a:ext cx="879826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）问题的求解目标</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背包中的物品总价值最大，即：</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3" name="图片 2"/>
          <p:cNvPicPr>
            <a:picLocks noChangeAspect="1"/>
          </p:cNvPicPr>
          <p:nvPr/>
        </p:nvPicPr>
        <p:blipFill>
          <a:blip r:embed="rId7"/>
          <a:stretch>
            <a:fillRect/>
          </a:stretch>
        </p:blipFill>
        <p:spPr>
          <a:xfrm>
            <a:off x="3224462" y="5508212"/>
            <a:ext cx="1911009" cy="1005795"/>
          </a:xfrm>
          <a:prstGeom prst="rect">
            <a:avLst/>
          </a:prstGeom>
        </p:spPr>
      </p:pic>
    </p:spTree>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41549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、解题思路</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使用回朔法求解</a:t>
            </a:r>
            <a:r>
              <a:rPr lang="en-US" altLang="zh-CN" sz="2400" dirty="0">
                <a:solidFill>
                  <a:srgbClr val="080808"/>
                </a:solidFill>
                <a:latin typeface="楷体" panose="02010609060101010101" pitchFamily="49" charset="-122"/>
                <a:ea typeface="楷体" panose="02010609060101010101" pitchFamily="49" charset="-122"/>
              </a:rPr>
              <a:t>0-1</a:t>
            </a:r>
            <a:r>
              <a:rPr lang="zh-CN" altLang="en-US" sz="2400" dirty="0">
                <a:solidFill>
                  <a:srgbClr val="080808"/>
                </a:solidFill>
                <a:latin typeface="楷体" panose="02010609060101010101" pitchFamily="49" charset="-122"/>
                <a:ea typeface="楷体" panose="02010609060101010101" pitchFamily="49" charset="-122"/>
              </a:rPr>
              <a:t>背包问题，首先确定问题的解空间树。数中的每个结点都代表背包的一种状态，可以在每个结点中存放当前背包装入物品的总重量和总价值。每个结点的下面有两个分支表示对某个物品是否放入背包的两种可能选择。例如，对于对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层上的某个结点，其左下方的分支表示物品</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装入背包，此时背包中物品的总重量增加了</a:t>
            </a:r>
            <a:r>
              <a:rPr lang="en-US" altLang="zh-CN" sz="2400" dirty="0">
                <a:solidFill>
                  <a:srgbClr val="080808"/>
                </a:solidFill>
                <a:latin typeface="楷体" panose="02010609060101010101" pitchFamily="49" charset="-122"/>
                <a:ea typeface="楷体" panose="02010609060101010101" pitchFamily="49" charset="-122"/>
              </a:rPr>
              <a:t>w[</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，总价值增加了</a:t>
            </a:r>
            <a:r>
              <a:rPr lang="en-US" altLang="zh-CN" sz="2400" dirty="0">
                <a:solidFill>
                  <a:srgbClr val="080808"/>
                </a:solidFill>
                <a:latin typeface="楷体" panose="02010609060101010101" pitchFamily="49" charset="-122"/>
                <a:ea typeface="楷体" panose="02010609060101010101" pitchFamily="49" charset="-122"/>
              </a:rPr>
              <a:t>v[</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，其右下方的分支表示物品</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不装入背包，此时背包的重量和价值不发生变化。在搜索过程中，用约束条件来进行判断，剪去无法获得可行解的分支，避免无效搜索。所有的可行解都在叶子节点中，最后根据目标函数从中找出最优解。</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172869" y="1484784"/>
            <a:ext cx="8798261"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例：在</a:t>
            </a:r>
            <a:r>
              <a:rPr lang="en-US" altLang="zh-CN" sz="2400" dirty="0">
                <a:solidFill>
                  <a:srgbClr val="080808"/>
                </a:solidFill>
                <a:latin typeface="楷体" panose="02010609060101010101" pitchFamily="49" charset="-122"/>
                <a:ea typeface="楷体" panose="02010609060101010101" pitchFamily="49" charset="-122"/>
              </a:rPr>
              <a:t>0-1</a:t>
            </a:r>
            <a:r>
              <a:rPr lang="zh-CN" altLang="en-US" sz="2400" dirty="0">
                <a:solidFill>
                  <a:srgbClr val="080808"/>
                </a:solidFill>
                <a:latin typeface="楷体" panose="02010609060101010101" pitchFamily="49" charset="-122"/>
                <a:ea typeface="楷体" panose="02010609060101010101" pitchFamily="49" charset="-122"/>
              </a:rPr>
              <a:t>背包问题中，已知</a:t>
            </a:r>
            <a:r>
              <a:rPr lang="en-US" altLang="zh-CN" sz="2400" dirty="0">
                <a:solidFill>
                  <a:srgbClr val="080808"/>
                </a:solidFill>
                <a:latin typeface="楷体" panose="02010609060101010101" pitchFamily="49" charset="-122"/>
                <a:ea typeface="楷体" panose="02010609060101010101" pitchFamily="49" charset="-122"/>
              </a:rPr>
              <a:t>n=4</a:t>
            </a:r>
            <a:r>
              <a:rPr lang="zh-CN" altLang="en-US" sz="2400" dirty="0">
                <a:solidFill>
                  <a:srgbClr val="080808"/>
                </a:solidFill>
                <a:latin typeface="楷体" panose="02010609060101010101" pitchFamily="49" charset="-122"/>
                <a:ea typeface="楷体" panose="02010609060101010101" pitchFamily="49" charset="-122"/>
              </a:rPr>
              <a:t>，背包容量为</a:t>
            </a:r>
            <a:r>
              <a:rPr lang="en-US" altLang="zh-CN" sz="2400" dirty="0">
                <a:solidFill>
                  <a:srgbClr val="080808"/>
                </a:solidFill>
                <a:latin typeface="楷体" panose="02010609060101010101" pitchFamily="49" charset="-122"/>
                <a:ea typeface="楷体" panose="02010609060101010101" pitchFamily="49" charset="-122"/>
              </a:rPr>
              <a:t>8</a:t>
            </a:r>
            <a:r>
              <a:rPr lang="zh-CN" altLang="en-US" sz="2400" dirty="0">
                <a:solidFill>
                  <a:srgbClr val="080808"/>
                </a:solidFill>
                <a:latin typeface="楷体" panose="02010609060101010101" pitchFamily="49" charset="-122"/>
                <a:ea typeface="楷体" panose="02010609060101010101" pitchFamily="49" charset="-122"/>
              </a:rPr>
              <a:t>。物品清单如下表所示：</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2195736" y="2420888"/>
            <a:ext cx="4579190" cy="3194417"/>
          </a:xfrm>
          <a:prstGeom prst="rect">
            <a:avLst/>
          </a:prstGeom>
        </p:spPr>
      </p:pic>
    </p:spTree>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72869" y="1340768"/>
            <a:ext cx="879826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解空间树：</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4" name="图片 3"/>
          <p:cNvPicPr/>
          <p:nvPr/>
        </p:nvPicPr>
        <p:blipFill>
          <a:blip r:embed="rId6">
            <a:extLst>
              <a:ext uri="{28A0092B-C50C-407E-A947-70E740481C1C}">
                <a14:useLocalDpi xmlns:a14="http://schemas.microsoft.com/office/drawing/2010/main" val="0"/>
              </a:ext>
            </a:extLst>
          </a:blip>
          <a:stretch>
            <a:fillRect/>
          </a:stretch>
        </p:blipFill>
        <p:spPr>
          <a:xfrm>
            <a:off x="467544" y="1834650"/>
            <a:ext cx="7673018" cy="4772877"/>
          </a:xfrm>
          <a:prstGeom prst="rect">
            <a:avLst/>
          </a:prstGeom>
        </p:spPr>
      </p:pic>
      <p:pic>
        <p:nvPicPr>
          <p:cNvPr id="5" name="图片 4"/>
          <p:cNvPicPr>
            <a:picLocks noChangeAspect="1"/>
          </p:cNvPicPr>
          <p:nvPr/>
        </p:nvPicPr>
        <p:blipFill>
          <a:blip r:embed="rId7"/>
          <a:stretch>
            <a:fillRect/>
          </a:stretch>
        </p:blipFill>
        <p:spPr>
          <a:xfrm>
            <a:off x="5400505" y="0"/>
            <a:ext cx="3780008" cy="2636912"/>
          </a:xfrm>
          <a:prstGeom prst="rect">
            <a:avLst/>
          </a:prstGeom>
        </p:spPr>
      </p:pic>
    </p:spTree>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 y="-10954"/>
            <a:ext cx="5400506" cy="1631216"/>
          </a:xfrm>
          <a:prstGeom prst="rect">
            <a:avLst/>
          </a:prstGeom>
        </p:spPr>
        <p:style>
          <a:lnRef idx="1">
            <a:schemeClr val="accent1"/>
          </a:lnRef>
          <a:fillRef idx="2">
            <a:schemeClr val="accent1"/>
          </a:fillRef>
          <a:effectRef idx="1">
            <a:schemeClr val="accent1"/>
          </a:effectRef>
          <a:fontRef idx="minor">
            <a:schemeClr val="dk1"/>
          </a:fontRef>
        </p:style>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000" dirty="0">
                <a:solidFill>
                  <a:srgbClr val="080808"/>
                </a:solidFill>
                <a:latin typeface="楷体" panose="02010609060101010101" pitchFamily="49" charset="-122"/>
                <a:ea typeface="楷体" panose="02010609060101010101" pitchFamily="49" charset="-122"/>
              </a:rPr>
              <a:t>如上图所示，解空间树中的有些分枝结点的总重量已超过了</a:t>
            </a:r>
            <a:r>
              <a:rPr lang="en-US" altLang="zh-CN" sz="2000" dirty="0">
                <a:solidFill>
                  <a:srgbClr val="080808"/>
                </a:solidFill>
                <a:latin typeface="楷体" panose="02010609060101010101" pitchFamily="49" charset="-122"/>
                <a:ea typeface="楷体" panose="02010609060101010101" pitchFamily="49" charset="-122"/>
              </a:rPr>
              <a:t>c</a:t>
            </a:r>
            <a:r>
              <a:rPr lang="zh-CN" altLang="en-US" sz="2000" dirty="0">
                <a:solidFill>
                  <a:srgbClr val="080808"/>
                </a:solidFill>
                <a:latin typeface="楷体" panose="02010609060101010101" pitchFamily="49" charset="-122"/>
                <a:ea typeface="楷体" panose="02010609060101010101" pitchFamily="49" charset="-122"/>
              </a:rPr>
              <a:t>，就无需再继续搜索了，可以在此处设置约束函数，即装入背包物品的重量之和</a:t>
            </a:r>
            <a:r>
              <a:rPr lang="en-US" altLang="zh-CN" sz="2000" dirty="0">
                <a:solidFill>
                  <a:srgbClr val="080808"/>
                </a:solidFill>
                <a:latin typeface="楷体" panose="02010609060101010101" pitchFamily="49" charset="-122"/>
                <a:ea typeface="楷体" panose="02010609060101010101" pitchFamily="49" charset="-122"/>
              </a:rPr>
              <a:t>&lt;c</a:t>
            </a:r>
            <a:r>
              <a:rPr lang="zh-CN" altLang="en-US" sz="2000" dirty="0">
                <a:solidFill>
                  <a:srgbClr val="080808"/>
                </a:solidFill>
                <a:latin typeface="楷体" panose="02010609060101010101" pitchFamily="49" charset="-122"/>
                <a:ea typeface="楷体" panose="02010609060101010101" pitchFamily="49" charset="-122"/>
              </a:rPr>
              <a:t>，运用它对解空间树进行剪枝，剪枝后的解空间树如下图所示。</a:t>
            </a:r>
            <a:endParaRPr lang="zh-CN" altLang="en-US" sz="2000" dirty="0">
              <a:solidFill>
                <a:srgbClr val="080808"/>
              </a:solidFill>
              <a:latin typeface="楷体" panose="02010609060101010101" pitchFamily="49" charset="-122"/>
              <a:ea typeface="楷体" panose="02010609060101010101" pitchFamily="49" charset="-122"/>
            </a:endParaRPr>
          </a:p>
        </p:txBody>
      </p:sp>
      <p:pic>
        <p:nvPicPr>
          <p:cNvPr id="5" name="图片 4"/>
          <p:cNvPicPr>
            <a:picLocks noChangeAspect="1"/>
          </p:cNvPicPr>
          <p:nvPr/>
        </p:nvPicPr>
        <p:blipFill>
          <a:blip r:embed="rId6"/>
          <a:stretch>
            <a:fillRect/>
          </a:stretch>
        </p:blipFill>
        <p:spPr>
          <a:xfrm>
            <a:off x="5400505" y="0"/>
            <a:ext cx="3780008" cy="2636912"/>
          </a:xfrm>
          <a:prstGeom prst="rect">
            <a:avLst/>
          </a:prstGeom>
        </p:spPr>
      </p:pic>
      <p:pic>
        <p:nvPicPr>
          <p:cNvPr id="6" name="图片 5"/>
          <p:cNvPicPr/>
          <p:nvPr/>
        </p:nvPicPr>
        <p:blipFill>
          <a:blip r:embed="rId7">
            <a:extLst>
              <a:ext uri="{28A0092B-C50C-407E-A947-70E740481C1C}">
                <a14:useLocalDpi xmlns:a14="http://schemas.microsoft.com/office/drawing/2010/main" val="0"/>
              </a:ext>
            </a:extLst>
          </a:blip>
          <a:stretch>
            <a:fillRect/>
          </a:stretch>
        </p:blipFill>
        <p:spPr>
          <a:xfrm>
            <a:off x="107504" y="2636912"/>
            <a:ext cx="8876050" cy="3984510"/>
          </a:xfrm>
          <a:prstGeom prst="rect">
            <a:avLst/>
          </a:prstGeom>
        </p:spPr>
      </p:pic>
    </p:spTree>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16351" y="1493495"/>
            <a:ext cx="8874126" cy="52629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a:solidFill>
                  <a:srgbClr val="080808"/>
                </a:solidFill>
                <a:latin typeface="楷体" panose="02010609060101010101" pitchFamily="49" charset="-122"/>
                <a:ea typeface="楷体" panose="02010609060101010101" pitchFamily="49" charset="-122"/>
              </a:rPr>
              <a:t>6.1】</a:t>
            </a:r>
            <a:r>
              <a:rPr lang="zh-CN" altLang="en-US" sz="2400" dirty="0">
                <a:solidFill>
                  <a:srgbClr val="080808"/>
                </a:solidFill>
                <a:latin typeface="楷体" panose="02010609060101010101" pitchFamily="49" charset="-122"/>
                <a:ea typeface="楷体" panose="02010609060101010101" pitchFamily="49" charset="-122"/>
              </a:rPr>
              <a:t>子集和问题。</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问题描述：现有正整数集</a:t>
            </a:r>
            <a:r>
              <a:rPr lang="en-US" altLang="zh-CN" sz="2400" dirty="0">
                <a:solidFill>
                  <a:srgbClr val="080808"/>
                </a:solidFill>
                <a:latin typeface="楷体" panose="02010609060101010101" pitchFamily="49" charset="-122"/>
                <a:ea typeface="楷体" panose="02010609060101010101" pitchFamily="49" charset="-122"/>
              </a:rPr>
              <a:t>z=</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z1,z2,…,</a:t>
            </a:r>
            <a:r>
              <a:rPr lang="en-US" altLang="zh-CN" sz="2400" dirty="0" err="1">
                <a:solidFill>
                  <a:srgbClr val="080808"/>
                </a:solidFill>
                <a:latin typeface="楷体" panose="02010609060101010101" pitchFamily="49" charset="-122"/>
                <a:ea typeface="楷体" panose="02010609060101010101" pitchFamily="49" charset="-122"/>
              </a:rPr>
              <a:t>zn</a:t>
            </a:r>
            <a:r>
              <a:rPr lang="zh-CN" altLang="en-US" sz="2400" dirty="0">
                <a:solidFill>
                  <a:srgbClr val="080808"/>
                </a:solidFill>
                <a:latin typeface="楷体" panose="02010609060101010101" pitchFamily="49" charset="-122"/>
                <a:ea typeface="楷体" panose="02010609060101010101" pitchFamily="49" charset="-122"/>
              </a:rPr>
              <a:t>），其中各数据元素的值不相等，给定一个正数</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，请设计算法找出</a:t>
            </a:r>
            <a:r>
              <a:rPr lang="en-US" altLang="zh-CN" sz="2400" dirty="0">
                <a:solidFill>
                  <a:srgbClr val="080808"/>
                </a:solidFill>
                <a:latin typeface="楷体" panose="02010609060101010101" pitchFamily="49" charset="-122"/>
                <a:ea typeface="楷体" panose="02010609060101010101" pitchFamily="49" charset="-122"/>
              </a:rPr>
              <a:t>z</a:t>
            </a:r>
            <a:r>
              <a:rPr lang="zh-CN" altLang="en-US" sz="2400" dirty="0">
                <a:solidFill>
                  <a:srgbClr val="080808"/>
                </a:solidFill>
                <a:latin typeface="楷体" panose="02010609060101010101" pitchFamily="49" charset="-122"/>
                <a:ea typeface="楷体" panose="02010609060101010101" pitchFamily="49" charset="-122"/>
              </a:rPr>
              <a:t>的子集</a:t>
            </a:r>
            <a:r>
              <a:rPr lang="en-US" altLang="zh-CN" sz="2400" dirty="0">
                <a:solidFill>
                  <a:srgbClr val="080808"/>
                </a:solidFill>
                <a:latin typeface="楷体" panose="02010609060101010101" pitchFamily="49" charset="-122"/>
                <a:ea typeface="楷体" panose="02010609060101010101" pitchFamily="49" charset="-122"/>
              </a:rPr>
              <a:t>t</a:t>
            </a:r>
            <a:r>
              <a:rPr lang="zh-CN" altLang="en-US" sz="2400" dirty="0">
                <a:solidFill>
                  <a:srgbClr val="080808"/>
                </a:solidFill>
                <a:latin typeface="楷体" panose="02010609060101010101" pitchFamily="49" charset="-122"/>
                <a:ea typeface="楷体" panose="02010609060101010101" pitchFamily="49" charset="-122"/>
              </a:rPr>
              <a:t>，使该子集中所有元素的和等于</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例：已知</a:t>
            </a:r>
            <a:r>
              <a:rPr lang="en-US" altLang="zh-CN" sz="2400" dirty="0">
                <a:solidFill>
                  <a:srgbClr val="080808"/>
                </a:solidFill>
                <a:latin typeface="楷体" panose="02010609060101010101" pitchFamily="49" charset="-122"/>
                <a:ea typeface="楷体" panose="02010609060101010101" pitchFamily="49" charset="-122"/>
              </a:rPr>
              <a:t>n=4</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z=</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16,12,28,7</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c=35</a:t>
            </a:r>
            <a:r>
              <a:rPr lang="zh-CN" altLang="en-US" sz="2400" dirty="0">
                <a:solidFill>
                  <a:srgbClr val="080808"/>
                </a:solidFill>
                <a:latin typeface="楷体" panose="02010609060101010101" pitchFamily="49" charset="-122"/>
                <a:ea typeface="楷体" panose="02010609060101010101" pitchFamily="49" charset="-122"/>
              </a:rPr>
              <a:t>。</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则所求子集为：（</a:t>
            </a:r>
            <a:r>
              <a:rPr lang="en-US" altLang="zh-CN" sz="2400" dirty="0">
                <a:solidFill>
                  <a:srgbClr val="080808"/>
                </a:solidFill>
                <a:latin typeface="楷体" panose="02010609060101010101" pitchFamily="49" charset="-122"/>
                <a:ea typeface="楷体" panose="02010609060101010101" pitchFamily="49" charset="-122"/>
              </a:rPr>
              <a:t>16,12,7</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28,7</a:t>
            </a:r>
            <a:r>
              <a:rPr lang="zh-CN" altLang="en-US" sz="2400" dirty="0">
                <a:solidFill>
                  <a:srgbClr val="080808"/>
                </a:solidFill>
                <a:latin typeface="楷体" panose="02010609060101010101" pitchFamily="49" charset="-122"/>
                <a:ea typeface="楷体" panose="02010609060101010101" pitchFamily="49" charset="-122"/>
              </a:rPr>
              <a:t>）。</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问题求解：本题采用回朔法策略。首先构造解空间树，如下图</a:t>
            </a:r>
            <a:r>
              <a:rPr lang="en-US" altLang="zh-CN" sz="2400" dirty="0">
                <a:solidFill>
                  <a:srgbClr val="080808"/>
                </a:solidFill>
                <a:latin typeface="楷体" panose="02010609060101010101" pitchFamily="49" charset="-122"/>
                <a:ea typeface="楷体" panose="02010609060101010101" pitchFamily="49" charset="-122"/>
              </a:rPr>
              <a:t>6.5</a:t>
            </a:r>
            <a:r>
              <a:rPr lang="zh-CN" altLang="en-US" sz="2400" dirty="0">
                <a:solidFill>
                  <a:srgbClr val="080808"/>
                </a:solidFill>
                <a:latin typeface="楷体" panose="02010609060101010101" pitchFamily="49" charset="-122"/>
                <a:ea typeface="楷体" panose="02010609060101010101" pitchFamily="49" charset="-122"/>
              </a:rPr>
              <a:t>所示：第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层间的边表示对元素</a:t>
            </a:r>
            <a:r>
              <a:rPr lang="en-US" altLang="zh-CN" sz="2400" dirty="0">
                <a:solidFill>
                  <a:srgbClr val="080808"/>
                </a:solidFill>
                <a:latin typeface="楷体" panose="02010609060101010101" pitchFamily="49" charset="-122"/>
                <a:ea typeface="楷体" panose="02010609060101010101" pitchFamily="49" charset="-122"/>
              </a:rPr>
              <a:t>z1</a:t>
            </a:r>
            <a:r>
              <a:rPr lang="zh-CN" altLang="en-US" sz="2400" dirty="0">
                <a:solidFill>
                  <a:srgbClr val="080808"/>
                </a:solidFill>
                <a:latin typeface="楷体" panose="02010609060101010101" pitchFamily="49" charset="-122"/>
                <a:ea typeface="楷体" panose="02010609060101010101" pitchFamily="49" charset="-122"/>
              </a:rPr>
              <a:t>的选择，左分支的</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表示选择</a:t>
            </a:r>
            <a:r>
              <a:rPr lang="en-US" altLang="zh-CN" sz="2400" dirty="0">
                <a:solidFill>
                  <a:srgbClr val="080808"/>
                </a:solidFill>
                <a:latin typeface="楷体" panose="02010609060101010101" pitchFamily="49" charset="-122"/>
                <a:ea typeface="楷体" panose="02010609060101010101" pitchFamily="49" charset="-122"/>
              </a:rPr>
              <a:t>z1</a:t>
            </a:r>
            <a:r>
              <a:rPr lang="zh-CN" altLang="en-US" sz="2400" dirty="0">
                <a:solidFill>
                  <a:srgbClr val="080808"/>
                </a:solidFill>
                <a:latin typeface="楷体" panose="02010609060101010101" pitchFamily="49" charset="-122"/>
                <a:ea typeface="楷体" panose="02010609060101010101" pitchFamily="49" charset="-122"/>
              </a:rPr>
              <a:t>，右分支的</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表示不选择</a:t>
            </a:r>
            <a:r>
              <a:rPr lang="en-US" altLang="zh-CN" sz="2400" dirty="0">
                <a:solidFill>
                  <a:srgbClr val="080808"/>
                </a:solidFill>
                <a:latin typeface="楷体" panose="02010609060101010101" pitchFamily="49" charset="-122"/>
                <a:ea typeface="楷体" panose="02010609060101010101" pitchFamily="49" charset="-122"/>
              </a:rPr>
              <a:t>z</a:t>
            </a:r>
            <a:r>
              <a:rPr lang="zh-CN" altLang="en-US" sz="2400" dirty="0">
                <a:solidFill>
                  <a:srgbClr val="080808"/>
                </a:solidFill>
                <a:latin typeface="楷体" panose="02010609060101010101" pitchFamily="49" charset="-122"/>
                <a:ea typeface="楷体" panose="02010609060101010101" pitchFamily="49" charset="-122"/>
              </a:rPr>
              <a:t>，第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层间的边表示对元素</a:t>
            </a:r>
            <a:r>
              <a:rPr lang="en-US" altLang="zh-CN" sz="2400" dirty="0">
                <a:solidFill>
                  <a:srgbClr val="080808"/>
                </a:solidFill>
                <a:latin typeface="楷体" panose="02010609060101010101" pitchFamily="49" charset="-122"/>
                <a:ea typeface="楷体" panose="02010609060101010101" pitchFamily="49" charset="-122"/>
              </a:rPr>
              <a:t>z2</a:t>
            </a:r>
            <a:r>
              <a:rPr lang="zh-CN" altLang="en-US" sz="2400" dirty="0">
                <a:solidFill>
                  <a:srgbClr val="080808"/>
                </a:solidFill>
                <a:latin typeface="楷体" panose="02010609060101010101" pitchFamily="49" charset="-122"/>
                <a:ea typeface="楷体" panose="02010609060101010101" pitchFamily="49" charset="-122"/>
              </a:rPr>
              <a:t>的选择，左分支的</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表示选择</a:t>
            </a:r>
            <a:r>
              <a:rPr lang="en-US" altLang="zh-CN" sz="2400" dirty="0">
                <a:solidFill>
                  <a:srgbClr val="080808"/>
                </a:solidFill>
                <a:latin typeface="楷体" panose="02010609060101010101" pitchFamily="49" charset="-122"/>
                <a:ea typeface="楷体" panose="02010609060101010101" pitchFamily="49" charset="-122"/>
              </a:rPr>
              <a:t>z2</a:t>
            </a:r>
            <a:r>
              <a:rPr lang="zh-CN" altLang="en-US" sz="2400" dirty="0">
                <a:solidFill>
                  <a:srgbClr val="080808"/>
                </a:solidFill>
                <a:latin typeface="楷体" panose="02010609060101010101" pitchFamily="49" charset="-122"/>
                <a:ea typeface="楷体" panose="02010609060101010101" pitchFamily="49" charset="-122"/>
              </a:rPr>
              <a:t>，右分支的</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表示不选择</a:t>
            </a:r>
            <a:r>
              <a:rPr lang="en-US" altLang="zh-CN" sz="2400" dirty="0">
                <a:solidFill>
                  <a:srgbClr val="080808"/>
                </a:solidFill>
                <a:latin typeface="楷体" panose="02010609060101010101" pitchFamily="49" charset="-122"/>
                <a:ea typeface="楷体" panose="02010609060101010101" pitchFamily="49" charset="-122"/>
              </a:rPr>
              <a:t>z2</a:t>
            </a:r>
            <a:r>
              <a:rPr lang="zh-CN" altLang="en-US" sz="2400" dirty="0">
                <a:solidFill>
                  <a:srgbClr val="080808"/>
                </a:solidFill>
                <a:latin typeface="楷体" panose="02010609060101010101" pitchFamily="49" charset="-122"/>
                <a:ea typeface="楷体" panose="02010609060101010101" pitchFamily="49" charset="-122"/>
              </a:rPr>
              <a:t>，第</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层间的边表示对元素</a:t>
            </a:r>
            <a:r>
              <a:rPr lang="en-US" altLang="zh-CN" sz="2400" dirty="0">
                <a:solidFill>
                  <a:srgbClr val="080808"/>
                </a:solidFill>
                <a:latin typeface="楷体" panose="02010609060101010101" pitchFamily="49" charset="-122"/>
                <a:ea typeface="楷体" panose="02010609060101010101" pitchFamily="49" charset="-122"/>
              </a:rPr>
              <a:t>z3</a:t>
            </a:r>
            <a:r>
              <a:rPr lang="zh-CN" altLang="en-US" sz="2400" dirty="0">
                <a:solidFill>
                  <a:srgbClr val="080808"/>
                </a:solidFill>
                <a:latin typeface="楷体" panose="02010609060101010101" pitchFamily="49" charset="-122"/>
                <a:ea typeface="楷体" panose="02010609060101010101" pitchFamily="49" charset="-122"/>
              </a:rPr>
              <a:t>的选择，左分支的</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表示选择</a:t>
            </a:r>
            <a:r>
              <a:rPr lang="en-US" altLang="zh-CN" sz="2400" dirty="0">
                <a:solidFill>
                  <a:srgbClr val="080808"/>
                </a:solidFill>
                <a:latin typeface="楷体" panose="02010609060101010101" pitchFamily="49" charset="-122"/>
                <a:ea typeface="楷体" panose="02010609060101010101" pitchFamily="49" charset="-122"/>
              </a:rPr>
              <a:t>z3</a:t>
            </a:r>
            <a:r>
              <a:rPr lang="zh-CN" altLang="en-US" sz="2400" dirty="0">
                <a:solidFill>
                  <a:srgbClr val="080808"/>
                </a:solidFill>
                <a:latin typeface="楷体" panose="02010609060101010101" pitchFamily="49" charset="-122"/>
                <a:ea typeface="楷体" panose="02010609060101010101" pitchFamily="49" charset="-122"/>
              </a:rPr>
              <a:t>，右分支的</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表示不选择</a:t>
            </a:r>
            <a:r>
              <a:rPr lang="en-US" altLang="zh-CN" sz="2400" dirty="0">
                <a:solidFill>
                  <a:srgbClr val="080808"/>
                </a:solidFill>
                <a:latin typeface="楷体" panose="02010609060101010101" pitchFamily="49" charset="-122"/>
                <a:ea typeface="楷体" panose="02010609060101010101" pitchFamily="49" charset="-122"/>
              </a:rPr>
              <a:t>z3</a:t>
            </a:r>
            <a:r>
              <a:rPr lang="zh-CN" altLang="en-US" sz="2400" dirty="0">
                <a:solidFill>
                  <a:srgbClr val="080808"/>
                </a:solidFill>
                <a:latin typeface="楷体" panose="02010609060101010101" pitchFamily="49" charset="-122"/>
                <a:ea typeface="楷体" panose="02010609060101010101" pitchFamily="49" charset="-122"/>
              </a:rPr>
              <a:t>，第</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层间的边表示对元素</a:t>
            </a:r>
            <a:r>
              <a:rPr lang="en-US" altLang="zh-CN" sz="2400" dirty="0">
                <a:solidFill>
                  <a:srgbClr val="080808"/>
                </a:solidFill>
                <a:latin typeface="楷体" panose="02010609060101010101" pitchFamily="49" charset="-122"/>
                <a:ea typeface="楷体" panose="02010609060101010101" pitchFamily="49" charset="-122"/>
              </a:rPr>
              <a:t>z4</a:t>
            </a:r>
            <a:r>
              <a:rPr lang="zh-CN" altLang="en-US" sz="2400" dirty="0">
                <a:solidFill>
                  <a:srgbClr val="080808"/>
                </a:solidFill>
                <a:latin typeface="楷体" panose="02010609060101010101" pitchFamily="49" charset="-122"/>
                <a:ea typeface="楷体" panose="02010609060101010101" pitchFamily="49" charset="-122"/>
              </a:rPr>
              <a:t>的选择，左分支的</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表示选择</a:t>
            </a:r>
            <a:r>
              <a:rPr lang="en-US" altLang="zh-CN" sz="2400" dirty="0">
                <a:solidFill>
                  <a:srgbClr val="080808"/>
                </a:solidFill>
                <a:latin typeface="楷体" panose="02010609060101010101" pitchFamily="49" charset="-122"/>
                <a:ea typeface="楷体" panose="02010609060101010101" pitchFamily="49" charset="-122"/>
              </a:rPr>
              <a:t>z4</a:t>
            </a:r>
            <a:r>
              <a:rPr lang="zh-CN" altLang="en-US" sz="2400" dirty="0">
                <a:solidFill>
                  <a:srgbClr val="080808"/>
                </a:solidFill>
                <a:latin typeface="楷体" panose="02010609060101010101" pitchFamily="49" charset="-122"/>
                <a:ea typeface="楷体" panose="02010609060101010101" pitchFamily="49" charset="-122"/>
              </a:rPr>
              <a:t>，右分支的</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表示不选择</a:t>
            </a:r>
            <a:r>
              <a:rPr lang="en-US" altLang="zh-CN" sz="2400" dirty="0">
                <a:solidFill>
                  <a:srgbClr val="080808"/>
                </a:solidFill>
                <a:latin typeface="楷体" panose="02010609060101010101" pitchFamily="49" charset="-122"/>
                <a:ea typeface="楷体" panose="02010609060101010101" pitchFamily="49" charset="-122"/>
              </a:rPr>
              <a:t>z4</a:t>
            </a:r>
            <a:r>
              <a:rPr lang="zh-CN" altLang="en-US" sz="2400" dirty="0">
                <a:solidFill>
                  <a:srgbClr val="080808"/>
                </a:solidFill>
                <a:latin typeface="楷体" panose="02010609060101010101" pitchFamily="49" charset="-122"/>
                <a:ea typeface="楷体" panose="02010609060101010101" pitchFamily="49" charset="-122"/>
              </a:rPr>
              <a:t>，树中的</a:t>
            </a:r>
            <a:r>
              <a:rPr lang="en-US" altLang="zh-CN" sz="2400" dirty="0">
                <a:solidFill>
                  <a:srgbClr val="080808"/>
                </a:solidFill>
                <a:latin typeface="楷体" panose="02010609060101010101" pitchFamily="49" charset="-122"/>
                <a:ea typeface="楷体" panose="02010609060101010101" pitchFamily="49" charset="-122"/>
              </a:rPr>
              <a:t>15</a:t>
            </a:r>
            <a:r>
              <a:rPr lang="zh-CN" altLang="en-US" sz="2400" dirty="0">
                <a:solidFill>
                  <a:srgbClr val="080808"/>
                </a:solidFill>
                <a:latin typeface="楷体" panose="02010609060101010101" pitchFamily="49" charset="-122"/>
                <a:ea typeface="楷体" panose="02010609060101010101" pitchFamily="49" charset="-122"/>
              </a:rPr>
              <a:t>个叶子结点分别代表此问题的 </a:t>
            </a:r>
            <a:r>
              <a:rPr lang="en-US" altLang="zh-CN" sz="2400" dirty="0">
                <a:solidFill>
                  <a:srgbClr val="080808"/>
                </a:solidFill>
                <a:latin typeface="楷体" panose="02010609060101010101" pitchFamily="49" charset="-122"/>
                <a:ea typeface="楷体" panose="02010609060101010101" pitchFamily="49" charset="-122"/>
              </a:rPr>
              <a:t>15</a:t>
            </a:r>
            <a:r>
              <a:rPr lang="zh-CN" altLang="en-US" sz="2400" dirty="0">
                <a:solidFill>
                  <a:srgbClr val="080808"/>
                </a:solidFill>
                <a:latin typeface="楷体" panose="02010609060101010101" pitchFamily="49" charset="-122"/>
                <a:ea typeface="楷体" panose="02010609060101010101" pitchFamily="49" charset="-122"/>
              </a:rPr>
              <a:t>个可能解：</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123728" y="908720"/>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6.2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回朔法示例</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p:nvPr/>
        </p:nvPicPr>
        <p:blipFill>
          <a:blip r:embed="rId1">
            <a:extLst>
              <a:ext uri="{28A0092B-C50C-407E-A947-70E740481C1C}">
                <a14:useLocalDpi xmlns:a14="http://schemas.microsoft.com/office/drawing/2010/main" val="0"/>
              </a:ext>
            </a:extLst>
          </a:blip>
          <a:stretch>
            <a:fillRect/>
          </a:stretch>
        </p:blipFill>
        <p:spPr>
          <a:xfrm>
            <a:off x="486873" y="1340768"/>
            <a:ext cx="8170254" cy="5112568"/>
          </a:xfrm>
          <a:prstGeom prst="rect">
            <a:avLst/>
          </a:prstGeom>
        </p:spPr>
      </p:pic>
    </p:spTree>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76363" y="1622539"/>
            <a:ext cx="9067637" cy="3046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为求解子集和问题需要搜索整个解空间树，设解向量</a:t>
            </a:r>
            <a:r>
              <a:rPr lang="en-US" altLang="zh-CN" sz="2400" dirty="0">
                <a:solidFill>
                  <a:srgbClr val="080808"/>
                </a:solidFill>
                <a:latin typeface="楷体" panose="02010609060101010101" pitchFamily="49" charset="-122"/>
                <a:ea typeface="楷体" panose="02010609060101010101" pitchFamily="49" charset="-122"/>
              </a:rPr>
              <a:t>x=</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x1,x2,…,</a:t>
            </a:r>
            <a:r>
              <a:rPr lang="en-US" altLang="zh-CN" sz="2400" dirty="0" err="1">
                <a:solidFill>
                  <a:srgbClr val="080808"/>
                </a:solidFill>
                <a:latin typeface="楷体" panose="02010609060101010101" pitchFamily="49" charset="-122"/>
                <a:ea typeface="楷体" panose="02010609060101010101" pitchFamily="49" charset="-122"/>
              </a:rPr>
              <a:t>xn</a:t>
            </a:r>
            <a:r>
              <a:rPr lang="zh-CN" altLang="en-US" sz="2400" dirty="0">
                <a:solidFill>
                  <a:srgbClr val="080808"/>
                </a:solidFill>
                <a:latin typeface="楷体" panose="02010609060101010101" pitchFamily="49" charset="-122"/>
                <a:ea typeface="楷体" panose="02010609060101010101" pitchFamily="49" charset="-122"/>
              </a:rPr>
              <a:t>），当搜索到叶子结点的时候，计算子集和，如果相应所得结果为</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，就输出</a:t>
            </a:r>
            <a:r>
              <a:rPr lang="en-US" altLang="zh-CN" sz="2400" dirty="0">
                <a:solidFill>
                  <a:srgbClr val="080808"/>
                </a:solidFill>
                <a:latin typeface="楷体" panose="02010609060101010101" pitchFamily="49" charset="-122"/>
                <a:ea typeface="楷体" panose="02010609060101010101" pitchFamily="49" charset="-122"/>
              </a:rPr>
              <a:t>x</a:t>
            </a:r>
            <a:r>
              <a:rPr lang="zh-CN" altLang="en-US" sz="2400" dirty="0">
                <a:solidFill>
                  <a:srgbClr val="080808"/>
                </a:solidFill>
                <a:latin typeface="楷体" panose="02010609060101010101" pitchFamily="49" charset="-122"/>
                <a:ea typeface="楷体" panose="02010609060101010101" pitchFamily="49" charset="-122"/>
              </a:rPr>
              <a:t>。在搜索过程中设置约束函数进行剪枝，设</a:t>
            </a:r>
            <a:r>
              <a:rPr lang="en-US" altLang="zh-CN" sz="2400" dirty="0" err="1">
                <a:solidFill>
                  <a:srgbClr val="080808"/>
                </a:solidFill>
                <a:latin typeface="楷体" panose="02010609060101010101" pitchFamily="49" charset="-122"/>
                <a:ea typeface="楷体" panose="02010609060101010101" pitchFamily="49" charset="-122"/>
              </a:rPr>
              <a:t>tz</a:t>
            </a:r>
            <a:r>
              <a:rPr lang="zh-CN" altLang="en-US" sz="2400" dirty="0">
                <a:solidFill>
                  <a:srgbClr val="080808"/>
                </a:solidFill>
                <a:latin typeface="楷体" panose="02010609060101010101" pitchFamily="49" charset="-122"/>
                <a:ea typeface="楷体" panose="02010609060101010101" pitchFamily="49" charset="-122"/>
              </a:rPr>
              <a:t>表示已选取整数的和，</a:t>
            </a:r>
            <a:r>
              <a:rPr lang="en-US" altLang="zh-CN" sz="2400" dirty="0" err="1">
                <a:solidFill>
                  <a:srgbClr val="080808"/>
                </a:solidFill>
                <a:latin typeface="楷体" panose="02010609060101010101" pitchFamily="49" charset="-122"/>
                <a:ea typeface="楷体" panose="02010609060101010101" pitchFamily="49" charset="-122"/>
              </a:rPr>
              <a:t>rz</a:t>
            </a:r>
            <a:r>
              <a:rPr lang="zh-CN" altLang="en-US" sz="2400" dirty="0">
                <a:solidFill>
                  <a:srgbClr val="080808"/>
                </a:solidFill>
                <a:latin typeface="楷体" panose="02010609060101010101" pitchFamily="49" charset="-122"/>
                <a:ea typeface="楷体" panose="02010609060101010101" pitchFamily="49" charset="-122"/>
              </a:rPr>
              <a:t>表示余下整数的和，则：</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约束函数：一是判断当前整数</a:t>
            </a:r>
            <a:r>
              <a:rPr lang="en-US" altLang="zh-CN" sz="2400" dirty="0" err="1">
                <a:solidFill>
                  <a:srgbClr val="080808"/>
                </a:solidFill>
                <a:latin typeface="楷体" panose="02010609060101010101" pitchFamily="49" charset="-122"/>
                <a:ea typeface="楷体" panose="02010609060101010101" pitchFamily="49" charset="-122"/>
              </a:rPr>
              <a:t>zi</a:t>
            </a:r>
            <a:r>
              <a:rPr lang="zh-CN" altLang="en-US" sz="2400" dirty="0">
                <a:solidFill>
                  <a:srgbClr val="080808"/>
                </a:solidFill>
                <a:latin typeface="楷体" panose="02010609060101010101" pitchFamily="49" charset="-122"/>
                <a:ea typeface="楷体" panose="02010609060101010101" pitchFamily="49" charset="-122"/>
              </a:rPr>
              <a:t>加入后的子集和是否小于</a:t>
            </a:r>
            <a:r>
              <a:rPr lang="en-US" altLang="zh-CN" sz="2400" dirty="0">
                <a:solidFill>
                  <a:srgbClr val="080808"/>
                </a:solidFill>
                <a:latin typeface="楷体" panose="02010609060101010101" pitchFamily="49" charset="-122"/>
                <a:ea typeface="楷体" panose="02010609060101010101" pitchFamily="49" charset="-122"/>
              </a:rPr>
              <a:t>c</a:t>
            </a:r>
            <a:r>
              <a:rPr lang="zh-CN" altLang="en-US" sz="2400" dirty="0">
                <a:solidFill>
                  <a:srgbClr val="080808"/>
                </a:solidFill>
                <a:latin typeface="楷体" panose="02010609060101010101" pitchFamily="49" charset="-122"/>
                <a:ea typeface="楷体" panose="02010609060101010101" pitchFamily="49" charset="-122"/>
              </a:rPr>
              <a:t>，如果是就继续搜索，否则结束搜索。</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限界函数：如果某一个结点的</a:t>
            </a:r>
            <a:r>
              <a:rPr lang="en-US" altLang="zh-CN" sz="2400" dirty="0" err="1">
                <a:solidFill>
                  <a:srgbClr val="080808"/>
                </a:solidFill>
                <a:latin typeface="楷体" panose="02010609060101010101" pitchFamily="49" charset="-122"/>
                <a:ea typeface="楷体" panose="02010609060101010101" pitchFamily="49" charset="-122"/>
              </a:rPr>
              <a:t>tz+rz</a:t>
            </a:r>
            <a:r>
              <a:rPr lang="en-US" altLang="zh-CN" sz="2400" dirty="0">
                <a:solidFill>
                  <a:srgbClr val="080808"/>
                </a:solidFill>
                <a:latin typeface="楷体" panose="02010609060101010101" pitchFamily="49" charset="-122"/>
                <a:ea typeface="楷体" panose="02010609060101010101" pitchFamily="49" charset="-122"/>
              </a:rPr>
              <a:t>&lt;c</a:t>
            </a:r>
            <a:r>
              <a:rPr lang="zh-CN" altLang="en-US" sz="2400" dirty="0">
                <a:solidFill>
                  <a:srgbClr val="080808"/>
                </a:solidFill>
                <a:latin typeface="楷体" panose="02010609060101010101" pitchFamily="49" charset="-122"/>
                <a:ea typeface="楷体" panose="02010609060101010101" pitchFamily="49" charset="-122"/>
              </a:rPr>
              <a:t>，表示无解，结束搜索。</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从根结点出发，对解空间树的搜索过程如表</a:t>
            </a:r>
            <a:r>
              <a:rPr lang="en-US" altLang="zh-CN" sz="2400" dirty="0">
                <a:solidFill>
                  <a:srgbClr val="080808"/>
                </a:solidFill>
                <a:latin typeface="楷体" panose="02010609060101010101" pitchFamily="49" charset="-122"/>
                <a:ea typeface="楷体" panose="02010609060101010101" pitchFamily="49" charset="-122"/>
              </a:rPr>
              <a:t>6.2</a:t>
            </a:r>
            <a:r>
              <a:rPr lang="zh-CN" altLang="en-US" sz="2400" dirty="0">
                <a:solidFill>
                  <a:srgbClr val="080808"/>
                </a:solidFill>
                <a:latin typeface="楷体" panose="02010609060101010101" pitchFamily="49" charset="-122"/>
                <a:ea typeface="楷体" panose="02010609060101010101" pitchFamily="49" charset="-122"/>
              </a:rPr>
              <a:t>所示：</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p:cNvGraphicFramePr>
            <a:graphicFrameLocks noGrp="1"/>
          </p:cNvGraphicFramePr>
          <p:nvPr/>
        </p:nvGraphicFramePr>
        <p:xfrm>
          <a:off x="0" y="1"/>
          <a:ext cx="9144000" cy="7315200"/>
        </p:xfrm>
        <a:graphic>
          <a:graphicData uri="http://schemas.openxmlformats.org/drawingml/2006/table">
            <a:tbl>
              <a:tblPr firstRow="1" firstCol="1" bandRow="1"/>
              <a:tblGrid>
                <a:gridCol w="1088601"/>
                <a:gridCol w="1088601"/>
                <a:gridCol w="2039767"/>
                <a:gridCol w="1089806"/>
                <a:gridCol w="1089806"/>
                <a:gridCol w="2747419"/>
              </a:tblGrid>
              <a:tr h="213406">
                <a:tc>
                  <a:txBody>
                    <a:bodyPr/>
                    <a:lstStyle/>
                    <a:p>
                      <a:pPr algn="ctr">
                        <a:lnSpc>
                          <a:spcPts val="1800"/>
                        </a:lnSpc>
                        <a:spcAft>
                          <a:spcPts val="0"/>
                        </a:spcAft>
                      </a:pPr>
                      <a:r>
                        <a:rPr lang="zh-CN" sz="1600" kern="100">
                          <a:effectLst/>
                        </a:rPr>
                        <a:t>层数</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结点</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子集</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rz</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备注</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起始状态</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337">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tz&gt;35</a:t>
                      </a:r>
                      <a:r>
                        <a:rPr lang="zh-CN" sz="1600" kern="100">
                          <a:effectLst/>
                        </a:rPr>
                        <a:t>，终止搜索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dirty="0">
                          <a:effectLst/>
                        </a:rPr>
                        <a:t>不可行解</a:t>
                      </a:r>
                      <a:endParaRPr lang="zh-CN" sz="16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337">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tz&gt;35</a:t>
                      </a:r>
                      <a:r>
                        <a:rPr lang="zh-CN" sz="1600" kern="100">
                          <a:effectLst/>
                        </a:rPr>
                        <a:t>，终止搜索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337">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tz&gt;35</a:t>
                      </a:r>
                      <a:r>
                        <a:rPr lang="zh-CN" sz="1600" kern="100">
                          <a:effectLst/>
                        </a:rPr>
                        <a:t>，终止搜索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dirty="0">
                          <a:effectLst/>
                        </a:rPr>
                        <a:t>不可行解</a:t>
                      </a:r>
                      <a:endParaRPr lang="zh-CN" sz="16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bl>
          </a:graphicData>
        </a:graphic>
      </p:graphicFrame>
      <p:pic>
        <p:nvPicPr>
          <p:cNvPr id="4" name="图片 3"/>
          <p:cNvPicPr/>
          <p:nvPr/>
        </p:nvPicPr>
        <p:blipFill>
          <a:blip r:embed="rId1">
            <a:extLst>
              <a:ext uri="{28A0092B-C50C-407E-A947-70E740481C1C}">
                <a14:useLocalDpi xmlns:a14="http://schemas.microsoft.com/office/drawing/2010/main" val="0"/>
              </a:ext>
            </a:extLst>
          </a:blip>
          <a:stretch>
            <a:fillRect/>
          </a:stretch>
        </p:blipFill>
        <p:spPr>
          <a:xfrm>
            <a:off x="0" y="3429000"/>
            <a:ext cx="9144000" cy="4045496"/>
          </a:xfrm>
          <a:prstGeom prst="rect">
            <a:avLst/>
          </a:prstGeom>
        </p:spPr>
      </p:pic>
      <p:sp>
        <p:nvSpPr>
          <p:cNvPr id="5" name="矩形 4"/>
          <p:cNvSpPr/>
          <p:nvPr/>
        </p:nvSpPr>
        <p:spPr>
          <a:xfrm>
            <a:off x="5220072" y="3657601"/>
            <a:ext cx="4107215" cy="323165"/>
          </a:xfrm>
          <a:prstGeom prst="rect">
            <a:avLst/>
          </a:prstGeom>
        </p:spPr>
        <p:txBody>
          <a:bodyPr wrap="none">
            <a:spAutoFit/>
          </a:bodyPr>
          <a:lstStyle/>
          <a:p>
            <a:pPr indent="266700" algn="just">
              <a:lnSpc>
                <a:spcPts val="1800"/>
              </a:lnSpc>
              <a:spcAft>
                <a:spcPts val="0"/>
              </a:spcAft>
            </a:pPr>
            <a:r>
              <a:rPr lang="zh-CN" altLang="zh-CN" kern="100" dirty="0">
                <a:latin typeface="Times New Roman" panose="02020603050405020304" pitchFamily="18" charset="0"/>
                <a:cs typeface="Times New Roman" panose="02020603050405020304" pitchFamily="18" charset="0"/>
              </a:rPr>
              <a:t>已知</a:t>
            </a:r>
            <a:r>
              <a:rPr lang="en-US" altLang="zh-CN" kern="100" dirty="0">
                <a:latin typeface="Times New Roman" panose="02020603050405020304" pitchFamily="18" charset="0"/>
                <a:cs typeface="Times New Roman" panose="02020603050405020304" pitchFamily="18" charset="0"/>
              </a:rPr>
              <a:t>n=4</a:t>
            </a:r>
            <a:r>
              <a:rPr lang="zh-CN" altLang="zh-CN" kern="100" dirty="0">
                <a:latin typeface="Times New Roman" panose="02020603050405020304" pitchFamily="18" charset="0"/>
                <a:cs typeface="Times New Roman" panose="02020603050405020304" pitchFamily="18" charset="0"/>
              </a:rPr>
              <a:t>，</a:t>
            </a:r>
            <a:r>
              <a:rPr lang="en-US" altLang="zh-CN" kern="100" dirty="0">
                <a:latin typeface="Times New Roman" panose="02020603050405020304" pitchFamily="18" charset="0"/>
                <a:cs typeface="Times New Roman" panose="02020603050405020304" pitchFamily="18" charset="0"/>
              </a:rPr>
              <a:t>z=</a:t>
            </a:r>
            <a:r>
              <a:rPr lang="zh-CN" altLang="zh-CN" kern="100" dirty="0">
                <a:latin typeface="Times New Roman" panose="02020603050405020304" pitchFamily="18" charset="0"/>
                <a:cs typeface="Times New Roman" panose="02020603050405020304" pitchFamily="18" charset="0"/>
              </a:rPr>
              <a:t>（</a:t>
            </a:r>
            <a:r>
              <a:rPr lang="en-US" altLang="zh-CN" kern="100" dirty="0">
                <a:latin typeface="Times New Roman" panose="02020603050405020304" pitchFamily="18" charset="0"/>
                <a:cs typeface="Times New Roman" panose="02020603050405020304" pitchFamily="18" charset="0"/>
              </a:rPr>
              <a:t>16,12,28,7</a:t>
            </a:r>
            <a:r>
              <a:rPr lang="zh-CN" altLang="zh-CN" kern="100" dirty="0">
                <a:latin typeface="Times New Roman" panose="02020603050405020304" pitchFamily="18" charset="0"/>
                <a:cs typeface="Times New Roman" panose="02020603050405020304" pitchFamily="18" charset="0"/>
              </a:rPr>
              <a:t>），</a:t>
            </a:r>
            <a:r>
              <a:rPr lang="en-US" altLang="zh-CN" kern="100" dirty="0">
                <a:latin typeface="Times New Roman" panose="02020603050405020304" pitchFamily="18" charset="0"/>
                <a:cs typeface="Times New Roman" panose="02020603050405020304" pitchFamily="18" charset="0"/>
              </a:rPr>
              <a:t>c=35</a:t>
            </a:r>
            <a:r>
              <a:rPr lang="zh-CN" altLang="zh-CN" kern="100" dirty="0">
                <a:latin typeface="Times New Roman" panose="02020603050405020304" pitchFamily="18" charset="0"/>
                <a:cs typeface="Times New Roman" panose="02020603050405020304" pitchFamily="18" charset="0"/>
              </a:rPr>
              <a:t>。</a:t>
            </a:r>
            <a:endParaRPr lang="zh-CN" altLang="zh-CN" kern="100" dirty="0">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p:cNvGraphicFramePr>
            <a:graphicFrameLocks noGrp="1"/>
          </p:cNvGraphicFramePr>
          <p:nvPr/>
        </p:nvGraphicFramePr>
        <p:xfrm>
          <a:off x="0" y="1"/>
          <a:ext cx="9144000" cy="7315200"/>
        </p:xfrm>
        <a:graphic>
          <a:graphicData uri="http://schemas.openxmlformats.org/drawingml/2006/table">
            <a:tbl>
              <a:tblPr firstRow="1" firstCol="1" bandRow="1"/>
              <a:tblGrid>
                <a:gridCol w="1088601"/>
                <a:gridCol w="1088601"/>
                <a:gridCol w="2039767"/>
                <a:gridCol w="1089806"/>
                <a:gridCol w="1089806"/>
                <a:gridCol w="2747419"/>
              </a:tblGrid>
              <a:tr h="213406">
                <a:tc>
                  <a:txBody>
                    <a:bodyPr/>
                    <a:lstStyle/>
                    <a:p>
                      <a:pPr algn="ctr">
                        <a:lnSpc>
                          <a:spcPts val="1800"/>
                        </a:lnSpc>
                        <a:spcAft>
                          <a:spcPts val="0"/>
                        </a:spcAft>
                      </a:pPr>
                      <a:r>
                        <a:rPr lang="zh-CN" sz="1600" kern="100">
                          <a:effectLst/>
                        </a:rPr>
                        <a:t>层数</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结点</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子集</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rz</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备注</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起始状态</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337">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tz&gt;35</a:t>
                      </a:r>
                      <a:r>
                        <a:rPr lang="zh-CN" sz="1600" kern="100">
                          <a:effectLst/>
                        </a:rPr>
                        <a:t>，终止搜索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337">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tz&gt;35</a:t>
                      </a:r>
                      <a:r>
                        <a:rPr lang="zh-CN" sz="1600" kern="100">
                          <a:effectLst/>
                        </a:rPr>
                        <a:t>，终止搜索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337">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tz&gt;35</a:t>
                      </a:r>
                      <a:r>
                        <a:rPr lang="zh-CN" sz="1600" kern="100">
                          <a:effectLst/>
                        </a:rPr>
                        <a:t>，终止搜索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44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12</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28</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4</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29</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继续搜索</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7</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56</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a:effectLst/>
                        </a:rPr>
                        <a:t>不可行解</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r h="213406">
                <a:tc>
                  <a:txBody>
                    <a:bodyPr/>
                    <a:lstStyle/>
                    <a:p>
                      <a:pPr algn="ctr">
                        <a:lnSpc>
                          <a:spcPts val="1800"/>
                        </a:lnSpc>
                        <a:spcAft>
                          <a:spcPts val="0"/>
                        </a:spcAft>
                      </a:pPr>
                      <a:r>
                        <a:rPr lang="en-US" sz="1600" kern="100">
                          <a:effectLst/>
                        </a:rPr>
                        <a:t>5</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31</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0</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en-US" sz="1600" kern="100">
                          <a:effectLst/>
                        </a:rPr>
                        <a:t>63</a:t>
                      </a:r>
                      <a:endParaRPr lang="zh-CN" sz="16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c>
                  <a:txBody>
                    <a:bodyPr/>
                    <a:lstStyle/>
                    <a:p>
                      <a:pPr algn="ctr">
                        <a:lnSpc>
                          <a:spcPts val="1800"/>
                        </a:lnSpc>
                        <a:spcAft>
                          <a:spcPts val="0"/>
                        </a:spcAft>
                      </a:pPr>
                      <a:r>
                        <a:rPr lang="zh-CN" sz="1600" kern="100" dirty="0">
                          <a:effectLst/>
                        </a:rPr>
                        <a:t>不可行解</a:t>
                      </a:r>
                      <a:endParaRPr lang="zh-CN" sz="16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54506" marR="54506" marT="0" marB="0">
                    <a:solidFill>
                      <a:schemeClr val="bg1"/>
                    </a:solidFill>
                  </a:tcPr>
                </a:tc>
              </a:tr>
            </a:tbl>
          </a:graphicData>
        </a:graphic>
      </p:graphicFrame>
      <p:pic>
        <p:nvPicPr>
          <p:cNvPr id="4" name="图片 3"/>
          <p:cNvPicPr/>
          <p:nvPr/>
        </p:nvPicPr>
        <p:blipFill>
          <a:blip r:embed="rId1">
            <a:extLst>
              <a:ext uri="{28A0092B-C50C-407E-A947-70E740481C1C}">
                <a14:useLocalDpi xmlns:a14="http://schemas.microsoft.com/office/drawing/2010/main" val="0"/>
              </a:ext>
            </a:extLst>
          </a:blip>
          <a:stretch>
            <a:fillRect/>
          </a:stretch>
        </p:blipFill>
        <p:spPr>
          <a:xfrm>
            <a:off x="-19473" y="-29682"/>
            <a:ext cx="9144000" cy="3458682"/>
          </a:xfrm>
          <a:prstGeom prst="rect">
            <a:avLst/>
          </a:prstGeom>
        </p:spPr>
      </p:pic>
      <p:sp>
        <p:nvSpPr>
          <p:cNvPr id="5" name="矩形 4"/>
          <p:cNvSpPr/>
          <p:nvPr/>
        </p:nvSpPr>
        <p:spPr>
          <a:xfrm>
            <a:off x="5056258" y="116632"/>
            <a:ext cx="4107215" cy="323165"/>
          </a:xfrm>
          <a:prstGeom prst="rect">
            <a:avLst/>
          </a:prstGeom>
        </p:spPr>
        <p:txBody>
          <a:bodyPr wrap="none">
            <a:spAutoFit/>
          </a:bodyPr>
          <a:lstStyle/>
          <a:p>
            <a:pPr indent="266700" algn="just">
              <a:lnSpc>
                <a:spcPts val="1800"/>
              </a:lnSpc>
              <a:spcAft>
                <a:spcPts val="0"/>
              </a:spcAft>
            </a:pPr>
            <a:r>
              <a:rPr lang="zh-CN" altLang="zh-CN" kern="100" dirty="0">
                <a:latin typeface="Times New Roman" panose="02020603050405020304" pitchFamily="18" charset="0"/>
                <a:cs typeface="Times New Roman" panose="02020603050405020304" pitchFamily="18" charset="0"/>
              </a:rPr>
              <a:t>已知</a:t>
            </a:r>
            <a:r>
              <a:rPr lang="en-US" altLang="zh-CN" kern="100" dirty="0">
                <a:latin typeface="Times New Roman" panose="02020603050405020304" pitchFamily="18" charset="0"/>
                <a:cs typeface="Times New Roman" panose="02020603050405020304" pitchFamily="18" charset="0"/>
              </a:rPr>
              <a:t>n=4</a:t>
            </a:r>
            <a:r>
              <a:rPr lang="zh-CN" altLang="zh-CN" kern="100" dirty="0">
                <a:latin typeface="Times New Roman" panose="02020603050405020304" pitchFamily="18" charset="0"/>
                <a:cs typeface="Times New Roman" panose="02020603050405020304" pitchFamily="18" charset="0"/>
              </a:rPr>
              <a:t>，</a:t>
            </a:r>
            <a:r>
              <a:rPr lang="en-US" altLang="zh-CN" kern="100" dirty="0">
                <a:latin typeface="Times New Roman" panose="02020603050405020304" pitchFamily="18" charset="0"/>
                <a:cs typeface="Times New Roman" panose="02020603050405020304" pitchFamily="18" charset="0"/>
              </a:rPr>
              <a:t>z=</a:t>
            </a:r>
            <a:r>
              <a:rPr lang="zh-CN" altLang="zh-CN" kern="100" dirty="0">
                <a:latin typeface="Times New Roman" panose="02020603050405020304" pitchFamily="18" charset="0"/>
                <a:cs typeface="Times New Roman" panose="02020603050405020304" pitchFamily="18" charset="0"/>
              </a:rPr>
              <a:t>（</a:t>
            </a:r>
            <a:r>
              <a:rPr lang="en-US" altLang="zh-CN" kern="100" dirty="0">
                <a:latin typeface="Times New Roman" panose="02020603050405020304" pitchFamily="18" charset="0"/>
                <a:cs typeface="Times New Roman" panose="02020603050405020304" pitchFamily="18" charset="0"/>
              </a:rPr>
              <a:t>16,12,28,7</a:t>
            </a:r>
            <a:r>
              <a:rPr lang="zh-CN" altLang="zh-CN" kern="100" dirty="0">
                <a:latin typeface="Times New Roman" panose="02020603050405020304" pitchFamily="18" charset="0"/>
                <a:cs typeface="Times New Roman" panose="02020603050405020304" pitchFamily="18" charset="0"/>
              </a:rPr>
              <a:t>），</a:t>
            </a:r>
            <a:r>
              <a:rPr lang="en-US" altLang="zh-CN" kern="100" dirty="0">
                <a:latin typeface="Times New Roman" panose="02020603050405020304" pitchFamily="18" charset="0"/>
                <a:cs typeface="Times New Roman" panose="02020603050405020304" pitchFamily="18" charset="0"/>
              </a:rPr>
              <a:t>c=35</a:t>
            </a:r>
            <a:r>
              <a:rPr lang="zh-CN" altLang="zh-CN" kern="100" dirty="0">
                <a:latin typeface="Times New Roman" panose="02020603050405020304" pitchFamily="18" charset="0"/>
                <a:cs typeface="Times New Roman" panose="02020603050405020304" pitchFamily="18" charset="0"/>
              </a:rPr>
              <a:t>。</a:t>
            </a:r>
            <a:endParaRPr lang="zh-CN" altLang="zh-CN" kern="100" dirty="0">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0" y="1340768"/>
            <a:ext cx="8874126" cy="48936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a:solidFill>
                  <a:srgbClr val="080808"/>
                </a:solidFill>
                <a:latin typeface="楷体" panose="02010609060101010101" pitchFamily="49" charset="-122"/>
                <a:ea typeface="楷体" panose="02010609060101010101" pitchFamily="49" charset="-122"/>
              </a:rPr>
              <a:t>6.2】</a:t>
            </a:r>
            <a:r>
              <a:rPr lang="zh-CN" altLang="en-US" sz="2400" dirty="0">
                <a:solidFill>
                  <a:srgbClr val="080808"/>
                </a:solidFill>
                <a:latin typeface="楷体" panose="02010609060101010101" pitchFamily="49" charset="-122"/>
                <a:ea typeface="楷体" panose="02010609060101010101" pitchFamily="49" charset="-122"/>
              </a:rPr>
              <a:t>装载问题。</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问题描述：现有</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个集装箱，要装上</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艘轮船，轮船的载重量分别为</a:t>
            </a:r>
            <a:r>
              <a:rPr lang="en-US" altLang="zh-CN" sz="2400" dirty="0">
                <a:solidFill>
                  <a:srgbClr val="080808"/>
                </a:solidFill>
                <a:latin typeface="楷体" panose="02010609060101010101" pitchFamily="49" charset="-122"/>
                <a:ea typeface="楷体" panose="02010609060101010101" pitchFamily="49" charset="-122"/>
              </a:rPr>
              <a:t>c1</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c2</a:t>
            </a:r>
            <a:r>
              <a:rPr lang="zh-CN" altLang="en-US" sz="2400" dirty="0">
                <a:solidFill>
                  <a:srgbClr val="080808"/>
                </a:solidFill>
                <a:latin typeface="楷体" panose="02010609060101010101" pitchFamily="49" charset="-122"/>
                <a:ea typeface="楷体" panose="02010609060101010101" pitchFamily="49" charset="-122"/>
              </a:rPr>
              <a:t>，已知集装箱</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的重量为</a:t>
            </a:r>
            <a:r>
              <a:rPr lang="en-US" altLang="zh-CN" sz="2400" dirty="0" err="1">
                <a:solidFill>
                  <a:srgbClr val="080808"/>
                </a:solidFill>
                <a:latin typeface="楷体" panose="02010609060101010101" pitchFamily="49" charset="-122"/>
                <a:ea typeface="楷体" panose="02010609060101010101" pitchFamily="49" charset="-122"/>
              </a:rPr>
              <a:t>wi</a:t>
            </a:r>
            <a:r>
              <a:rPr lang="zh-CN" altLang="en-US" sz="2400" dirty="0">
                <a:solidFill>
                  <a:srgbClr val="080808"/>
                </a:solidFill>
                <a:latin typeface="楷体" panose="02010609060101010101" pitchFamily="49" charset="-122"/>
                <a:ea typeface="楷体" panose="02010609060101010101" pitchFamily="49" charset="-122"/>
              </a:rPr>
              <a:t>，且</a:t>
            </a:r>
            <a:r>
              <a:rPr lang="en-US" altLang="zh-CN" sz="2400" dirty="0">
                <a:solidFill>
                  <a:srgbClr val="080808"/>
                </a:solidFill>
                <a:latin typeface="楷体" panose="02010609060101010101" pitchFamily="49" charset="-122"/>
                <a:ea typeface="楷体" panose="02010609060101010101" pitchFamily="49" charset="-122"/>
              </a:rPr>
              <a:t>w1+w2+……+</a:t>
            </a:r>
            <a:r>
              <a:rPr lang="en-US" altLang="zh-CN" sz="2400" dirty="0" err="1">
                <a:solidFill>
                  <a:srgbClr val="080808"/>
                </a:solidFill>
                <a:latin typeface="楷体" panose="02010609060101010101" pitchFamily="49" charset="-122"/>
                <a:ea typeface="楷体" panose="02010609060101010101" pitchFamily="49" charset="-122"/>
              </a:rPr>
              <a:t>wn</a:t>
            </a:r>
            <a:r>
              <a:rPr lang="en-US" altLang="zh-CN" sz="2400" dirty="0">
                <a:solidFill>
                  <a:srgbClr val="080808"/>
                </a:solidFill>
                <a:latin typeface="楷体" panose="02010609060101010101" pitchFamily="49" charset="-122"/>
                <a:ea typeface="楷体" panose="02010609060101010101" pitchFamily="49" charset="-122"/>
              </a:rPr>
              <a:t>&lt;=c1+c2</a:t>
            </a:r>
            <a:r>
              <a:rPr lang="zh-CN" altLang="en-US" sz="2400" dirty="0">
                <a:solidFill>
                  <a:srgbClr val="080808"/>
                </a:solidFill>
                <a:latin typeface="楷体" panose="02010609060101010101" pitchFamily="49" charset="-122"/>
                <a:ea typeface="楷体" panose="02010609060101010101" pitchFamily="49" charset="-122"/>
              </a:rPr>
              <a:t>，请设计算法找出一个合理的装载方案可将全部集装箱装上这</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艘轮船。</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、解题思路：分为以下两步：</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）先将第一艘轮船尽可能的装满；</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）而后将剩余的集装箱装在第二艘轮船上。</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采用回朔法求解，将第一艘轮船尽可能的装满相当于选取所有集装箱的一个子集，使该子集中的集装箱重量之和尽可能接近</a:t>
            </a:r>
            <a:r>
              <a:rPr lang="en-US" altLang="zh-CN" sz="2400" dirty="0">
                <a:solidFill>
                  <a:srgbClr val="080808"/>
                </a:solidFill>
                <a:latin typeface="楷体" panose="02010609060101010101" pitchFamily="49" charset="-122"/>
                <a:ea typeface="楷体" panose="02010609060101010101" pitchFamily="49" charset="-122"/>
              </a:rPr>
              <a:t>C1</a:t>
            </a:r>
            <a:r>
              <a:rPr lang="zh-CN" altLang="en-US" sz="2400" dirty="0">
                <a:solidFill>
                  <a:srgbClr val="080808"/>
                </a:solidFill>
                <a:latin typeface="楷体" panose="02010609060101010101" pitchFamily="49" charset="-122"/>
                <a:ea typeface="楷体" panose="02010609060101010101" pitchFamily="49" charset="-122"/>
              </a:rPr>
              <a:t>，和背包问题有些类似，问题描述如下</a:t>
            </a:r>
            <a:r>
              <a:rPr lang="en-US" altLang="zh-CN" sz="2400" dirty="0">
                <a:solidFill>
                  <a:srgbClr val="080808"/>
                </a:solidFill>
                <a:latin typeface="楷体" panose="02010609060101010101" pitchFamily="49" charset="-122"/>
                <a:ea typeface="楷体" panose="02010609060101010101" pitchFamily="49" charset="-122"/>
              </a:rPr>
              <a:t>:</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4088" y="1124744"/>
            <a:ext cx="8874126" cy="56323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）设</a:t>
            </a:r>
            <a:r>
              <a:rPr lang="en-US" altLang="zh-CN" sz="2400" dirty="0">
                <a:solidFill>
                  <a:srgbClr val="080808"/>
                </a:solidFill>
                <a:latin typeface="楷体" panose="02010609060101010101" pitchFamily="49" charset="-122"/>
                <a:ea typeface="楷体" panose="02010609060101010101" pitchFamily="49" charset="-122"/>
              </a:rPr>
              <a:t>xi </a:t>
            </a:r>
            <a:r>
              <a:rPr lang="zh-CN" altLang="en-US" sz="2400" dirty="0">
                <a:solidFill>
                  <a:srgbClr val="080808"/>
                </a:solidFill>
                <a:latin typeface="楷体" panose="02010609060101010101" pitchFamily="49" charset="-122"/>
                <a:ea typeface="楷体" panose="02010609060101010101" pitchFamily="49" charset="-122"/>
              </a:rPr>
              <a:t>表示集装箱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装入轮船</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的情况，即解向量：</a:t>
            </a:r>
            <a:r>
              <a:rPr lang="en-US" altLang="zh-CN" sz="2400" dirty="0">
                <a:solidFill>
                  <a:srgbClr val="080808"/>
                </a:solidFill>
                <a:latin typeface="楷体" panose="02010609060101010101" pitchFamily="49" charset="-122"/>
                <a:ea typeface="楷体" panose="02010609060101010101" pitchFamily="49" charset="-122"/>
              </a:rPr>
              <a:t>X=(x1, x2, …, </a:t>
            </a:r>
            <a:r>
              <a:rPr lang="en-US" altLang="zh-CN" sz="2400" dirty="0" err="1">
                <a:solidFill>
                  <a:srgbClr val="080808"/>
                </a:solidFill>
                <a:latin typeface="楷体" panose="02010609060101010101" pitchFamily="49" charset="-122"/>
                <a:ea typeface="楷体" panose="02010609060101010101" pitchFamily="49" charset="-122"/>
              </a:rPr>
              <a:t>xn</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则</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取值只有</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，当</a:t>
            </a:r>
            <a:r>
              <a:rPr lang="en-US" altLang="zh-CN" sz="2400" dirty="0">
                <a:solidFill>
                  <a:srgbClr val="080808"/>
                </a:solidFill>
                <a:latin typeface="楷体" panose="02010609060101010101" pitchFamily="49" charset="-122"/>
                <a:ea typeface="楷体" panose="02010609060101010101" pitchFamily="49" charset="-122"/>
              </a:rPr>
              <a:t>xi=0</a:t>
            </a:r>
            <a:r>
              <a:rPr lang="zh-CN" altLang="en-US" sz="2400" dirty="0">
                <a:solidFill>
                  <a:srgbClr val="080808"/>
                </a:solidFill>
                <a:latin typeface="楷体" panose="02010609060101010101" pitchFamily="49" charset="-122"/>
                <a:ea typeface="楷体" panose="02010609060101010101" pitchFamily="49" charset="-122"/>
              </a:rPr>
              <a:t>时表示物体</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没被装入轮船</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，当</a:t>
            </a:r>
            <a:r>
              <a:rPr lang="en-US" altLang="zh-CN" sz="2400" dirty="0">
                <a:solidFill>
                  <a:srgbClr val="080808"/>
                </a:solidFill>
                <a:latin typeface="楷体" panose="02010609060101010101" pitchFamily="49" charset="-122"/>
                <a:ea typeface="楷体" panose="02010609060101010101" pitchFamily="49" charset="-122"/>
              </a:rPr>
              <a:t>xi=1</a:t>
            </a:r>
            <a:r>
              <a:rPr lang="zh-CN" altLang="en-US" sz="2400" dirty="0">
                <a:solidFill>
                  <a:srgbClr val="080808"/>
                </a:solidFill>
                <a:latin typeface="楷体" panose="02010609060101010101" pitchFamily="49" charset="-122"/>
                <a:ea typeface="楷体" panose="02010609060101010101" pitchFamily="49" charset="-122"/>
              </a:rPr>
              <a:t>时表示物体</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整个被装入轮船</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   </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）约束条件</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轮船</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的载重量是</a:t>
            </a:r>
            <a:r>
              <a:rPr lang="en-US" altLang="zh-CN" sz="2400" dirty="0">
                <a:solidFill>
                  <a:srgbClr val="080808"/>
                </a:solidFill>
                <a:latin typeface="楷体" panose="02010609060101010101" pitchFamily="49" charset="-122"/>
                <a:ea typeface="楷体" panose="02010609060101010101" pitchFamily="49" charset="-122"/>
              </a:rPr>
              <a:t>c1</a:t>
            </a:r>
            <a:r>
              <a:rPr lang="zh-CN" altLang="en-US" sz="2400" dirty="0">
                <a:solidFill>
                  <a:srgbClr val="080808"/>
                </a:solidFill>
                <a:latin typeface="楷体" panose="02010609060101010101" pitchFamily="49" charset="-122"/>
                <a:ea typeface="楷体" panose="02010609060101010101" pitchFamily="49" charset="-122"/>
              </a:rPr>
              <a:t>，因此装入轮船</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中的集装箱总重量不得超过</a:t>
            </a:r>
            <a:r>
              <a:rPr lang="en-US" altLang="zh-CN" sz="2400" dirty="0">
                <a:solidFill>
                  <a:srgbClr val="080808"/>
                </a:solidFill>
                <a:latin typeface="楷体" panose="02010609060101010101" pitchFamily="49" charset="-122"/>
                <a:ea typeface="楷体" panose="02010609060101010101" pitchFamily="49" charset="-122"/>
              </a:rPr>
              <a:t>c1</a:t>
            </a:r>
            <a:r>
              <a:rPr lang="zh-CN" altLang="en-US" sz="2400" dirty="0">
                <a:solidFill>
                  <a:srgbClr val="080808"/>
                </a:solidFill>
                <a:latin typeface="楷体" panose="02010609060101010101" pitchFamily="49" charset="-122"/>
                <a:ea typeface="楷体" panose="02010609060101010101" pitchFamily="49" charset="-122"/>
              </a:rPr>
              <a:t>，即：</a:t>
            </a:r>
            <a:r>
              <a:rPr lang="en-US" altLang="zh-CN" sz="2400" dirty="0">
                <a:solidFill>
                  <a:srgbClr val="080808"/>
                </a:solidFill>
                <a:latin typeface="楷体" panose="02010609060101010101" pitchFamily="49" charset="-122"/>
                <a:ea typeface="楷体" panose="02010609060101010101" pitchFamily="49" charset="-122"/>
              </a:rPr>
              <a:t>(w1x1+w2x2+...+</a:t>
            </a:r>
            <a:r>
              <a:rPr lang="en-US" altLang="zh-CN" sz="2400" dirty="0" err="1">
                <a:solidFill>
                  <a:srgbClr val="080808"/>
                </a:solidFill>
                <a:latin typeface="楷体" panose="02010609060101010101" pitchFamily="49" charset="-122"/>
                <a:ea typeface="楷体" panose="02010609060101010101" pitchFamily="49" charset="-122"/>
              </a:rPr>
              <a:t>wixi</a:t>
            </a:r>
            <a:r>
              <a:rPr lang="en-US" altLang="zh-CN" sz="2400" dirty="0">
                <a:solidFill>
                  <a:srgbClr val="080808"/>
                </a:solidFill>
                <a:latin typeface="楷体" panose="02010609060101010101" pitchFamily="49" charset="-122"/>
                <a:ea typeface="楷体" panose="02010609060101010101" pitchFamily="49" charset="-122"/>
              </a:rPr>
              <a:t>)&lt;= c1</a:t>
            </a:r>
            <a:r>
              <a:rPr lang="zh-CN" altLang="en-US" sz="2400" dirty="0">
                <a:solidFill>
                  <a:srgbClr val="080808"/>
                </a:solidFill>
                <a:latin typeface="楷体" panose="02010609060101010101" pitchFamily="49" charset="-122"/>
                <a:ea typeface="楷体" panose="02010609060101010101" pitchFamily="49" charset="-122"/>
              </a:rPr>
              <a:t>，可以用于解空间树的剪枝。</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）问题的求解目标</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装入轮船</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中的集装箱总重量最大，即</a:t>
            </a:r>
            <a:r>
              <a:rPr lang="en-US" altLang="zh-CN" sz="2400" dirty="0">
                <a:solidFill>
                  <a:srgbClr val="080808"/>
                </a:solidFill>
                <a:latin typeface="楷体" panose="02010609060101010101" pitchFamily="49" charset="-122"/>
                <a:ea typeface="楷体" panose="02010609060101010101" pitchFamily="49" charset="-122"/>
              </a:rPr>
              <a:t>max(w1x1+w2x2+...+</a:t>
            </a:r>
            <a:r>
              <a:rPr lang="en-US" altLang="zh-CN" sz="2400" dirty="0" err="1">
                <a:solidFill>
                  <a:srgbClr val="080808"/>
                </a:solidFill>
                <a:latin typeface="楷体" panose="02010609060101010101" pitchFamily="49" charset="-122"/>
                <a:ea typeface="楷体" panose="02010609060101010101" pitchFamily="49" charset="-122"/>
              </a:rPr>
              <a:t>wixi</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搜索该问题的解空间树，给出以下两个剪枝函数：</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）约束条件：当搜索到第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层的结点时，设</a:t>
            </a:r>
            <a:r>
              <a:rPr lang="en-US" altLang="zh-CN" sz="2400" dirty="0" err="1">
                <a:solidFill>
                  <a:srgbClr val="080808"/>
                </a:solidFill>
                <a:latin typeface="楷体" panose="02010609060101010101" pitchFamily="49" charset="-122"/>
                <a:ea typeface="楷体" panose="02010609060101010101" pitchFamily="49" charset="-122"/>
              </a:rPr>
              <a:t>cw</a:t>
            </a:r>
            <a:r>
              <a:rPr lang="zh-CN" altLang="en-US" sz="2400" dirty="0">
                <a:solidFill>
                  <a:srgbClr val="080808"/>
                </a:solidFill>
                <a:latin typeface="楷体" panose="02010609060101010101" pitchFamily="49" charset="-122"/>
                <a:ea typeface="楷体" panose="02010609060101010101" pitchFamily="49" charset="-122"/>
              </a:rPr>
              <a:t>为当前结点已有的轮船载重量，当满足</a:t>
            </a:r>
            <a:r>
              <a:rPr lang="en-US" altLang="zh-CN" sz="2400" dirty="0" err="1">
                <a:solidFill>
                  <a:srgbClr val="080808"/>
                </a:solidFill>
                <a:latin typeface="楷体" panose="02010609060101010101" pitchFamily="49" charset="-122"/>
                <a:ea typeface="楷体" panose="02010609060101010101" pitchFamily="49" charset="-122"/>
              </a:rPr>
              <a:t>cw+w</a:t>
            </a:r>
            <a:r>
              <a:rPr lang="en-US" altLang="zh-CN"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&lt;= c</a:t>
            </a:r>
            <a:r>
              <a:rPr lang="zh-CN" altLang="en-US" sz="2400" dirty="0">
                <a:solidFill>
                  <a:srgbClr val="080808"/>
                </a:solidFill>
                <a:latin typeface="楷体" panose="02010609060101010101" pitchFamily="49" charset="-122"/>
                <a:ea typeface="楷体" panose="02010609060101010101" pitchFamily="49" charset="-122"/>
              </a:rPr>
              <a:t>时继续搜索左子树</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否则将该结点的子树删去。</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）限界函数：当搜索到某个结点时，设 </a:t>
            </a:r>
            <a:r>
              <a:rPr lang="en-US" altLang="zh-CN" sz="2400" dirty="0" err="1">
                <a:solidFill>
                  <a:srgbClr val="080808"/>
                </a:solidFill>
                <a:latin typeface="楷体" panose="02010609060101010101" pitchFamily="49" charset="-122"/>
                <a:ea typeface="楷体" panose="02010609060101010101" pitchFamily="49" charset="-122"/>
              </a:rPr>
              <a:t>bw</a:t>
            </a:r>
            <a:r>
              <a:rPr lang="zh-CN" altLang="en-US" sz="2400" dirty="0">
                <a:solidFill>
                  <a:srgbClr val="080808"/>
                </a:solidFill>
                <a:latin typeface="楷体" panose="02010609060101010101" pitchFamily="49" charset="-122"/>
                <a:ea typeface="楷体" panose="02010609060101010101" pitchFamily="49" charset="-122"/>
              </a:rPr>
              <a:t>为当前最优载重量</a:t>
            </a:r>
            <a:r>
              <a:rPr lang="en-US" altLang="zh-CN" sz="2400" dirty="0">
                <a:solidFill>
                  <a:srgbClr val="080808"/>
                </a:solidFill>
                <a:latin typeface="楷体" panose="02010609060101010101" pitchFamily="49" charset="-122"/>
                <a:ea typeface="楷体" panose="02010609060101010101" pitchFamily="49" charset="-122"/>
              </a:rPr>
              <a:t>, rest</a:t>
            </a:r>
            <a:r>
              <a:rPr lang="zh-CN" altLang="en-US" sz="2400" dirty="0">
                <a:solidFill>
                  <a:srgbClr val="080808"/>
                </a:solidFill>
                <a:latin typeface="楷体" panose="02010609060101010101" pitchFamily="49" charset="-122"/>
                <a:ea typeface="楷体" panose="02010609060101010101" pitchFamily="49" charset="-122"/>
              </a:rPr>
              <a:t>为剩余集装箱的重量，当</a:t>
            </a:r>
            <a:r>
              <a:rPr lang="en-US" altLang="zh-CN" sz="2400" dirty="0" err="1">
                <a:solidFill>
                  <a:srgbClr val="080808"/>
                </a:solidFill>
                <a:latin typeface="楷体" panose="02010609060101010101" pitchFamily="49" charset="-122"/>
                <a:ea typeface="楷体" panose="02010609060101010101" pitchFamily="49" charset="-122"/>
              </a:rPr>
              <a:t>cw</a:t>
            </a:r>
            <a:r>
              <a:rPr lang="en-US" altLang="zh-CN" sz="2400" dirty="0">
                <a:solidFill>
                  <a:srgbClr val="080808"/>
                </a:solidFill>
                <a:latin typeface="楷体" panose="02010609060101010101" pitchFamily="49" charset="-122"/>
                <a:ea typeface="楷体" panose="02010609060101010101" pitchFamily="49" charset="-122"/>
              </a:rPr>
              <a:t> + rest&gt; </a:t>
            </a:r>
            <a:r>
              <a:rPr lang="en-US" altLang="zh-CN" sz="2400" dirty="0" err="1">
                <a:solidFill>
                  <a:srgbClr val="080808"/>
                </a:solidFill>
                <a:latin typeface="楷体" panose="02010609060101010101" pitchFamily="49" charset="-122"/>
                <a:ea typeface="楷体" panose="02010609060101010101" pitchFamily="49" charset="-122"/>
              </a:rPr>
              <a:t>bw</a:t>
            </a:r>
            <a:r>
              <a:rPr lang="zh-CN" altLang="en-US" sz="2400" dirty="0">
                <a:solidFill>
                  <a:srgbClr val="080808"/>
                </a:solidFill>
                <a:latin typeface="楷体" panose="02010609060101010101" pitchFamily="49" charset="-122"/>
                <a:ea typeface="楷体" panose="02010609060101010101" pitchFamily="49" charset="-122"/>
              </a:rPr>
              <a:t>时，继续搜索右子树</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否则将该结点的右子树剪去。</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36512" y="980728"/>
            <a:ext cx="8874126" cy="3046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a:solidFill>
                  <a:srgbClr val="080808"/>
                </a:solidFill>
                <a:latin typeface="楷体" panose="02010609060101010101" pitchFamily="49" charset="-122"/>
                <a:ea typeface="楷体" panose="02010609060101010101" pitchFamily="49" charset="-122"/>
              </a:rPr>
              <a:t>6.3】</a:t>
            </a:r>
            <a:r>
              <a:rPr lang="zh-CN" altLang="en-US" sz="2400" dirty="0">
                <a:solidFill>
                  <a:srgbClr val="080808"/>
                </a:solidFill>
                <a:latin typeface="楷体" panose="02010609060101010101" pitchFamily="49" charset="-122"/>
                <a:ea typeface="楷体" panose="02010609060101010101" pitchFamily="49" charset="-122"/>
              </a:rPr>
              <a:t>求解迷宫问题。</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问题描述：给定</a:t>
            </a:r>
            <a:r>
              <a:rPr lang="en-US" altLang="zh-CN" sz="2400" dirty="0">
                <a:solidFill>
                  <a:srgbClr val="080808"/>
                </a:solidFill>
                <a:latin typeface="楷体" panose="02010609060101010101" pitchFamily="49" charset="-122"/>
                <a:ea typeface="楷体" panose="02010609060101010101" pitchFamily="49" charset="-122"/>
              </a:rPr>
              <a:t>m</a:t>
            </a:r>
            <a:r>
              <a:rPr lang="zh-CN" altLang="en-US" sz="2400" dirty="0">
                <a:solidFill>
                  <a:srgbClr val="080808"/>
                </a:solidFill>
                <a:latin typeface="楷体" panose="02010609060101010101" pitchFamily="49" charset="-122"/>
                <a:ea typeface="楷体" panose="02010609060101010101" pitchFamily="49" charset="-122"/>
              </a:rPr>
              <a:t>行</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列的迷宫图，求从指定入口到出口的所有可行的路径。设现有一张迷宫图如下图</a:t>
            </a:r>
            <a:r>
              <a:rPr lang="en-US" altLang="zh-CN" sz="2400" dirty="0">
                <a:solidFill>
                  <a:srgbClr val="080808"/>
                </a:solidFill>
                <a:latin typeface="楷体" panose="02010609060101010101" pitchFamily="49" charset="-122"/>
                <a:ea typeface="楷体" panose="02010609060101010101" pitchFamily="49" charset="-122"/>
              </a:rPr>
              <a:t>6.6</a:t>
            </a:r>
            <a:r>
              <a:rPr lang="zh-CN" altLang="en-US" sz="2400" dirty="0">
                <a:solidFill>
                  <a:srgbClr val="080808"/>
                </a:solidFill>
                <a:latin typeface="楷体" panose="02010609060101010101" pitchFamily="49" charset="-122"/>
                <a:ea typeface="楷体" panose="02010609060101010101" pitchFamily="49" charset="-122"/>
              </a:rPr>
              <a:t>所示， </a:t>
            </a:r>
            <a:r>
              <a:rPr lang="en-US" altLang="zh-CN" sz="2400" dirty="0">
                <a:solidFill>
                  <a:srgbClr val="080808"/>
                </a:solidFill>
                <a:latin typeface="楷体" panose="02010609060101010101" pitchFamily="49" charset="-122"/>
                <a:ea typeface="楷体" panose="02010609060101010101" pitchFamily="49" charset="-122"/>
              </a:rPr>
              <a:t>m=7</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n=8</a:t>
            </a:r>
            <a:r>
              <a:rPr lang="zh-CN" altLang="en-US" sz="2400" dirty="0">
                <a:solidFill>
                  <a:srgbClr val="080808"/>
                </a:solidFill>
                <a:latin typeface="楷体" panose="02010609060101010101" pitchFamily="49" charset="-122"/>
                <a:ea typeface="楷体" panose="02010609060101010101" pitchFamily="49" charset="-122"/>
              </a:rPr>
              <a:t>，外围是一圈围墙，能够防止在查找时出界，整个迷宫由两种方块构成，白色方块代表可以走的通道，灰色方块代表不可以走的的障碍物。要求所求出的路径必须是简单路径，即当中不能重复出现同一空白方块，规定从每个方块出发只能走四个位置：向上、向下、向左和向右这四个相邻的空白方块。</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5" name="图片 4"/>
          <p:cNvPicPr/>
          <p:nvPr/>
        </p:nvPicPr>
        <p:blipFill>
          <a:blip r:embed="rId6">
            <a:extLst>
              <a:ext uri="{28A0092B-C50C-407E-A947-70E740481C1C}">
                <a14:useLocalDpi xmlns:a14="http://schemas.microsoft.com/office/drawing/2010/main" val="0"/>
              </a:ext>
            </a:extLst>
          </a:blip>
          <a:stretch>
            <a:fillRect/>
          </a:stretch>
        </p:blipFill>
        <p:spPr>
          <a:xfrm>
            <a:off x="3203848" y="3933056"/>
            <a:ext cx="2865482" cy="2634072"/>
          </a:xfrm>
          <a:prstGeom prst="rect">
            <a:avLst/>
          </a:prstGeom>
        </p:spPr>
      </p:pic>
    </p:spTree>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0801" y="976660"/>
            <a:ext cx="8874126" cy="23083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、解题思路。在迷宫中的每一个方块，都有上下左右相邻的四个方块，如下图</a:t>
            </a:r>
            <a:r>
              <a:rPr lang="en-US" altLang="zh-CN" sz="2400" dirty="0">
                <a:solidFill>
                  <a:srgbClr val="080808"/>
                </a:solidFill>
                <a:latin typeface="楷体" panose="02010609060101010101" pitchFamily="49" charset="-122"/>
                <a:ea typeface="楷体" panose="02010609060101010101" pitchFamily="49" charset="-122"/>
              </a:rPr>
              <a:t>6.7</a:t>
            </a:r>
            <a:r>
              <a:rPr lang="zh-CN" altLang="en-US" sz="2400" dirty="0">
                <a:solidFill>
                  <a:srgbClr val="080808"/>
                </a:solidFill>
                <a:latin typeface="楷体" panose="02010609060101010101" pitchFamily="49" charset="-122"/>
                <a:ea typeface="楷体" panose="02010609060101010101" pitchFamily="49" charset="-122"/>
              </a:rPr>
              <a:t>所示，设第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行第</a:t>
            </a:r>
            <a:r>
              <a:rPr lang="en-US" altLang="zh-CN" sz="2400" dirty="0">
                <a:solidFill>
                  <a:srgbClr val="080808"/>
                </a:solidFill>
                <a:latin typeface="楷体" panose="02010609060101010101" pitchFamily="49" charset="-122"/>
                <a:ea typeface="楷体" panose="02010609060101010101" pitchFamily="49" charset="-122"/>
              </a:rPr>
              <a:t>j</a:t>
            </a:r>
            <a:r>
              <a:rPr lang="zh-CN" altLang="en-US" sz="2400" dirty="0">
                <a:solidFill>
                  <a:srgbClr val="080808"/>
                </a:solidFill>
                <a:latin typeface="楷体" panose="02010609060101010101" pitchFamily="49" charset="-122"/>
                <a:ea typeface="楷体" panose="02010609060101010101" pitchFamily="49" charset="-122"/>
              </a:rPr>
              <a:t>列的方块的位置记为</a:t>
            </a:r>
            <a:r>
              <a:rPr lang="en-US" altLang="zh-CN"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i,j</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，为了搜索有序，现规定上方方块的方位是</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，并按顺时针方向递增进行编号，左方方块的方位是</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，下方方块的方位是</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，右方方块的方位是</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，在搜索过程中，将从方位</a:t>
            </a:r>
            <a:r>
              <a:rPr lang="en-US" altLang="zh-CN" sz="2400" dirty="0">
                <a:solidFill>
                  <a:srgbClr val="080808"/>
                </a:solidFill>
                <a:latin typeface="楷体" panose="02010609060101010101" pitchFamily="49" charset="-122"/>
                <a:ea typeface="楷体" panose="02010609060101010101" pitchFamily="49" charset="-122"/>
              </a:rPr>
              <a:t>0</a:t>
            </a:r>
            <a:r>
              <a:rPr lang="zh-CN" altLang="en-US" sz="2400" dirty="0">
                <a:solidFill>
                  <a:srgbClr val="080808"/>
                </a:solidFill>
                <a:latin typeface="楷体" panose="02010609060101010101" pitchFamily="49" charset="-122"/>
                <a:ea typeface="楷体" panose="02010609060101010101" pitchFamily="49" charset="-122"/>
              </a:rPr>
              <a:t>到方位</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的方向查找下一个可走的方块。</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5" name="图片 4"/>
          <p:cNvPicPr/>
          <p:nvPr/>
        </p:nvPicPr>
        <p:blipFill>
          <a:blip r:embed="rId6">
            <a:extLst>
              <a:ext uri="{28A0092B-C50C-407E-A947-70E740481C1C}">
                <a14:useLocalDpi xmlns:a14="http://schemas.microsoft.com/office/drawing/2010/main" val="0"/>
              </a:ext>
            </a:extLst>
          </a:blip>
          <a:stretch>
            <a:fillRect/>
          </a:stretch>
        </p:blipFill>
        <p:spPr>
          <a:xfrm>
            <a:off x="3131840" y="3140968"/>
            <a:ext cx="3384376" cy="2934816"/>
          </a:xfrm>
          <a:prstGeom prst="rect">
            <a:avLst/>
          </a:prstGeom>
        </p:spPr>
      </p:pic>
      <p:sp>
        <p:nvSpPr>
          <p:cNvPr id="2" name="矩形 1"/>
          <p:cNvSpPr/>
          <p:nvPr/>
        </p:nvSpPr>
        <p:spPr>
          <a:xfrm>
            <a:off x="0" y="6087821"/>
            <a:ext cx="9217024" cy="553998"/>
          </a:xfrm>
          <a:prstGeom prst="rect">
            <a:avLst/>
          </a:prstGeom>
        </p:spPr>
        <p:txBody>
          <a:bodyPr wrap="square">
            <a:spAutoFit/>
          </a:bodyPr>
          <a:lstStyle/>
          <a:p>
            <a:pPr algn="just">
              <a:lnSpc>
                <a:spcPts val="1800"/>
              </a:lnSpc>
              <a:spcAft>
                <a:spcPts val="0"/>
              </a:spcAft>
            </a:pPr>
            <a:r>
              <a:rPr lang="zh-CN" altLang="zh-CN" kern="100" dirty="0">
                <a:latin typeface="Times New Roman" panose="02020603050405020304" pitchFamily="18" charset="0"/>
                <a:cs typeface="Times New Roman" panose="02020603050405020304" pitchFamily="18" charset="0"/>
              </a:rPr>
              <a:t>设当从起点</a:t>
            </a:r>
            <a:r>
              <a:rPr lang="en-US" altLang="zh-CN" kern="100" dirty="0">
                <a:latin typeface="Times New Roman" panose="02020603050405020304" pitchFamily="18" charset="0"/>
                <a:cs typeface="Times New Roman" panose="02020603050405020304" pitchFamily="18" charset="0"/>
              </a:rPr>
              <a:t>(</a:t>
            </a:r>
            <a:r>
              <a:rPr lang="en-US" altLang="zh-CN" kern="100" dirty="0" err="1">
                <a:latin typeface="Times New Roman" panose="02020603050405020304" pitchFamily="18" charset="0"/>
                <a:cs typeface="Times New Roman" panose="02020603050405020304" pitchFamily="18" charset="0"/>
              </a:rPr>
              <a:t>xs</a:t>
            </a:r>
            <a:r>
              <a:rPr lang="en-US" altLang="zh-CN" kern="100" dirty="0">
                <a:latin typeface="Times New Roman" panose="02020603050405020304" pitchFamily="18" charset="0"/>
                <a:cs typeface="Times New Roman" panose="02020603050405020304" pitchFamily="18" charset="0"/>
              </a:rPr>
              <a:t>, </a:t>
            </a:r>
            <a:r>
              <a:rPr lang="en-US" altLang="zh-CN" kern="100" dirty="0" err="1">
                <a:latin typeface="Times New Roman" panose="02020603050405020304" pitchFamily="18" charset="0"/>
                <a:cs typeface="Times New Roman" panose="02020603050405020304" pitchFamily="18" charset="0"/>
              </a:rPr>
              <a:t>ys</a:t>
            </a:r>
            <a:r>
              <a:rPr lang="en-US" altLang="zh-CN" kern="100" dirty="0">
                <a:latin typeface="Times New Roman" panose="02020603050405020304" pitchFamily="18" charset="0"/>
                <a:cs typeface="Times New Roman" panose="02020603050405020304" pitchFamily="18" charset="0"/>
              </a:rPr>
              <a:t>)</a:t>
            </a:r>
            <a:r>
              <a:rPr lang="zh-CN" altLang="zh-CN" kern="100" dirty="0">
                <a:latin typeface="Times New Roman" panose="02020603050405020304" pitchFamily="18" charset="0"/>
                <a:cs typeface="Times New Roman" panose="02020603050405020304" pitchFamily="18" charset="0"/>
              </a:rPr>
              <a:t>方块找到一个可走相邻方块</a:t>
            </a:r>
            <a:r>
              <a:rPr lang="en-US" altLang="zh-CN" kern="100" dirty="0">
                <a:latin typeface="Times New Roman" panose="02020603050405020304" pitchFamily="18" charset="0"/>
                <a:cs typeface="Times New Roman" panose="02020603050405020304" pitchFamily="18" charset="0"/>
              </a:rPr>
              <a:t>(</a:t>
            </a:r>
            <a:r>
              <a:rPr lang="en-US" altLang="zh-CN" kern="100" dirty="0" err="1">
                <a:latin typeface="Times New Roman" panose="02020603050405020304" pitchFamily="18" charset="0"/>
                <a:cs typeface="Times New Roman" panose="02020603050405020304" pitchFamily="18" charset="0"/>
              </a:rPr>
              <a:t>xs</a:t>
            </a:r>
            <a:r>
              <a:rPr lang="en-US" altLang="zh-CN" kern="100" dirty="0">
                <a:latin typeface="Times New Roman" panose="02020603050405020304" pitchFamily="18" charset="0"/>
                <a:cs typeface="Times New Roman" panose="02020603050405020304" pitchFamily="18" charset="0"/>
              </a:rPr>
              <a:t>, ys+1)</a:t>
            </a:r>
            <a:r>
              <a:rPr lang="zh-CN" altLang="zh-CN" kern="100" dirty="0">
                <a:latin typeface="Times New Roman" panose="02020603050405020304" pitchFamily="18" charset="0"/>
                <a:cs typeface="Times New Roman" panose="02020603050405020304" pitchFamily="18" charset="0"/>
              </a:rPr>
              <a:t>后，接下来的要求解的问题就是从方块</a:t>
            </a:r>
            <a:r>
              <a:rPr lang="en-US" altLang="zh-CN" kern="100" dirty="0">
                <a:latin typeface="Times New Roman" panose="02020603050405020304" pitchFamily="18" charset="0"/>
                <a:cs typeface="Times New Roman" panose="02020603050405020304" pitchFamily="18" charset="0"/>
              </a:rPr>
              <a:t>(</a:t>
            </a:r>
            <a:r>
              <a:rPr lang="en-US" altLang="zh-CN" kern="100" dirty="0" err="1">
                <a:latin typeface="Times New Roman" panose="02020603050405020304" pitchFamily="18" charset="0"/>
                <a:cs typeface="Times New Roman" panose="02020603050405020304" pitchFamily="18" charset="0"/>
              </a:rPr>
              <a:t>xs</a:t>
            </a:r>
            <a:r>
              <a:rPr lang="en-US" altLang="zh-CN" kern="100" dirty="0">
                <a:latin typeface="Times New Roman" panose="02020603050405020304" pitchFamily="18" charset="0"/>
                <a:cs typeface="Times New Roman" panose="02020603050405020304" pitchFamily="18" charset="0"/>
              </a:rPr>
              <a:t>, ys+1)</a:t>
            </a:r>
            <a:r>
              <a:rPr lang="zh-CN" altLang="zh-CN" kern="100" dirty="0">
                <a:latin typeface="Times New Roman" panose="02020603050405020304" pitchFamily="18" charset="0"/>
                <a:cs typeface="Times New Roman" panose="02020603050405020304" pitchFamily="18" charset="0"/>
              </a:rPr>
              <a:t>到出口</a:t>
            </a:r>
            <a:r>
              <a:rPr lang="en-US" altLang="zh-CN" kern="100" dirty="0">
                <a:latin typeface="Times New Roman" panose="02020603050405020304" pitchFamily="18" charset="0"/>
                <a:cs typeface="Times New Roman" panose="02020603050405020304" pitchFamily="18" charset="0"/>
              </a:rPr>
              <a:t>(</a:t>
            </a:r>
            <a:r>
              <a:rPr lang="en-US" altLang="zh-CN" kern="100" dirty="0" err="1">
                <a:latin typeface="Times New Roman" panose="02020603050405020304" pitchFamily="18" charset="0"/>
                <a:cs typeface="Times New Roman" panose="02020603050405020304" pitchFamily="18" charset="0"/>
              </a:rPr>
              <a:t>xe,ye</a:t>
            </a:r>
            <a:r>
              <a:rPr lang="en-US" altLang="zh-CN" kern="100" dirty="0">
                <a:latin typeface="Times New Roman" panose="02020603050405020304" pitchFamily="18" charset="0"/>
                <a:cs typeface="Times New Roman" panose="02020603050405020304" pitchFamily="18" charset="0"/>
              </a:rPr>
              <a:t>)</a:t>
            </a:r>
            <a:r>
              <a:rPr lang="zh-CN" altLang="zh-CN" kern="100" dirty="0">
                <a:latin typeface="Times New Roman" panose="02020603050405020304" pitchFamily="18" charset="0"/>
                <a:cs typeface="Times New Roman" panose="02020603050405020304" pitchFamily="18" charset="0"/>
              </a:rPr>
              <a:t>的路径，显然这个问题是原问题的子问题，可以使用递归技术</a:t>
            </a:r>
            <a:endParaRPr lang="zh-CN" altLang="zh-CN" kern="100" dirty="0">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0" y="1268760"/>
            <a:ext cx="8874126"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smtClean="0">
                <a:solidFill>
                  <a:srgbClr val="080808"/>
                </a:solidFill>
                <a:latin typeface="楷体" panose="02010609060101010101" pitchFamily="49" charset="-122"/>
                <a:ea typeface="楷体" panose="02010609060101010101" pitchFamily="49" charset="-122"/>
              </a:rPr>
              <a:t>6.5】n</a:t>
            </a:r>
            <a:r>
              <a:rPr lang="zh-CN" altLang="en-US" sz="2400" dirty="0">
                <a:solidFill>
                  <a:srgbClr val="080808"/>
                </a:solidFill>
                <a:latin typeface="楷体" panose="02010609060101010101" pitchFamily="49" charset="-122"/>
                <a:ea typeface="楷体" panose="02010609060101010101" pitchFamily="49" charset="-122"/>
              </a:rPr>
              <a:t>皇后问题。</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问题描述：八皇后问题是一个古老的问题，说的是在</a:t>
            </a:r>
            <a:r>
              <a:rPr lang="en-US" altLang="zh-CN" sz="2400" dirty="0">
                <a:solidFill>
                  <a:srgbClr val="080808"/>
                </a:solidFill>
                <a:latin typeface="楷体" panose="02010609060101010101" pitchFamily="49" charset="-122"/>
                <a:ea typeface="楷体" panose="02010609060101010101" pitchFamily="49" charset="-122"/>
              </a:rPr>
              <a:t>8×8</a:t>
            </a:r>
            <a:r>
              <a:rPr lang="zh-CN" altLang="en-US" sz="2400" dirty="0">
                <a:solidFill>
                  <a:srgbClr val="080808"/>
                </a:solidFill>
                <a:latin typeface="楷体" panose="02010609060101010101" pitchFamily="49" charset="-122"/>
                <a:ea typeface="楷体" panose="02010609060101010101" pitchFamily="49" charset="-122"/>
              </a:rPr>
              <a:t>的国际象棋棋盘上摆放八个皇后，使其不能互相攻击，即其中任意两个皇后都不能处于同一行、同一列或同一斜线上。如下图所示：</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6" name="图片 5"/>
          <p:cNvPicPr/>
          <p:nvPr/>
        </p:nvPicPr>
        <p:blipFill>
          <a:blip r:embed="rId6">
            <a:extLst>
              <a:ext uri="{28A0092B-C50C-407E-A947-70E740481C1C}">
                <a14:useLocalDpi xmlns:a14="http://schemas.microsoft.com/office/drawing/2010/main" val="0"/>
              </a:ext>
            </a:extLst>
          </a:blip>
          <a:stretch>
            <a:fillRect/>
          </a:stretch>
        </p:blipFill>
        <p:spPr>
          <a:xfrm>
            <a:off x="2915816" y="2996952"/>
            <a:ext cx="3650704" cy="3627887"/>
          </a:xfrm>
          <a:prstGeom prst="rect">
            <a:avLst/>
          </a:prstGeom>
        </p:spPr>
      </p:pic>
    </p:spTree>
  </p:cSld>
  <p:clrMapOvr>
    <a:masterClrMapping/>
  </p:clrMapOvr>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7" y="1484784"/>
            <a:ext cx="8874126" cy="45243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八皇后问题可以扩展到 </a:t>
            </a:r>
            <a:r>
              <a:rPr lang="en-US" altLang="zh-CN" sz="2400" dirty="0">
                <a:solidFill>
                  <a:srgbClr val="080808"/>
                </a:solidFill>
                <a:latin typeface="楷体" panose="02010609060101010101" pitchFamily="49" charset="-122"/>
                <a:ea typeface="楷体" panose="02010609060101010101" pitchFamily="49" charset="-122"/>
              </a:rPr>
              <a:t>n </a:t>
            </a:r>
            <a:r>
              <a:rPr lang="zh-CN" altLang="en-US" sz="2400" dirty="0">
                <a:solidFill>
                  <a:srgbClr val="080808"/>
                </a:solidFill>
                <a:latin typeface="楷体" panose="02010609060101010101" pitchFamily="49" charset="-122"/>
                <a:ea typeface="楷体" panose="02010609060101010101" pitchFamily="49" charset="-122"/>
              </a:rPr>
              <a:t>皇后问题，即在</a:t>
            </a:r>
            <a:r>
              <a:rPr lang="en-US" altLang="zh-CN" sz="2400" dirty="0" err="1">
                <a:solidFill>
                  <a:srgbClr val="080808"/>
                </a:solidFill>
                <a:latin typeface="楷体" panose="02010609060101010101" pitchFamily="49" charset="-122"/>
                <a:ea typeface="楷体" panose="02010609060101010101" pitchFamily="49" charset="-122"/>
              </a:rPr>
              <a:t>n×n</a:t>
            </a:r>
            <a:r>
              <a:rPr lang="zh-CN" altLang="en-US" sz="2400" dirty="0">
                <a:solidFill>
                  <a:srgbClr val="080808"/>
                </a:solidFill>
                <a:latin typeface="楷体" panose="02010609060101010101" pitchFamily="49" charset="-122"/>
                <a:ea typeface="楷体" panose="02010609060101010101" pitchFamily="49" charset="-122"/>
              </a:rPr>
              <a:t>的国际象棋棋盘上摆放 </a:t>
            </a:r>
            <a:r>
              <a:rPr lang="en-US" altLang="zh-CN" sz="2400" dirty="0">
                <a:solidFill>
                  <a:srgbClr val="080808"/>
                </a:solidFill>
                <a:latin typeface="楷体" panose="02010609060101010101" pitchFamily="49" charset="-122"/>
                <a:ea typeface="楷体" panose="02010609060101010101" pitchFamily="49" charset="-122"/>
              </a:rPr>
              <a:t>n </a:t>
            </a:r>
            <a:r>
              <a:rPr lang="zh-CN" altLang="en-US" sz="2400" dirty="0">
                <a:solidFill>
                  <a:srgbClr val="080808"/>
                </a:solidFill>
                <a:latin typeface="楷体" panose="02010609060101010101" pitchFamily="49" charset="-122"/>
                <a:ea typeface="楷体" panose="02010609060101010101" pitchFamily="49" charset="-122"/>
              </a:rPr>
              <a:t>个皇后，使其中任意两个皇后都不能处于同一行、同一列或同一斜线上。</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、解题思路。首先，在棋盘的每一行上都能够且必须摆放一个皇后，此时可以用一个向量 </a:t>
            </a:r>
            <a:r>
              <a:rPr lang="en-US" altLang="zh-CN" sz="2400" dirty="0">
                <a:solidFill>
                  <a:srgbClr val="080808"/>
                </a:solidFill>
                <a:latin typeface="楷体" panose="02010609060101010101" pitchFamily="49" charset="-122"/>
                <a:ea typeface="楷体" panose="02010609060101010101" pitchFamily="49" charset="-122"/>
              </a:rPr>
              <a:t>X=(x1, x2, …, </a:t>
            </a:r>
            <a:r>
              <a:rPr lang="en-US" altLang="zh-CN" sz="2400" dirty="0" err="1">
                <a:solidFill>
                  <a:srgbClr val="080808"/>
                </a:solidFill>
                <a:latin typeface="楷体" panose="02010609060101010101" pitchFamily="49" charset="-122"/>
                <a:ea typeface="楷体" panose="02010609060101010101" pitchFamily="49" charset="-122"/>
              </a:rPr>
              <a:t>xn</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来表示</a:t>
            </a:r>
            <a:r>
              <a:rPr lang="en-US" altLang="zh-CN" sz="2400" dirty="0">
                <a:solidFill>
                  <a:srgbClr val="080808"/>
                </a:solidFill>
                <a:latin typeface="楷体" panose="02010609060101010101" pitchFamily="49" charset="-122"/>
                <a:ea typeface="楷体" panose="02010609060101010101" pitchFamily="49" charset="-122"/>
              </a:rPr>
              <a:t>n </a:t>
            </a:r>
            <a:r>
              <a:rPr lang="zh-CN" altLang="en-US" sz="2400" dirty="0">
                <a:solidFill>
                  <a:srgbClr val="080808"/>
                </a:solidFill>
                <a:latin typeface="楷体" panose="02010609060101010101" pitchFamily="49" charset="-122"/>
                <a:ea typeface="楷体" panose="02010609060101010101" pitchFamily="49" charset="-122"/>
              </a:rPr>
              <a:t>皇后问题的可能解，其中</a:t>
            </a:r>
            <a:r>
              <a:rPr lang="en-US" altLang="zh-CN" sz="2400" dirty="0">
                <a:solidFill>
                  <a:srgbClr val="080808"/>
                </a:solidFill>
                <a:latin typeface="楷体" panose="02010609060101010101" pitchFamily="49" charset="-122"/>
                <a:ea typeface="楷体" panose="02010609060101010101" pitchFamily="49" charset="-122"/>
              </a:rPr>
              <a:t>1≤i≤n </a:t>
            </a:r>
            <a:r>
              <a:rPr lang="zh-CN" altLang="en-US" sz="2400" dirty="0">
                <a:solidFill>
                  <a:srgbClr val="080808"/>
                </a:solidFill>
                <a:latin typeface="楷体" panose="02010609060101010101" pitchFamily="49" charset="-122"/>
                <a:ea typeface="楷体" panose="02010609060101010101" pitchFamily="49" charset="-122"/>
              </a:rPr>
              <a:t>并且 </a:t>
            </a:r>
            <a:r>
              <a:rPr lang="en-US" altLang="zh-CN" sz="2400" dirty="0">
                <a:solidFill>
                  <a:srgbClr val="080808"/>
                </a:solidFill>
                <a:latin typeface="楷体" panose="02010609060101010101" pitchFamily="49" charset="-122"/>
                <a:ea typeface="楷体" panose="02010609060101010101" pitchFamily="49" charset="-122"/>
              </a:rPr>
              <a:t>1≤xi≤n</a:t>
            </a:r>
            <a:r>
              <a:rPr lang="zh-CN" altLang="en-US" sz="2400" dirty="0">
                <a:solidFill>
                  <a:srgbClr val="080808"/>
                </a:solidFill>
                <a:latin typeface="楷体" panose="02010609060101010101" pitchFamily="49" charset="-122"/>
                <a:ea typeface="楷体" panose="02010609060101010101" pitchFamily="49" charset="-122"/>
              </a:rPr>
              <a:t>，即第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个皇后放在第</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行第</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列上。</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根据题目要求，两个皇后是不能放在同一列上的，因此约束条件是：</a:t>
            </a:r>
            <a:r>
              <a:rPr lang="en-US" altLang="zh-CN" sz="2400" dirty="0" err="1">
                <a:solidFill>
                  <a:srgbClr val="080808"/>
                </a:solidFill>
                <a:latin typeface="楷体" panose="02010609060101010101" pitchFamily="49" charset="-122"/>
                <a:ea typeface="楷体" panose="02010609060101010101" pitchFamily="49" charset="-122"/>
              </a:rPr>
              <a:t>xi≠xj</a:t>
            </a:r>
            <a:r>
              <a:rPr lang="zh-CN" altLang="en-US" sz="2400" dirty="0">
                <a:solidFill>
                  <a:srgbClr val="080808"/>
                </a:solidFill>
                <a:latin typeface="楷体" panose="02010609060101010101" pitchFamily="49" charset="-122"/>
                <a:ea typeface="楷体" panose="02010609060101010101" pitchFamily="49" charset="-122"/>
              </a:rPr>
              <a:t>，还有就是两个皇后是不能放在同一斜线上的，设两个皇后摆放的位置分别是 </a:t>
            </a:r>
            <a:r>
              <a:rPr lang="en-US" altLang="zh-CN"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xi)</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(j, </a:t>
            </a:r>
            <a:r>
              <a:rPr lang="en-US" altLang="zh-CN" sz="2400" dirty="0" err="1">
                <a:solidFill>
                  <a:srgbClr val="080808"/>
                </a:solidFill>
                <a:latin typeface="楷体" panose="02010609060101010101" pitchFamily="49" charset="-122"/>
                <a:ea typeface="楷体" panose="02010609060101010101" pitchFamily="49" charset="-122"/>
              </a:rPr>
              <a:t>xj</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，在棋盘上斜率为</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的斜线上，满足条件</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-j=</a:t>
            </a:r>
            <a:r>
              <a:rPr lang="en-US" altLang="zh-CN" sz="2400" dirty="0" err="1">
                <a:solidFill>
                  <a:srgbClr val="080808"/>
                </a:solidFill>
                <a:latin typeface="楷体" panose="02010609060101010101" pitchFamily="49" charset="-122"/>
                <a:ea typeface="楷体" panose="02010609060101010101" pitchFamily="49" charset="-122"/>
              </a:rPr>
              <a:t>xj</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，在棋盘上斜率为</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的斜线上，满足条件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-j= xi-</a:t>
            </a:r>
            <a:r>
              <a:rPr lang="en-US" altLang="zh-CN" sz="2400" dirty="0" err="1">
                <a:solidFill>
                  <a:srgbClr val="080808"/>
                </a:solidFill>
                <a:latin typeface="楷体" panose="02010609060101010101" pitchFamily="49" charset="-122"/>
                <a:ea typeface="楷体" panose="02010609060101010101" pitchFamily="49" charset="-122"/>
              </a:rPr>
              <a:t>xj</a:t>
            </a:r>
            <a:r>
              <a:rPr lang="zh-CN" altLang="en-US" sz="2400" dirty="0">
                <a:solidFill>
                  <a:srgbClr val="080808"/>
                </a:solidFill>
                <a:latin typeface="楷体" panose="02010609060101010101" pitchFamily="49" charset="-122"/>
                <a:ea typeface="楷体" panose="02010609060101010101" pitchFamily="49" charset="-122"/>
              </a:rPr>
              <a:t>，因此约束条件是：</a:t>
            </a:r>
            <a:r>
              <a:rPr lang="en-US" altLang="zh-CN"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j|≠|xi</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xj</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7" y="1484784"/>
            <a:ext cx="8874126" cy="48936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下面以四皇后问题为例，分析</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皇后问题的求解过程：</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四皇后问题的解空间：向量</a:t>
            </a:r>
            <a:r>
              <a:rPr lang="en-US" altLang="zh-CN" sz="2400" dirty="0">
                <a:solidFill>
                  <a:srgbClr val="080808"/>
                </a:solidFill>
                <a:latin typeface="楷体" panose="02010609060101010101" pitchFamily="49" charset="-122"/>
                <a:ea typeface="楷体" panose="02010609060101010101" pitchFamily="49" charset="-122"/>
              </a:rPr>
              <a:t>X=(x1, x2, x3, x4)</a:t>
            </a:r>
            <a:r>
              <a:rPr lang="zh-CN" altLang="en-US" sz="2400" dirty="0">
                <a:solidFill>
                  <a:srgbClr val="080808"/>
                </a:solidFill>
                <a:latin typeface="楷体" panose="02010609060101010101" pitchFamily="49" charset="-122"/>
                <a:ea typeface="楷体" panose="02010609060101010101" pitchFamily="49" charset="-122"/>
              </a:rPr>
              <a:t>表示四皇后的布局，其中</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表示第</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行皇后的列位置，</a:t>
            </a:r>
            <a:r>
              <a:rPr lang="en-US" altLang="zh-CN" sz="2400" dirty="0">
                <a:solidFill>
                  <a:srgbClr val="080808"/>
                </a:solidFill>
                <a:latin typeface="楷体" panose="02010609060101010101" pitchFamily="49" charset="-122"/>
                <a:ea typeface="楷体" panose="02010609060101010101" pitchFamily="49" charset="-122"/>
              </a:rPr>
              <a:t>xi</a:t>
            </a:r>
            <a:r>
              <a:rPr lang="zh-CN" altLang="en-US" sz="2400" dirty="0">
                <a:solidFill>
                  <a:srgbClr val="080808"/>
                </a:solidFill>
                <a:latin typeface="楷体" panose="02010609060101010101" pitchFamily="49" charset="-122"/>
                <a:ea typeface="楷体" panose="02010609060101010101" pitchFamily="49" charset="-122"/>
              </a:rPr>
              <a:t>的取值范围</a:t>
            </a:r>
            <a:r>
              <a:rPr lang="en-US" altLang="zh-CN" sz="2400" dirty="0">
                <a:solidFill>
                  <a:srgbClr val="080808"/>
                </a:solidFill>
                <a:latin typeface="楷体" panose="02010609060101010101" pitchFamily="49" charset="-122"/>
                <a:ea typeface="楷体" panose="02010609060101010101" pitchFamily="49" charset="-122"/>
              </a:rPr>
              <a:t>Si={1,2,3,4}</a:t>
            </a:r>
            <a:r>
              <a:rPr lang="zh-CN" altLang="en-US" sz="2400" dirty="0">
                <a:solidFill>
                  <a:srgbClr val="080808"/>
                </a:solidFill>
                <a:latin typeface="楷体" panose="02010609060101010101" pitchFamily="49" charset="-122"/>
                <a:ea typeface="楷体" panose="02010609060101010101" pitchFamily="49" charset="-122"/>
              </a:rPr>
              <a:t>，有</a:t>
            </a:r>
            <a:r>
              <a:rPr lang="en-US" altLang="zh-CN" sz="2400" dirty="0">
                <a:solidFill>
                  <a:srgbClr val="080808"/>
                </a:solidFill>
                <a:latin typeface="楷体" panose="02010609060101010101" pitchFamily="49" charset="-122"/>
                <a:ea typeface="楷体" panose="02010609060101010101" pitchFamily="49" charset="-122"/>
              </a:rPr>
              <a:t>44</a:t>
            </a:r>
            <a:r>
              <a:rPr lang="zh-CN" altLang="en-US" sz="2400" dirty="0">
                <a:solidFill>
                  <a:srgbClr val="080808"/>
                </a:solidFill>
                <a:latin typeface="楷体" panose="02010609060101010101" pitchFamily="49" charset="-122"/>
                <a:ea typeface="楷体" panose="02010609060101010101" pitchFamily="49" charset="-122"/>
              </a:rPr>
              <a:t>个可能的解，其解空间树是一个完全</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叉树。约束条件是：</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xi≠xj</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对列的约束；           </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j|≠|xi</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err="1">
                <a:solidFill>
                  <a:srgbClr val="080808"/>
                </a:solidFill>
                <a:latin typeface="楷体" panose="02010609060101010101" pitchFamily="49" charset="-122"/>
                <a:ea typeface="楷体" panose="02010609060101010101" pitchFamily="49" charset="-122"/>
              </a:rPr>
              <a:t>xj</a:t>
            </a:r>
            <a:r>
              <a:rPr lang="en-US" altLang="zh-CN" sz="2400" dirty="0">
                <a:solidFill>
                  <a:srgbClr val="080808"/>
                </a:solidFill>
                <a:latin typeface="楷体" panose="02010609060101010101" pitchFamily="49" charset="-122"/>
                <a:ea typeface="楷体" panose="02010609060101010101" pitchFamily="49" charset="-122"/>
              </a:rPr>
              <a:t>|         </a:t>
            </a:r>
            <a:r>
              <a:rPr lang="zh-CN" altLang="en-US" sz="2400" dirty="0">
                <a:solidFill>
                  <a:srgbClr val="080808"/>
                </a:solidFill>
                <a:latin typeface="楷体" panose="02010609060101010101" pitchFamily="49" charset="-122"/>
                <a:ea typeface="楷体" panose="02010609060101010101" pitchFamily="49" charset="-122"/>
              </a:rPr>
              <a:t>对斜线的约束；</a:t>
            </a:r>
            <a:endParaRPr lang="zh-CN" altLang="en-US" sz="2400" dirty="0">
              <a:solidFill>
                <a:srgbClr val="080808"/>
              </a:solidFill>
              <a:latin typeface="楷体" panose="02010609060101010101" pitchFamily="49" charset="-122"/>
              <a:ea typeface="楷体" panose="02010609060101010101" pitchFamily="49" charset="-122"/>
            </a:endParaRPr>
          </a:p>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四皇后问题的解空间树如下图</a:t>
            </a:r>
            <a:r>
              <a:rPr lang="en-US" altLang="zh-CN" sz="2400" dirty="0">
                <a:solidFill>
                  <a:srgbClr val="080808"/>
                </a:solidFill>
                <a:latin typeface="楷体" panose="02010609060101010101" pitchFamily="49" charset="-122"/>
                <a:ea typeface="楷体" panose="02010609060101010101" pitchFamily="49" charset="-122"/>
              </a:rPr>
              <a:t>6.10</a:t>
            </a:r>
            <a:r>
              <a:rPr lang="zh-CN" altLang="en-US" sz="2400" dirty="0">
                <a:solidFill>
                  <a:srgbClr val="080808"/>
                </a:solidFill>
                <a:latin typeface="楷体" panose="02010609060101010101" pitchFamily="49" charset="-122"/>
                <a:ea typeface="楷体" panose="02010609060101010101" pitchFamily="49" charset="-122"/>
              </a:rPr>
              <a:t>所示：从树的根结点开始搜索，从第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层结点对应皇后</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在棋盘中第</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行的可能摆放位置，从第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层结点到第</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层结点对应皇后</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在棋盘中第</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行的可能摆放位置，从第</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层结点对应皇后</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在棋盘中第</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行的可能摆放位置，从第</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层到第</a:t>
            </a:r>
            <a:r>
              <a:rPr lang="en-US" altLang="zh-CN" sz="2400" dirty="0">
                <a:solidFill>
                  <a:srgbClr val="080808"/>
                </a:solidFill>
                <a:latin typeface="楷体" panose="02010609060101010101" pitchFamily="49" charset="-122"/>
                <a:ea typeface="楷体" panose="02010609060101010101" pitchFamily="49" charset="-122"/>
              </a:rPr>
              <a:t>5</a:t>
            </a:r>
            <a:r>
              <a:rPr lang="zh-CN" altLang="en-US" sz="2400" dirty="0">
                <a:solidFill>
                  <a:srgbClr val="080808"/>
                </a:solidFill>
                <a:latin typeface="楷体" panose="02010609060101010101" pitchFamily="49" charset="-122"/>
                <a:ea typeface="楷体" panose="02010609060101010101" pitchFamily="49" charset="-122"/>
              </a:rPr>
              <a:t>层结点对应皇后</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在棋盘中第</a:t>
            </a:r>
            <a:r>
              <a:rPr lang="en-US" altLang="zh-CN" sz="2400" dirty="0">
                <a:solidFill>
                  <a:srgbClr val="080808"/>
                </a:solidFill>
                <a:latin typeface="楷体" panose="02010609060101010101" pitchFamily="49" charset="-122"/>
                <a:ea typeface="楷体" panose="02010609060101010101" pitchFamily="49" charset="-122"/>
              </a:rPr>
              <a:t>4</a:t>
            </a:r>
            <a:r>
              <a:rPr lang="zh-CN" altLang="en-US" sz="2400" dirty="0">
                <a:solidFill>
                  <a:srgbClr val="080808"/>
                </a:solidFill>
                <a:latin typeface="楷体" panose="02010609060101010101" pitchFamily="49" charset="-122"/>
                <a:ea typeface="楷体" panose="02010609060101010101" pitchFamily="49" charset="-122"/>
              </a:rPr>
              <a:t>行的可能摆放位置。</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p:nvPr/>
        </p:nvPicPr>
        <p:blipFill>
          <a:blip r:embed="rId1">
            <a:extLst>
              <a:ext uri="{28A0092B-C50C-407E-A947-70E740481C1C}">
                <a14:useLocalDpi xmlns:a14="http://schemas.microsoft.com/office/drawing/2010/main" val="0"/>
              </a:ext>
            </a:extLst>
          </a:blip>
          <a:stretch>
            <a:fillRect/>
          </a:stretch>
        </p:blipFill>
        <p:spPr>
          <a:xfrm>
            <a:off x="109717" y="1484784"/>
            <a:ext cx="8924565" cy="5112568"/>
          </a:xfrm>
          <a:prstGeom prst="rect">
            <a:avLst/>
          </a:prstGeom>
        </p:spPr>
      </p:pic>
    </p:spTree>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80528" y="1117032"/>
            <a:ext cx="887412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下图</a:t>
            </a:r>
            <a:r>
              <a:rPr lang="en-US" altLang="zh-CN" sz="2400" dirty="0">
                <a:solidFill>
                  <a:srgbClr val="080808"/>
                </a:solidFill>
                <a:latin typeface="楷体" panose="02010609060101010101" pitchFamily="49" charset="-122"/>
                <a:ea typeface="楷体" panose="02010609060101010101" pitchFamily="49" charset="-122"/>
              </a:rPr>
              <a:t>6.11</a:t>
            </a:r>
            <a:r>
              <a:rPr lang="zh-CN" altLang="en-US" sz="2400" dirty="0">
                <a:solidFill>
                  <a:srgbClr val="080808"/>
                </a:solidFill>
                <a:latin typeface="楷体" panose="02010609060101010101" pitchFamily="49" charset="-122"/>
                <a:ea typeface="楷体" panose="02010609060101010101" pitchFamily="49" charset="-122"/>
              </a:rPr>
              <a:t>所示是四皇后问题寻找第一个解的过程：</a:t>
            </a:r>
            <a:endParaRPr lang="zh-CN" altLang="en-US" sz="2400" dirty="0">
              <a:solidFill>
                <a:srgbClr val="080808"/>
              </a:solidFill>
              <a:latin typeface="楷体" panose="02010609060101010101" pitchFamily="49" charset="-122"/>
              <a:ea typeface="楷体" panose="02010609060101010101" pitchFamily="49" charset="-122"/>
            </a:endParaRPr>
          </a:p>
        </p:txBody>
      </p:sp>
      <p:grpSp>
        <p:nvGrpSpPr>
          <p:cNvPr id="4" name="组合 3"/>
          <p:cNvGrpSpPr/>
          <p:nvPr/>
        </p:nvGrpSpPr>
        <p:grpSpPr>
          <a:xfrm>
            <a:off x="1156490" y="1578697"/>
            <a:ext cx="6367837" cy="5279303"/>
            <a:chOff x="0" y="0"/>
            <a:chExt cx="3759200" cy="3498850"/>
          </a:xfrm>
        </p:grpSpPr>
        <p:pic>
          <p:nvPicPr>
            <p:cNvPr id="5" name="图片 4"/>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0" y="0"/>
              <a:ext cx="3759200" cy="1612900"/>
            </a:xfrm>
            <a:prstGeom prst="rect">
              <a:avLst/>
            </a:prstGeom>
          </p:spPr>
        </p:pic>
        <p:pic>
          <p:nvPicPr>
            <p:cNvPr id="6" name="图片 5"/>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720850"/>
              <a:ext cx="3759200" cy="1778000"/>
            </a:xfrm>
            <a:prstGeom prst="rect">
              <a:avLst/>
            </a:prstGeom>
          </p:spPr>
        </p:pic>
      </p:grpSp>
    </p:spTree>
  </p:cSld>
  <p:clrMapOvr>
    <a:masterClrMapping/>
  </p:clrMapOvr>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p:nvPr/>
        </p:nvPicPr>
        <p:blipFill>
          <a:blip r:embed="rId1" cstate="print">
            <a:extLst>
              <a:ext uri="{28A0092B-C50C-407E-A947-70E740481C1C}">
                <a14:useLocalDpi xmlns:a14="http://schemas.microsoft.com/office/drawing/2010/main" val="0"/>
              </a:ext>
            </a:extLst>
          </a:blip>
          <a:stretch>
            <a:fillRect/>
          </a:stretch>
        </p:blipFill>
        <p:spPr>
          <a:xfrm>
            <a:off x="873829" y="1916832"/>
            <a:ext cx="7082548" cy="3283932"/>
          </a:xfrm>
          <a:prstGeom prst="rect">
            <a:avLst/>
          </a:prstGeom>
        </p:spPr>
      </p:pic>
    </p:spTree>
  </p:cSld>
  <p:clrMapOvr>
    <a:masterClrMapping/>
  </p:clrMapOvr>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773771" y="1484784"/>
            <a:ext cx="5596458" cy="5068654"/>
            <a:chOff x="0" y="0"/>
            <a:chExt cx="3848431" cy="3944731"/>
          </a:xfrm>
        </p:grpSpPr>
        <p:pic>
          <p:nvPicPr>
            <p:cNvPr id="5" name="图片 4"/>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0" y="0"/>
              <a:ext cx="3848100" cy="2172335"/>
            </a:xfrm>
            <a:prstGeom prst="rect">
              <a:avLst/>
            </a:prstGeom>
          </p:spPr>
        </p:pic>
        <p:pic>
          <p:nvPicPr>
            <p:cNvPr id="6" name="图片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51" y="2258171"/>
              <a:ext cx="3840480" cy="1686560"/>
            </a:xfrm>
            <a:prstGeom prst="rect">
              <a:avLst/>
            </a:prstGeom>
          </p:spPr>
        </p:pic>
      </p:grpSp>
    </p:spTree>
  </p:cSld>
  <p:clrMapOvr>
    <a:masterClrMapping/>
  </p:clrMapOvr>
  <p:timing>
    <p:tnLst>
      <p:par>
        <p:cTn id="1" dur="indefinite" restart="never" nodeType="tmRoot"/>
      </p:par>
    </p:tnLst>
  </p:timing>
</p:sld>
</file>

<file path=ppt/tags/tag1.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2.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3.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4.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5.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6.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7.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8.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9.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10.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11.xml><?xml version="1.0" encoding="utf-8"?>
<p:tagLst xmlns:p="http://schemas.openxmlformats.org/presentationml/2006/main">
  <p:tag name="KSO_WM_DIAGRAM_VIRTUALLY_FRAME" val="{&quot;height&quot;:166.3749606299213,&quot;left&quot;:310.866062992126,&quot;top&quot;:190.48125984251968,&quot;width&quot;:326.7233070866141}"/>
</p:tagLst>
</file>

<file path=ppt/theme/theme1.xml><?xml version="1.0" encoding="utf-8"?>
<a:theme xmlns:a="http://schemas.openxmlformats.org/drawingml/2006/main" name="第一PPT：www.1ppt.com">
  <a:themeElements>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fontScheme name="演示设计">
      <a:majorFont>
        <a:latin typeface="Arial"/>
        <a:ea typeface="华文细黑"/>
        <a:cs typeface=""/>
      </a:majorFont>
      <a:minorFont>
        <a:latin typeface="Arial"/>
        <a:ea typeface="华文细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lnDef>
  </a:objectDefaults>
  <a:extraClrSchemeLst>
    <a:extraClrScheme>
      <a:clrScheme name="演示设计 1">
        <a:dk1>
          <a:srgbClr val="000000"/>
        </a:dk1>
        <a:lt1>
          <a:srgbClr val="FFFFFF"/>
        </a:lt1>
        <a:dk2>
          <a:srgbClr val="000000"/>
        </a:dk2>
        <a:lt2>
          <a:srgbClr val="808080"/>
        </a:lt2>
        <a:accent1>
          <a:srgbClr val="FFCC00"/>
        </a:accent1>
        <a:accent2>
          <a:srgbClr val="FF9933"/>
        </a:accent2>
        <a:accent3>
          <a:srgbClr val="FFFFFF"/>
        </a:accent3>
        <a:accent4>
          <a:srgbClr val="000000"/>
        </a:accent4>
        <a:accent5>
          <a:srgbClr val="FFE2AA"/>
        </a:accent5>
        <a:accent6>
          <a:srgbClr val="E78A2D"/>
        </a:accent6>
        <a:hlink>
          <a:srgbClr val="463900"/>
        </a:hlink>
        <a:folHlink>
          <a:srgbClr val="FFE67D"/>
        </a:folHlink>
      </a:clrScheme>
      <a:clrMap bg1="lt1" tx1="dk1" bg2="lt2" tx2="dk2" accent1="accent1" accent2="accent2" accent3="accent3" accent4="accent4" accent5="accent5" accent6="accent6" hlink="hlink" folHlink="folHlink"/>
    </a:extraClrScheme>
    <a:extraClrScheme>
      <a:clrScheme name="演示设计 2">
        <a:dk1>
          <a:srgbClr val="000000"/>
        </a:dk1>
        <a:lt1>
          <a:srgbClr val="FFFFFF"/>
        </a:lt1>
        <a:dk2>
          <a:srgbClr val="000000"/>
        </a:dk2>
        <a:lt2>
          <a:srgbClr val="808080"/>
        </a:lt2>
        <a:accent1>
          <a:srgbClr val="FF9021"/>
        </a:accent1>
        <a:accent2>
          <a:srgbClr val="DA5800"/>
        </a:accent2>
        <a:accent3>
          <a:srgbClr val="FFFFFF"/>
        </a:accent3>
        <a:accent4>
          <a:srgbClr val="000000"/>
        </a:accent4>
        <a:accent5>
          <a:srgbClr val="FFC6AB"/>
        </a:accent5>
        <a:accent6>
          <a:srgbClr val="C54F00"/>
        </a:accent6>
        <a:hlink>
          <a:srgbClr val="963D00"/>
        </a:hlink>
        <a:folHlink>
          <a:srgbClr val="FFAD5B"/>
        </a:folHlink>
      </a:clrScheme>
      <a:clrMap bg1="lt1" tx1="dk1" bg2="lt2" tx2="dk2" accent1="accent1" accent2="accent2" accent3="accent3" accent4="accent4" accent5="accent5" accent6="accent6" hlink="hlink" folHlink="folHlink"/>
    </a:extraClrScheme>
    <a:extraClrScheme>
      <a:clrScheme name="演示设计 3">
        <a:dk1>
          <a:srgbClr val="000000"/>
        </a:dk1>
        <a:lt1>
          <a:srgbClr val="FFFFFF"/>
        </a:lt1>
        <a:dk2>
          <a:srgbClr val="000000"/>
        </a:dk2>
        <a:lt2>
          <a:srgbClr val="C0C0C0"/>
        </a:lt2>
        <a:accent1>
          <a:srgbClr val="5B8CC1"/>
        </a:accent1>
        <a:accent2>
          <a:srgbClr val="2A5682"/>
        </a:accent2>
        <a:accent3>
          <a:srgbClr val="FFFFFF"/>
        </a:accent3>
        <a:accent4>
          <a:srgbClr val="000000"/>
        </a:accent4>
        <a:accent5>
          <a:srgbClr val="B5C5DD"/>
        </a:accent5>
        <a:accent6>
          <a:srgbClr val="254D75"/>
        </a:accent6>
        <a:hlink>
          <a:srgbClr val="002850"/>
        </a:hlink>
        <a:folHlink>
          <a:srgbClr val="2A94FE"/>
        </a:folHlink>
      </a:clrScheme>
      <a:clrMap bg1="lt1" tx1="dk1" bg2="lt2" tx2="dk2" accent1="accent1" accent2="accent2" accent3="accent3" accent4="accent4" accent5="accent5" accent6="accent6" hlink="hlink" folHlink="folHlink"/>
    </a:extraClrScheme>
    <a:extraClrScheme>
      <a:clrScheme name="演示设计 4">
        <a:dk1>
          <a:srgbClr val="000000"/>
        </a:dk1>
        <a:lt1>
          <a:srgbClr val="FFFFFF"/>
        </a:lt1>
        <a:dk2>
          <a:srgbClr val="000000"/>
        </a:dk2>
        <a:lt2>
          <a:srgbClr val="C0C0C0"/>
        </a:lt2>
        <a:accent1>
          <a:srgbClr val="B2B2B2"/>
        </a:accent1>
        <a:accent2>
          <a:srgbClr val="5F5F5F"/>
        </a:accent2>
        <a:accent3>
          <a:srgbClr val="FFFFFF"/>
        </a:accent3>
        <a:accent4>
          <a:srgbClr val="000000"/>
        </a:accent4>
        <a:accent5>
          <a:srgbClr val="D5D5D5"/>
        </a:accent5>
        <a:accent6>
          <a:srgbClr val="555555"/>
        </a:accent6>
        <a:hlink>
          <a:srgbClr val="1C1C1C"/>
        </a:hlink>
        <a:folHlink>
          <a:srgbClr val="C0C0C0"/>
        </a:folHlink>
      </a:clrScheme>
      <a:clrMap bg1="lt1" tx1="dk1" bg2="lt2" tx2="dk2" accent1="accent1" accent2="accent2" accent3="accent3" accent4="accent4" accent5="accent5" accent6="accent6" hlink="hlink" folHlink="folHlink"/>
    </a:extraClrScheme>
    <a:extraClrScheme>
      <a:clrScheme name="演示设计 5">
        <a:dk1>
          <a:srgbClr val="000000"/>
        </a:dk1>
        <a:lt1>
          <a:srgbClr val="FFFFFF"/>
        </a:lt1>
        <a:dk2>
          <a:srgbClr val="000000"/>
        </a:dk2>
        <a:lt2>
          <a:srgbClr val="B2B2B2"/>
        </a:lt2>
        <a:accent1>
          <a:srgbClr val="BF59B8"/>
        </a:accent1>
        <a:accent2>
          <a:srgbClr val="884183"/>
        </a:accent2>
        <a:accent3>
          <a:srgbClr val="FFFFFF"/>
        </a:accent3>
        <a:accent4>
          <a:srgbClr val="000000"/>
        </a:accent4>
        <a:accent5>
          <a:srgbClr val="DCB5D8"/>
        </a:accent5>
        <a:accent6>
          <a:srgbClr val="7B3A76"/>
        </a:accent6>
        <a:hlink>
          <a:srgbClr val="371535"/>
        </a:hlink>
        <a:folHlink>
          <a:srgbClr val="C468BD"/>
        </a:folHlink>
      </a:clrScheme>
      <a:clrMap bg1="lt1" tx1="dk1" bg2="lt2" tx2="dk2" accent1="accent1" accent2="accent2" accent3="accent3" accent4="accent4" accent5="accent5" accent6="accent6" hlink="hlink" folHlink="folHlink"/>
    </a:extraClrScheme>
    <a:extraClrScheme>
      <a:clrScheme name="演示设计 6">
        <a:dk1>
          <a:srgbClr val="000000"/>
        </a:dk1>
        <a:lt1>
          <a:srgbClr val="FFFFFF"/>
        </a:lt1>
        <a:dk2>
          <a:srgbClr val="000000"/>
        </a:dk2>
        <a:lt2>
          <a:srgbClr val="B2B2B2"/>
        </a:lt2>
        <a:accent1>
          <a:srgbClr val="FF0517"/>
        </a:accent1>
        <a:accent2>
          <a:srgbClr val="BC000D"/>
        </a:accent2>
        <a:accent3>
          <a:srgbClr val="FFFFFF"/>
        </a:accent3>
        <a:accent4>
          <a:srgbClr val="000000"/>
        </a:accent4>
        <a:accent5>
          <a:srgbClr val="FFAAAB"/>
        </a:accent5>
        <a:accent6>
          <a:srgbClr val="AA000B"/>
        </a:accent6>
        <a:hlink>
          <a:srgbClr val="3A0004"/>
        </a:hlink>
        <a:folHlink>
          <a:srgbClr val="FF3B3B"/>
        </a:folHlink>
      </a:clrScheme>
      <a:clrMap bg1="lt1" tx1="dk1" bg2="lt2" tx2="dk2" accent1="accent1" accent2="accent2" accent3="accent3" accent4="accent4" accent5="accent5" accent6="accent6" hlink="hlink" folHlink="folHlink"/>
    </a:extraClrScheme>
    <a:extraClrScheme>
      <a:clrScheme name="演示设计 7">
        <a:dk1>
          <a:srgbClr val="000000"/>
        </a:dk1>
        <a:lt1>
          <a:srgbClr val="FFFFFF"/>
        </a:lt1>
        <a:dk2>
          <a:srgbClr val="000000"/>
        </a:dk2>
        <a:lt2>
          <a:srgbClr val="C0C0C0"/>
        </a:lt2>
        <a:accent1>
          <a:srgbClr val="DFE0BE"/>
        </a:accent1>
        <a:accent2>
          <a:srgbClr val="D1D46B"/>
        </a:accent2>
        <a:accent3>
          <a:srgbClr val="FFFFFF"/>
        </a:accent3>
        <a:accent4>
          <a:srgbClr val="000000"/>
        </a:accent4>
        <a:accent5>
          <a:srgbClr val="ECEDDB"/>
        </a:accent5>
        <a:accent6>
          <a:srgbClr val="BDC060"/>
        </a:accent6>
        <a:hlink>
          <a:srgbClr val="3A3B11"/>
        </a:hlink>
        <a:folHlink>
          <a:srgbClr val="DDDF91"/>
        </a:folHlink>
      </a:clrScheme>
      <a:clrMap bg1="lt1" tx1="dk1" bg2="lt2" tx2="dk2" accent1="accent1" accent2="accent2" accent3="accent3" accent4="accent4" accent5="accent5" accent6="accent6" hlink="hlink" folHlink="folHlink"/>
    </a:extraClrScheme>
    <a:extraClrScheme>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8865</Words>
  <Application>WPS 演示</Application>
  <PresentationFormat>全屏显示(4:3)</PresentationFormat>
  <Paragraphs>1492</Paragraphs>
  <Slides>66</Slides>
  <Notes>16</Notes>
  <HiddenSlides>0</HiddenSlides>
  <MMClips>0</MMClips>
  <ScaleCrop>false</ScaleCrop>
  <HeadingPairs>
    <vt:vector size="6" baseType="variant">
      <vt:variant>
        <vt:lpstr>已用的字体</vt:lpstr>
      </vt:variant>
      <vt:variant>
        <vt:i4>15</vt:i4>
      </vt:variant>
      <vt:variant>
        <vt:lpstr>主题</vt:lpstr>
      </vt:variant>
      <vt:variant>
        <vt:i4>1</vt:i4>
      </vt:variant>
      <vt:variant>
        <vt:lpstr>幻灯片标题</vt:lpstr>
      </vt:variant>
      <vt:variant>
        <vt:i4>66</vt:i4>
      </vt:variant>
    </vt:vector>
  </HeadingPairs>
  <TitlesOfParts>
    <vt:vector size="82" baseType="lpstr">
      <vt:lpstr>Arial</vt:lpstr>
      <vt:lpstr>宋体</vt:lpstr>
      <vt:lpstr>Wingdings</vt:lpstr>
      <vt:lpstr>华文细黑</vt:lpstr>
      <vt:lpstr>MS UI Gothic</vt:lpstr>
      <vt:lpstr>Calibri</vt:lpstr>
      <vt:lpstr>Verdana</vt:lpstr>
      <vt:lpstr>方正正大黑简体</vt:lpstr>
      <vt:lpstr>黑体</vt:lpstr>
      <vt:lpstr>Times New Roman</vt:lpstr>
      <vt:lpstr>微软雅黑</vt:lpstr>
      <vt:lpstr>Tahoma</vt:lpstr>
      <vt:lpstr>Arial Unicode MS</vt:lpstr>
      <vt:lpstr>楷体</vt:lpstr>
      <vt:lpstr>隶书</vt:lpstr>
      <vt:lpstr>第一PPT：www.1ppt.com</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第一PPT模板网：www.1ppt.com</dc:title>
  <dc:creator>第一PPT模板网：www.1ppt.com</dc:creator>
  <cp:lastModifiedBy>时间矿泉水</cp:lastModifiedBy>
  <cp:revision>391</cp:revision>
  <dcterms:created xsi:type="dcterms:W3CDTF">2010-09-23T08:30:00Z</dcterms:created>
  <dcterms:modified xsi:type="dcterms:W3CDTF">2025-12-01T04:50:39Z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模板">
    <vt:lpwstr>www.1ppt.com</vt:lpwstr>
  </property>
  <property fmtid="{D5CDD505-2E9C-101B-9397-08002B2CF9AE}" pid="3" name="ICV">
    <vt:lpwstr>8CB5677F65EF44AF96EB1F9AC61F9FD7_12</vt:lpwstr>
  </property>
  <property fmtid="{D5CDD505-2E9C-101B-9397-08002B2CF9AE}" pid="4" name="KSOProductBuildVer">
    <vt:lpwstr>2052-12.1.0.23542</vt:lpwstr>
  </property>
</Properties>
</file>